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FULL PIPELINE — PRE-SALES INTELLIGENCE</a:t>
            </a:r>
          </a:p>
        </p:txBody>
      </p:sp>
      <p:sp>
        <p:nvSpPr>
          <p:cNvPr id="5" name="TextBox 4"/>
          <p:cNvSpPr txBox="1"/>
          <p:nvPr/>
        </p:nvSpPr>
        <p:spPr>
          <a:xfrm>
            <a:off x="548640" y="1737360"/>
            <a:ext cx="11094415" cy="731520"/>
          </a:xfrm>
          <a:prstGeom prst="rect">
            <a:avLst/>
          </a:prstGeom>
          <a:noFill/>
        </p:spPr>
        <p:txBody>
          <a:bodyPr wrap="square" anchor="t" lIns="0" rIns="0" tIns="0" bIns="0">
            <a:normAutofit/>
          </a:bodyPr>
          <a:lstStyle/>
          <a:p>
            <a:pPr algn="l">
              <a:lnSpc>
                <a:spcPct val="105000"/>
              </a:lnSpc>
              <a:spcBef>
                <a:spcPts val="0"/>
              </a:spcBef>
            </a:pPr>
            <a:r>
              <a:rPr sz="3600" b="1" i="0">
                <a:solidFill>
                  <a:srgbClr val="FFFFFF"/>
                </a:solidFill>
                <a:latin typeface="Calibri"/>
              </a:rPr>
              <a:t>AI Use Cases That Actually Ship</a:t>
            </a:r>
          </a:p>
        </p:txBody>
      </p:sp>
      <p:sp>
        <p:nvSpPr>
          <p:cNvPr id="6" name="TextBox 5"/>
          <p:cNvSpPr txBox="1"/>
          <p:nvPr/>
        </p:nvSpPr>
        <p:spPr>
          <a:xfrm>
            <a:off x="548640" y="2560320"/>
            <a:ext cx="11094415" cy="274320"/>
          </a:xfrm>
          <a:prstGeom prst="rect">
            <a:avLst/>
          </a:prstGeom>
          <a:noFill/>
        </p:spPr>
        <p:txBody>
          <a:bodyPr wrap="square" anchor="t" lIns="0" rIns="0" tIns="0" bIns="0">
            <a:normAutofit/>
          </a:bodyPr>
          <a:lstStyle/>
          <a:p>
            <a:pPr algn="l">
              <a:lnSpc>
                <a:spcPct val="105000"/>
              </a:lnSpc>
              <a:spcBef>
                <a:spcPts val="0"/>
              </a:spcBef>
            </a:pPr>
            <a:r>
              <a:rPr sz="1200" b="1" i="0">
                <a:solidFill>
                  <a:srgbClr val="FFB800"/>
                </a:solidFill>
                <a:latin typeface="Calibri"/>
              </a:rPr>
              <a:t>10 Use Cases · 5 Industries · Verified Repos · Honest Architecture · Corrected API</a:t>
            </a:r>
          </a:p>
        </p:txBody>
      </p:sp>
      <p:sp>
        <p:nvSpPr>
          <p:cNvPr id="7" name="Rounded Rectangle 6"/>
          <p:cNvSpPr/>
          <p:nvPr/>
        </p:nvSpPr>
        <p:spPr>
          <a:xfrm>
            <a:off x="548640" y="3200400"/>
            <a:ext cx="1645920" cy="7772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273552"/>
            <a:ext cx="1463040" cy="329184"/>
          </a:xfrm>
          <a:prstGeom prst="rect">
            <a:avLst/>
          </a:prstGeom>
          <a:noFill/>
        </p:spPr>
        <p:txBody>
          <a:bodyPr wrap="square" anchor="t" lIns="0" rIns="0" tIns="0" bIns="0">
            <a:noAutofit/>
          </a:bodyPr>
          <a:lstStyle/>
          <a:p>
            <a:pPr algn="ctr">
              <a:lnSpc>
                <a:spcPct val="105000"/>
              </a:lnSpc>
              <a:spcBef>
                <a:spcPts val="0"/>
              </a:spcBef>
            </a:pPr>
            <a:r>
              <a:rPr sz="2400" b="1" i="0">
                <a:solidFill>
                  <a:srgbClr val="FFFFFF"/>
                </a:solidFill>
                <a:latin typeface="Calibri"/>
              </a:rPr>
              <a:t>10</a:t>
            </a:r>
          </a:p>
        </p:txBody>
      </p:sp>
      <p:sp>
        <p:nvSpPr>
          <p:cNvPr id="9" name="TextBox 8"/>
          <p:cNvSpPr txBox="1"/>
          <p:nvPr/>
        </p:nvSpPr>
        <p:spPr>
          <a:xfrm>
            <a:off x="640080" y="3639312"/>
            <a:ext cx="1463040" cy="201168"/>
          </a:xfrm>
          <a:prstGeom prst="rect">
            <a:avLst/>
          </a:prstGeom>
          <a:noFill/>
        </p:spPr>
        <p:txBody>
          <a:bodyPr wrap="square" anchor="t" lIns="0" rIns="0" tIns="0" bIns="0">
            <a:normAutofit/>
          </a:bodyPr>
          <a:lstStyle/>
          <a:p>
            <a:pPr algn="ctr">
              <a:lnSpc>
                <a:spcPct val="105000"/>
              </a:lnSpc>
              <a:spcBef>
                <a:spcPts val="0"/>
              </a:spcBef>
            </a:pPr>
            <a:r>
              <a:rPr sz="1000" b="0" i="0">
                <a:solidFill>
                  <a:srgbClr val="E0F7F1"/>
                </a:solidFill>
                <a:latin typeface="Calibri"/>
              </a:rPr>
              <a:t>Use Cases</a:t>
            </a:r>
          </a:p>
        </p:txBody>
      </p:sp>
      <p:sp>
        <p:nvSpPr>
          <p:cNvPr id="10" name="Rounded Rectangle 9"/>
          <p:cNvSpPr/>
          <p:nvPr/>
        </p:nvSpPr>
        <p:spPr>
          <a:xfrm>
            <a:off x="2359152" y="3200400"/>
            <a:ext cx="1645920" cy="7772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50592" y="3273552"/>
            <a:ext cx="1463040" cy="329184"/>
          </a:xfrm>
          <a:prstGeom prst="rect">
            <a:avLst/>
          </a:prstGeom>
          <a:noFill/>
        </p:spPr>
        <p:txBody>
          <a:bodyPr wrap="square" anchor="t" lIns="0" rIns="0" tIns="0" bIns="0">
            <a:noAutofit/>
          </a:bodyPr>
          <a:lstStyle/>
          <a:p>
            <a:pPr algn="ctr">
              <a:lnSpc>
                <a:spcPct val="105000"/>
              </a:lnSpc>
              <a:spcBef>
                <a:spcPts val="0"/>
              </a:spcBef>
            </a:pPr>
            <a:r>
              <a:rPr sz="2400" b="1" i="0">
                <a:solidFill>
                  <a:srgbClr val="FFFFFF"/>
                </a:solidFill>
                <a:latin typeface="Calibri"/>
              </a:rPr>
              <a:t>5</a:t>
            </a:r>
          </a:p>
        </p:txBody>
      </p:sp>
      <p:sp>
        <p:nvSpPr>
          <p:cNvPr id="12" name="TextBox 11"/>
          <p:cNvSpPr txBox="1"/>
          <p:nvPr/>
        </p:nvSpPr>
        <p:spPr>
          <a:xfrm>
            <a:off x="2450592" y="3639312"/>
            <a:ext cx="1463040" cy="201168"/>
          </a:xfrm>
          <a:prstGeom prst="rect">
            <a:avLst/>
          </a:prstGeom>
          <a:noFill/>
        </p:spPr>
        <p:txBody>
          <a:bodyPr wrap="square" anchor="t" lIns="0" rIns="0" tIns="0" bIns="0">
            <a:normAutofit/>
          </a:bodyPr>
          <a:lstStyle/>
          <a:p>
            <a:pPr algn="ctr">
              <a:lnSpc>
                <a:spcPct val="105000"/>
              </a:lnSpc>
              <a:spcBef>
                <a:spcPts val="0"/>
              </a:spcBef>
            </a:pPr>
            <a:r>
              <a:rPr sz="1000" b="0" i="0">
                <a:solidFill>
                  <a:srgbClr val="E0F7F1"/>
                </a:solidFill>
                <a:latin typeface="Calibri"/>
              </a:rPr>
              <a:t>Industries</a:t>
            </a:r>
          </a:p>
        </p:txBody>
      </p:sp>
      <p:sp>
        <p:nvSpPr>
          <p:cNvPr id="13" name="Rounded Rectangle 12"/>
          <p:cNvSpPr/>
          <p:nvPr/>
        </p:nvSpPr>
        <p:spPr>
          <a:xfrm>
            <a:off x="4169664" y="3200400"/>
            <a:ext cx="1645920" cy="7772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61104" y="3273552"/>
            <a:ext cx="1463040" cy="329184"/>
          </a:xfrm>
          <a:prstGeom prst="rect">
            <a:avLst/>
          </a:prstGeom>
          <a:noFill/>
        </p:spPr>
        <p:txBody>
          <a:bodyPr wrap="square" anchor="t" lIns="0" rIns="0" tIns="0" bIns="0">
            <a:noAutofit/>
          </a:bodyPr>
          <a:lstStyle/>
          <a:p>
            <a:pPr algn="ctr">
              <a:lnSpc>
                <a:spcPct val="105000"/>
              </a:lnSpc>
              <a:spcBef>
                <a:spcPts val="0"/>
              </a:spcBef>
            </a:pPr>
            <a:r>
              <a:rPr sz="2400" b="1" i="0">
                <a:solidFill>
                  <a:srgbClr val="FFFFFF"/>
                </a:solidFill>
                <a:latin typeface="Calibri"/>
              </a:rPr>
              <a:t>6</a:t>
            </a:r>
          </a:p>
        </p:txBody>
      </p:sp>
      <p:sp>
        <p:nvSpPr>
          <p:cNvPr id="15" name="TextBox 14"/>
          <p:cNvSpPr txBox="1"/>
          <p:nvPr/>
        </p:nvSpPr>
        <p:spPr>
          <a:xfrm>
            <a:off x="4261104" y="3639312"/>
            <a:ext cx="1463040" cy="201168"/>
          </a:xfrm>
          <a:prstGeom prst="rect">
            <a:avLst/>
          </a:prstGeom>
          <a:noFill/>
        </p:spPr>
        <p:txBody>
          <a:bodyPr wrap="square" anchor="t" lIns="0" rIns="0" tIns="0" bIns="0">
            <a:normAutofit/>
          </a:bodyPr>
          <a:lstStyle/>
          <a:p>
            <a:pPr algn="ctr">
              <a:lnSpc>
                <a:spcPct val="105000"/>
              </a:lnSpc>
              <a:spcBef>
                <a:spcPts val="0"/>
              </a:spcBef>
            </a:pPr>
            <a:r>
              <a:rPr sz="1000" b="0" i="0">
                <a:solidFill>
                  <a:srgbClr val="E0F7F1"/>
                </a:solidFill>
                <a:latin typeface="Calibri"/>
              </a:rPr>
              <a:t>Verified MCP</a:t>
            </a:r>
          </a:p>
        </p:txBody>
      </p:sp>
      <p:sp>
        <p:nvSpPr>
          <p:cNvPr id="16" name="Rounded Rectangle 15"/>
          <p:cNvSpPr/>
          <p:nvPr/>
        </p:nvSpPr>
        <p:spPr>
          <a:xfrm>
            <a:off x="5980176" y="3200400"/>
            <a:ext cx="1645920" cy="7772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71616" y="3273552"/>
            <a:ext cx="1463040" cy="329184"/>
          </a:xfrm>
          <a:prstGeom prst="rect">
            <a:avLst/>
          </a:prstGeom>
          <a:noFill/>
        </p:spPr>
        <p:txBody>
          <a:bodyPr wrap="square" anchor="t" lIns="0" rIns="0" tIns="0" bIns="0">
            <a:noAutofit/>
          </a:bodyPr>
          <a:lstStyle/>
          <a:p>
            <a:pPr algn="ctr">
              <a:lnSpc>
                <a:spcPct val="105000"/>
              </a:lnSpc>
              <a:spcBef>
                <a:spcPts val="0"/>
              </a:spcBef>
            </a:pPr>
            <a:r>
              <a:rPr sz="2400" b="1" i="0">
                <a:solidFill>
                  <a:srgbClr val="FFFFFF"/>
                </a:solidFill>
                <a:latin typeface="Calibri"/>
              </a:rPr>
              <a:t>4</a:t>
            </a:r>
          </a:p>
        </p:txBody>
      </p:sp>
      <p:sp>
        <p:nvSpPr>
          <p:cNvPr id="18" name="TextBox 17"/>
          <p:cNvSpPr txBox="1"/>
          <p:nvPr/>
        </p:nvSpPr>
        <p:spPr>
          <a:xfrm>
            <a:off x="6071616" y="3639312"/>
            <a:ext cx="1463040" cy="201168"/>
          </a:xfrm>
          <a:prstGeom prst="rect">
            <a:avLst/>
          </a:prstGeom>
          <a:noFill/>
        </p:spPr>
        <p:txBody>
          <a:bodyPr wrap="square" anchor="t" lIns="0" rIns="0" tIns="0" bIns="0">
            <a:normAutofit/>
          </a:bodyPr>
          <a:lstStyle/>
          <a:p>
            <a:pPr algn="ctr">
              <a:lnSpc>
                <a:spcPct val="105000"/>
              </a:lnSpc>
              <a:spcBef>
                <a:spcPts val="0"/>
              </a:spcBef>
            </a:pPr>
            <a:r>
              <a:rPr sz="1000" b="0" i="0">
                <a:solidFill>
                  <a:srgbClr val="E0F7F1"/>
                </a:solidFill>
                <a:latin typeface="Calibri"/>
              </a:rPr>
              <a:t>Buildable</a:t>
            </a:r>
          </a:p>
        </p:txBody>
      </p:sp>
      <p:sp>
        <p:nvSpPr>
          <p:cNvPr id="19" name="Rounded Rectangle 18"/>
          <p:cNvSpPr/>
          <p:nvPr/>
        </p:nvSpPr>
        <p:spPr>
          <a:xfrm>
            <a:off x="7790688" y="3200400"/>
            <a:ext cx="1645920" cy="7772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82128" y="3273552"/>
            <a:ext cx="1463040" cy="329184"/>
          </a:xfrm>
          <a:prstGeom prst="rect">
            <a:avLst/>
          </a:prstGeom>
          <a:noFill/>
        </p:spPr>
        <p:txBody>
          <a:bodyPr wrap="square" anchor="t" lIns="0" rIns="0" tIns="0" bIns="0">
            <a:noAutofit/>
          </a:bodyPr>
          <a:lstStyle/>
          <a:p>
            <a:pPr algn="ctr">
              <a:lnSpc>
                <a:spcPct val="105000"/>
              </a:lnSpc>
              <a:spcBef>
                <a:spcPts val="0"/>
              </a:spcBef>
            </a:pPr>
            <a:r>
              <a:rPr sz="2400" b="1" i="0">
                <a:solidFill>
                  <a:srgbClr val="FFFFFF"/>
                </a:solidFill>
                <a:latin typeface="Calibri"/>
              </a:rPr>
              <a:t>6</a:t>
            </a:r>
          </a:p>
        </p:txBody>
      </p:sp>
      <p:sp>
        <p:nvSpPr>
          <p:cNvPr id="21" name="TextBox 20"/>
          <p:cNvSpPr txBox="1"/>
          <p:nvPr/>
        </p:nvSpPr>
        <p:spPr>
          <a:xfrm>
            <a:off x="7882128" y="3639312"/>
            <a:ext cx="1463040" cy="201168"/>
          </a:xfrm>
          <a:prstGeom prst="rect">
            <a:avLst/>
          </a:prstGeom>
          <a:noFill/>
        </p:spPr>
        <p:txBody>
          <a:bodyPr wrap="square" anchor="t" lIns="0" rIns="0" tIns="0" bIns="0">
            <a:normAutofit/>
          </a:bodyPr>
          <a:lstStyle/>
          <a:p>
            <a:pPr algn="ctr">
              <a:lnSpc>
                <a:spcPct val="105000"/>
              </a:lnSpc>
              <a:spcBef>
                <a:spcPts val="0"/>
              </a:spcBef>
            </a:pPr>
            <a:r>
              <a:rPr sz="1000" b="0" i="0">
                <a:solidFill>
                  <a:srgbClr val="E0F7F1"/>
                </a:solidFill>
                <a:latin typeface="Calibri"/>
              </a:rPr>
              <a:t>Benchmarks</a:t>
            </a:r>
          </a:p>
        </p:txBody>
      </p:sp>
      <p:sp>
        <p:nvSpPr>
          <p:cNvPr id="22" name="TextBox 21"/>
          <p:cNvSpPr txBox="1"/>
          <p:nvPr/>
        </p:nvSpPr>
        <p:spPr>
          <a:xfrm>
            <a:off x="548640" y="4297680"/>
            <a:ext cx="11094415" cy="274320"/>
          </a:xfrm>
          <a:prstGeom prst="rect">
            <a:avLst/>
          </a:prstGeom>
          <a:noFill/>
        </p:spPr>
        <p:txBody>
          <a:bodyPr wrap="square" anchor="t" lIns="0" rIns="0" tIns="0" bIns="0">
            <a:normAutofit/>
          </a:bodyPr>
          <a:lstStyle/>
          <a:p>
            <a:pPr algn="l">
              <a:lnSpc>
                <a:spcPct val="105000"/>
              </a:lnSpc>
              <a:spcBef>
                <a:spcPts val="0"/>
              </a:spcBef>
            </a:pPr>
            <a:r>
              <a:rPr sz="1000" b="0" i="0">
                <a:solidFill>
                  <a:srgbClr val="5B6B7C"/>
                </a:solidFill>
                <a:latin typeface="Calibri"/>
              </a:rPr>
              <a:t>Data pipeline: GBrain recall → Exa research → OpenHands verification → pptxkit render</a:t>
            </a:r>
          </a:p>
        </p:txBody>
      </p:sp>
      <p:sp>
        <p:nvSpPr>
          <p:cNvPr id="23" name="TextBox 22"/>
          <p:cNvSpPr txBox="1"/>
          <p:nvPr/>
        </p:nvSpPr>
        <p:spPr>
          <a:xfrm>
            <a:off x="548640" y="5029200"/>
            <a:ext cx="11094415" cy="274320"/>
          </a:xfrm>
          <a:prstGeom prst="rect">
            <a:avLst/>
          </a:prstGeom>
          <a:noFill/>
        </p:spPr>
        <p:txBody>
          <a:bodyPr wrap="square" anchor="t" lIns="0" rIns="0" tIns="0" bIns="0">
            <a:noAutofit/>
          </a:bodyPr>
          <a:lstStyle/>
          <a:p>
            <a:pPr algn="l">
              <a:lnSpc>
                <a:spcPct val="105000"/>
              </a:lnSpc>
              <a:spcBef>
                <a:spcPts val="0"/>
              </a:spcBef>
            </a:pPr>
            <a:r>
              <a:rPr sz="1400" b="1" i="0">
                <a:solidFill>
                  <a:srgbClr val="FFB800"/>
                </a:solidFill>
                <a:latin typeface="Calibri"/>
              </a:rPr>
              <a:t>AI Market Research</a:t>
            </a:r>
          </a:p>
        </p:txBody>
      </p:sp>
      <p:sp>
        <p:nvSpPr>
          <p:cNvPr id="24" name="TextBox 2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 / 82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Portfolio: 5 Industries, 10 Use Cases, One Architecture</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Agent(llm, tools) → Conversation(agent, workspace, plugins) | MCP at platform level</a:t>
            </a:r>
          </a:p>
        </p:txBody>
      </p:sp>
      <p:sp>
        <p:nvSpPr>
          <p:cNvPr id="7" name="Rounded Rectangle 6"/>
          <p:cNvSpPr/>
          <p:nvPr/>
        </p:nvSpPr>
        <p:spPr>
          <a:xfrm>
            <a:off x="548640" y="1600200"/>
            <a:ext cx="11094415" cy="713232"/>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91640"/>
            <a:ext cx="2011680" cy="219456"/>
          </a:xfrm>
          <a:prstGeom prst="rect">
            <a:avLst/>
          </a:prstGeom>
          <a:noFill/>
        </p:spPr>
        <p:txBody>
          <a:bodyPr wrap="square" anchor="t" lIns="0" rIns="0" tIns="0" bIns="0">
            <a:noAutofit/>
          </a:bodyPr>
          <a:lstStyle/>
          <a:p>
            <a:pPr algn="l">
              <a:lnSpc>
                <a:spcPct val="105000"/>
              </a:lnSpc>
              <a:spcBef>
                <a:spcPts val="0"/>
              </a:spcBef>
            </a:pPr>
            <a:r>
              <a:rPr sz="1400" b="1" i="0">
                <a:solidFill>
                  <a:srgbClr val="FFFFFF"/>
                </a:solidFill>
                <a:latin typeface="Calibri"/>
              </a:rPr>
              <a:t>Manufacturing</a:t>
            </a:r>
          </a:p>
        </p:txBody>
      </p:sp>
      <p:sp>
        <p:nvSpPr>
          <p:cNvPr id="9" name="Rounded Rectangle 8"/>
          <p:cNvSpPr/>
          <p:nvPr/>
        </p:nvSpPr>
        <p:spPr>
          <a:xfrm>
            <a:off x="2834640" y="1691640"/>
            <a:ext cx="1097280" cy="219456"/>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80360" y="1691640"/>
            <a:ext cx="1005840" cy="219456"/>
          </a:xfrm>
          <a:prstGeom prst="rect">
            <a:avLst/>
          </a:prstGeom>
          <a:noFill/>
        </p:spPr>
        <p:txBody>
          <a:bodyPr wrap="square" anchor="ctr" lIns="0" rIns="0" tIns="0" bIns="0">
            <a:noAutofit/>
          </a:bodyPr>
          <a:lstStyle/>
          <a:p>
            <a:pPr algn="ctr">
              <a:lnSpc>
                <a:spcPct val="105000"/>
              </a:lnSpc>
              <a:spcBef>
                <a:spcPts val="0"/>
              </a:spcBef>
            </a:pPr>
            <a:r>
              <a:rPr sz="900" b="1" i="0">
                <a:solidFill>
                  <a:srgbClr val="FFFFFF"/>
                </a:solidFill>
                <a:latin typeface="Calibri"/>
              </a:rPr>
              <a:t>32/35 GO</a:t>
            </a:r>
          </a:p>
        </p:txBody>
      </p:sp>
      <p:sp>
        <p:nvSpPr>
          <p:cNvPr id="11" name="Rounded Rectangle 10"/>
          <p:cNvSpPr/>
          <p:nvPr/>
        </p:nvSpPr>
        <p:spPr>
          <a:xfrm>
            <a:off x="4069080" y="1691640"/>
            <a:ext cx="1097280" cy="219456"/>
          </a:xfrm>
          <a:prstGeom prst="roundRect">
            <a:avLst>
              <a:gd name="adj" fmla="val 3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0" y="1691640"/>
            <a:ext cx="1005840" cy="219456"/>
          </a:xfrm>
          <a:prstGeom prst="rect">
            <a:avLst/>
          </a:prstGeom>
          <a:noFill/>
        </p:spPr>
        <p:txBody>
          <a:bodyPr wrap="square" anchor="ctr" lIns="0" rIns="0" tIns="0" bIns="0">
            <a:noAutofit/>
          </a:bodyPr>
          <a:lstStyle/>
          <a:p>
            <a:pPr algn="ctr">
              <a:lnSpc>
                <a:spcPct val="105000"/>
              </a:lnSpc>
              <a:spcBef>
                <a:spcPts val="0"/>
              </a:spcBef>
            </a:pPr>
            <a:r>
              <a:rPr sz="900" b="1" i="0">
                <a:solidFill>
                  <a:srgbClr val="0A1628"/>
                </a:solidFill>
                <a:latin typeface="Calibri"/>
              </a:rPr>
              <a:t>$5-10K/mo</a:t>
            </a:r>
          </a:p>
        </p:txBody>
      </p:sp>
      <p:sp>
        <p:nvSpPr>
          <p:cNvPr id="13" name="TextBox 12"/>
          <p:cNvSpPr txBox="1"/>
          <p:nvPr/>
        </p:nvSpPr>
        <p:spPr>
          <a:xfrm>
            <a:off x="731520" y="1965960"/>
            <a:ext cx="7315200" cy="201168"/>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PdM (Unilever $2.3M) + Visual QI (YOLOv8, 99.2%)</a:t>
            </a:r>
          </a:p>
        </p:txBody>
      </p:sp>
      <p:sp>
        <p:nvSpPr>
          <p:cNvPr id="14" name="TextBox 13"/>
          <p:cNvSpPr txBox="1"/>
          <p:nvPr/>
        </p:nvSpPr>
        <p:spPr>
          <a:xfrm>
            <a:off x="5394960" y="1691640"/>
            <a:ext cx="548640" cy="219456"/>
          </a:xfrm>
          <a:prstGeom prst="rect">
            <a:avLst/>
          </a:prstGeom>
          <a:noFill/>
        </p:spPr>
        <p:txBody>
          <a:bodyPr wrap="square" anchor="ctr" lIns="0" rIns="0" tIns="0" bIns="0">
            <a:noAutofit/>
          </a:bodyPr>
          <a:lstStyle/>
          <a:p>
            <a:pPr algn="l">
              <a:lnSpc>
                <a:spcPct val="105000"/>
              </a:lnSpc>
              <a:spcBef>
                <a:spcPts val="0"/>
              </a:spcBef>
            </a:pPr>
            <a:r>
              <a:rPr sz="800" b="1" i="0">
                <a:solidFill>
                  <a:srgbClr val="F2A83B"/>
                </a:solidFill>
                <a:latin typeface="Calibri"/>
              </a:rPr>
              <a:t>[A+A]</a:t>
            </a:r>
          </a:p>
        </p:txBody>
      </p:sp>
      <p:sp>
        <p:nvSpPr>
          <p:cNvPr id="15" name="Rounded Rectangle 14"/>
          <p:cNvSpPr/>
          <p:nvPr/>
        </p:nvSpPr>
        <p:spPr>
          <a:xfrm>
            <a:off x="548640" y="2468880"/>
            <a:ext cx="11094415" cy="713232"/>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560320"/>
            <a:ext cx="2011680" cy="219456"/>
          </a:xfrm>
          <a:prstGeom prst="rect">
            <a:avLst/>
          </a:prstGeom>
          <a:noFill/>
        </p:spPr>
        <p:txBody>
          <a:bodyPr wrap="square" anchor="t" lIns="0" rIns="0" tIns="0" bIns="0">
            <a:noAutofit/>
          </a:bodyPr>
          <a:lstStyle/>
          <a:p>
            <a:pPr algn="l">
              <a:lnSpc>
                <a:spcPct val="105000"/>
              </a:lnSpc>
              <a:spcBef>
                <a:spcPts val="0"/>
              </a:spcBef>
            </a:pPr>
            <a:r>
              <a:rPr sz="1400" b="1" i="0">
                <a:solidFill>
                  <a:srgbClr val="FFFFFF"/>
                </a:solidFill>
                <a:latin typeface="Calibri"/>
              </a:rPr>
              <a:t>Healthcare</a:t>
            </a:r>
          </a:p>
        </p:txBody>
      </p:sp>
      <p:sp>
        <p:nvSpPr>
          <p:cNvPr id="17" name="Rounded Rectangle 16"/>
          <p:cNvSpPr/>
          <p:nvPr/>
        </p:nvSpPr>
        <p:spPr>
          <a:xfrm>
            <a:off x="2834640" y="2560320"/>
            <a:ext cx="1097280" cy="219456"/>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80360" y="2560320"/>
            <a:ext cx="1005840" cy="219456"/>
          </a:xfrm>
          <a:prstGeom prst="rect">
            <a:avLst/>
          </a:prstGeom>
          <a:noFill/>
        </p:spPr>
        <p:txBody>
          <a:bodyPr wrap="square" anchor="ctr" lIns="0" rIns="0" tIns="0" bIns="0">
            <a:noAutofit/>
          </a:bodyPr>
          <a:lstStyle/>
          <a:p>
            <a:pPr algn="ctr">
              <a:lnSpc>
                <a:spcPct val="105000"/>
              </a:lnSpc>
              <a:spcBef>
                <a:spcPts val="0"/>
              </a:spcBef>
            </a:pPr>
            <a:r>
              <a:rPr sz="900" b="1" i="0">
                <a:solidFill>
                  <a:srgbClr val="FFFFFF"/>
                </a:solidFill>
                <a:latin typeface="Calibri"/>
              </a:rPr>
              <a:t>Viable</a:t>
            </a:r>
          </a:p>
        </p:txBody>
      </p:sp>
      <p:sp>
        <p:nvSpPr>
          <p:cNvPr id="19" name="Rounded Rectangle 18"/>
          <p:cNvSpPr/>
          <p:nvPr/>
        </p:nvSpPr>
        <p:spPr>
          <a:xfrm>
            <a:off x="4069080" y="2560320"/>
            <a:ext cx="1097280" cy="219456"/>
          </a:xfrm>
          <a:prstGeom prst="roundRect">
            <a:avLst>
              <a:gd name="adj" fmla="val 3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0" y="2560320"/>
            <a:ext cx="1005840" cy="219456"/>
          </a:xfrm>
          <a:prstGeom prst="rect">
            <a:avLst/>
          </a:prstGeom>
          <a:noFill/>
        </p:spPr>
        <p:txBody>
          <a:bodyPr wrap="square" anchor="ctr" lIns="0" rIns="0" tIns="0" bIns="0">
            <a:noAutofit/>
          </a:bodyPr>
          <a:lstStyle/>
          <a:p>
            <a:pPr algn="ctr">
              <a:lnSpc>
                <a:spcPct val="105000"/>
              </a:lnSpc>
              <a:spcBef>
                <a:spcPts val="0"/>
              </a:spcBef>
            </a:pPr>
            <a:r>
              <a:rPr sz="900" b="1" i="0">
                <a:solidFill>
                  <a:srgbClr val="0A1628"/>
                </a:solidFill>
                <a:latin typeface="Calibri"/>
              </a:rPr>
              <a:t>$3-5K/mo</a:t>
            </a:r>
          </a:p>
        </p:txBody>
      </p:sp>
      <p:sp>
        <p:nvSpPr>
          <p:cNvPr id="21" name="TextBox 20"/>
          <p:cNvSpPr txBox="1"/>
          <p:nvPr/>
        </p:nvSpPr>
        <p:spPr>
          <a:xfrm>
            <a:off x="731520" y="2834640"/>
            <a:ext cx="7315200" cy="201168"/>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Patient Intake (FHIR+Twilio) + Clinical AI (TGH+CSH)</a:t>
            </a:r>
          </a:p>
        </p:txBody>
      </p:sp>
      <p:sp>
        <p:nvSpPr>
          <p:cNvPr id="22" name="TextBox 21"/>
          <p:cNvSpPr txBox="1"/>
          <p:nvPr/>
        </p:nvSpPr>
        <p:spPr>
          <a:xfrm>
            <a:off x="5394960" y="2560320"/>
            <a:ext cx="548640" cy="219456"/>
          </a:xfrm>
          <a:prstGeom prst="rect">
            <a:avLst/>
          </a:prstGeom>
          <a:noFill/>
        </p:spPr>
        <p:txBody>
          <a:bodyPr wrap="square" anchor="ctr" lIns="0" rIns="0" tIns="0" bIns="0">
            <a:noAutofit/>
          </a:bodyPr>
          <a:lstStyle/>
          <a:p>
            <a:pPr algn="l">
              <a:lnSpc>
                <a:spcPct val="105000"/>
              </a:lnSpc>
              <a:spcBef>
                <a:spcPts val="0"/>
              </a:spcBef>
            </a:pPr>
            <a:r>
              <a:rPr sz="800" b="1" i="0">
                <a:solidFill>
                  <a:srgbClr val="F2A83B"/>
                </a:solidFill>
                <a:latin typeface="Calibri"/>
              </a:rPr>
              <a:t>[A+B]</a:t>
            </a:r>
          </a:p>
        </p:txBody>
      </p:sp>
      <p:sp>
        <p:nvSpPr>
          <p:cNvPr id="23" name="Rounded Rectangle 22"/>
          <p:cNvSpPr/>
          <p:nvPr/>
        </p:nvSpPr>
        <p:spPr>
          <a:xfrm>
            <a:off x="548640" y="3337560"/>
            <a:ext cx="11094415" cy="713232"/>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429000"/>
            <a:ext cx="2011680" cy="219456"/>
          </a:xfrm>
          <a:prstGeom prst="rect">
            <a:avLst/>
          </a:prstGeom>
          <a:noFill/>
        </p:spPr>
        <p:txBody>
          <a:bodyPr wrap="square" anchor="t" lIns="0" rIns="0" tIns="0" bIns="0">
            <a:noAutofit/>
          </a:bodyPr>
          <a:lstStyle/>
          <a:p>
            <a:pPr algn="l">
              <a:lnSpc>
                <a:spcPct val="105000"/>
              </a:lnSpc>
              <a:spcBef>
                <a:spcPts val="0"/>
              </a:spcBef>
            </a:pPr>
            <a:r>
              <a:rPr sz="1400" b="1" i="0">
                <a:solidFill>
                  <a:srgbClr val="FFFFFF"/>
                </a:solidFill>
                <a:latin typeface="Calibri"/>
              </a:rPr>
              <a:t>Legal</a:t>
            </a:r>
          </a:p>
        </p:txBody>
      </p:sp>
      <p:sp>
        <p:nvSpPr>
          <p:cNvPr id="25" name="Rounded Rectangle 24"/>
          <p:cNvSpPr/>
          <p:nvPr/>
        </p:nvSpPr>
        <p:spPr>
          <a:xfrm>
            <a:off x="2834640" y="3429000"/>
            <a:ext cx="1097280" cy="219456"/>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80360" y="3429000"/>
            <a:ext cx="1005840" cy="219456"/>
          </a:xfrm>
          <a:prstGeom prst="rect">
            <a:avLst/>
          </a:prstGeom>
          <a:noFill/>
        </p:spPr>
        <p:txBody>
          <a:bodyPr wrap="square" anchor="ctr" lIns="0" rIns="0" tIns="0" bIns="0">
            <a:noAutofit/>
          </a:bodyPr>
          <a:lstStyle/>
          <a:p>
            <a:pPr algn="ctr">
              <a:lnSpc>
                <a:spcPct val="105000"/>
              </a:lnSpc>
              <a:spcBef>
                <a:spcPts val="0"/>
              </a:spcBef>
            </a:pPr>
            <a:r>
              <a:rPr sz="900" b="1" i="0">
                <a:solidFill>
                  <a:srgbClr val="FFFFFF"/>
                </a:solidFill>
                <a:latin typeface="Calibri"/>
              </a:rPr>
              <a:t>30/35 GO</a:t>
            </a:r>
          </a:p>
        </p:txBody>
      </p:sp>
      <p:sp>
        <p:nvSpPr>
          <p:cNvPr id="27" name="Rounded Rectangle 26"/>
          <p:cNvSpPr/>
          <p:nvPr/>
        </p:nvSpPr>
        <p:spPr>
          <a:xfrm>
            <a:off x="4069080" y="3429000"/>
            <a:ext cx="1097280" cy="219456"/>
          </a:xfrm>
          <a:prstGeom prst="roundRect">
            <a:avLst>
              <a:gd name="adj" fmla="val 3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0" y="3429000"/>
            <a:ext cx="1005840" cy="219456"/>
          </a:xfrm>
          <a:prstGeom prst="rect">
            <a:avLst/>
          </a:prstGeom>
          <a:noFill/>
        </p:spPr>
        <p:txBody>
          <a:bodyPr wrap="square" anchor="ctr" lIns="0" rIns="0" tIns="0" bIns="0">
            <a:noAutofit/>
          </a:bodyPr>
          <a:lstStyle/>
          <a:p>
            <a:pPr algn="ctr">
              <a:lnSpc>
                <a:spcPct val="105000"/>
              </a:lnSpc>
              <a:spcBef>
                <a:spcPts val="0"/>
              </a:spcBef>
            </a:pPr>
            <a:r>
              <a:rPr sz="900" b="1" i="0">
                <a:solidFill>
                  <a:srgbClr val="0A1628"/>
                </a:solidFill>
                <a:latin typeface="Calibri"/>
              </a:rPr>
              <a:t>$3-5K/mo</a:t>
            </a:r>
          </a:p>
        </p:txBody>
      </p:sp>
      <p:sp>
        <p:nvSpPr>
          <p:cNvPr id="29" name="TextBox 28"/>
          <p:cNvSpPr txBox="1"/>
          <p:nvPr/>
        </p:nvSpPr>
        <p:spPr>
          <a:xfrm>
            <a:off x="731520" y="3703320"/>
            <a:ext cx="7315200" cy="201168"/>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Contract Review (67-agent) + LexisNexis (284% ROI)</a:t>
            </a:r>
          </a:p>
        </p:txBody>
      </p:sp>
      <p:sp>
        <p:nvSpPr>
          <p:cNvPr id="30" name="TextBox 29"/>
          <p:cNvSpPr txBox="1"/>
          <p:nvPr/>
        </p:nvSpPr>
        <p:spPr>
          <a:xfrm>
            <a:off x="5394960" y="3429000"/>
            <a:ext cx="548640" cy="219456"/>
          </a:xfrm>
          <a:prstGeom prst="rect">
            <a:avLst/>
          </a:prstGeom>
          <a:noFill/>
        </p:spPr>
        <p:txBody>
          <a:bodyPr wrap="square" anchor="ctr" lIns="0" rIns="0" tIns="0" bIns="0">
            <a:noAutofit/>
          </a:bodyPr>
          <a:lstStyle/>
          <a:p>
            <a:pPr algn="l">
              <a:lnSpc>
                <a:spcPct val="105000"/>
              </a:lnSpc>
              <a:spcBef>
                <a:spcPts val="0"/>
              </a:spcBef>
            </a:pPr>
            <a:r>
              <a:rPr sz="800" b="1" i="0">
                <a:solidFill>
                  <a:srgbClr val="F2A83B"/>
                </a:solidFill>
                <a:latin typeface="Calibri"/>
              </a:rPr>
              <a:t>[A+B]</a:t>
            </a:r>
          </a:p>
        </p:txBody>
      </p:sp>
      <p:sp>
        <p:nvSpPr>
          <p:cNvPr id="31" name="Rounded Rectangle 30"/>
          <p:cNvSpPr/>
          <p:nvPr/>
        </p:nvSpPr>
        <p:spPr>
          <a:xfrm>
            <a:off x="548640" y="4206240"/>
            <a:ext cx="11094415" cy="713232"/>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297680"/>
            <a:ext cx="2011680" cy="219456"/>
          </a:xfrm>
          <a:prstGeom prst="rect">
            <a:avLst/>
          </a:prstGeom>
          <a:noFill/>
        </p:spPr>
        <p:txBody>
          <a:bodyPr wrap="square" anchor="t" lIns="0" rIns="0" tIns="0" bIns="0">
            <a:noAutofit/>
          </a:bodyPr>
          <a:lstStyle/>
          <a:p>
            <a:pPr algn="l">
              <a:lnSpc>
                <a:spcPct val="105000"/>
              </a:lnSpc>
              <a:spcBef>
                <a:spcPts val="0"/>
              </a:spcBef>
            </a:pPr>
            <a:r>
              <a:rPr sz="1400" b="1" i="0">
                <a:solidFill>
                  <a:srgbClr val="FFFFFF"/>
                </a:solidFill>
                <a:latin typeface="Calibri"/>
              </a:rPr>
              <a:t>Financial Svcs</a:t>
            </a:r>
          </a:p>
        </p:txBody>
      </p:sp>
      <p:sp>
        <p:nvSpPr>
          <p:cNvPr id="33" name="Rounded Rectangle 32"/>
          <p:cNvSpPr/>
          <p:nvPr/>
        </p:nvSpPr>
        <p:spPr>
          <a:xfrm>
            <a:off x="2834640" y="4297680"/>
            <a:ext cx="1097280" cy="219456"/>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80360" y="4297680"/>
            <a:ext cx="1005840" cy="219456"/>
          </a:xfrm>
          <a:prstGeom prst="rect">
            <a:avLst/>
          </a:prstGeom>
          <a:noFill/>
        </p:spPr>
        <p:txBody>
          <a:bodyPr wrap="square" anchor="ctr" lIns="0" rIns="0" tIns="0" bIns="0">
            <a:noAutofit/>
          </a:bodyPr>
          <a:lstStyle/>
          <a:p>
            <a:pPr algn="ctr">
              <a:lnSpc>
                <a:spcPct val="105000"/>
              </a:lnSpc>
              <a:spcBef>
                <a:spcPts val="0"/>
              </a:spcBef>
            </a:pPr>
            <a:r>
              <a:rPr sz="900" b="1" i="0">
                <a:solidFill>
                  <a:srgbClr val="FFFFFF"/>
                </a:solidFill>
                <a:latin typeface="Calibri"/>
              </a:rPr>
              <a:t>Production</a:t>
            </a:r>
          </a:p>
        </p:txBody>
      </p:sp>
      <p:sp>
        <p:nvSpPr>
          <p:cNvPr id="35" name="Rounded Rectangle 34"/>
          <p:cNvSpPr/>
          <p:nvPr/>
        </p:nvSpPr>
        <p:spPr>
          <a:xfrm>
            <a:off x="4069080" y="4297680"/>
            <a:ext cx="1097280" cy="219456"/>
          </a:xfrm>
          <a:prstGeom prst="roundRect">
            <a:avLst>
              <a:gd name="adj" fmla="val 3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0" y="4297680"/>
            <a:ext cx="1005840" cy="219456"/>
          </a:xfrm>
          <a:prstGeom prst="rect">
            <a:avLst/>
          </a:prstGeom>
          <a:noFill/>
        </p:spPr>
        <p:txBody>
          <a:bodyPr wrap="square" anchor="ctr" lIns="0" rIns="0" tIns="0" bIns="0">
            <a:noAutofit/>
          </a:bodyPr>
          <a:lstStyle/>
          <a:p>
            <a:pPr algn="ctr">
              <a:lnSpc>
                <a:spcPct val="105000"/>
              </a:lnSpc>
              <a:spcBef>
                <a:spcPts val="0"/>
              </a:spcBef>
            </a:pPr>
            <a:r>
              <a:rPr sz="900" b="1" i="0">
                <a:solidFill>
                  <a:srgbClr val="0A1628"/>
                </a:solidFill>
                <a:latin typeface="Calibri"/>
              </a:rPr>
              <a:t>Enterprise</a:t>
            </a:r>
          </a:p>
        </p:txBody>
      </p:sp>
      <p:sp>
        <p:nvSpPr>
          <p:cNvPr id="37" name="TextBox 36"/>
          <p:cNvSpPr txBox="1"/>
          <p:nvPr/>
        </p:nvSpPr>
        <p:spPr>
          <a:xfrm>
            <a:off x="731520" y="4572000"/>
            <a:ext cx="7315200" cy="201168"/>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TD Bank (15hr→min) + JPMorgan (360K hrs/yr)</a:t>
            </a:r>
          </a:p>
        </p:txBody>
      </p:sp>
      <p:sp>
        <p:nvSpPr>
          <p:cNvPr id="38" name="TextBox 37"/>
          <p:cNvSpPr txBox="1"/>
          <p:nvPr/>
        </p:nvSpPr>
        <p:spPr>
          <a:xfrm>
            <a:off x="5394960" y="4297680"/>
            <a:ext cx="548640" cy="219456"/>
          </a:xfrm>
          <a:prstGeom prst="rect">
            <a:avLst/>
          </a:prstGeom>
          <a:noFill/>
        </p:spPr>
        <p:txBody>
          <a:bodyPr wrap="square" anchor="ctr" lIns="0" rIns="0" tIns="0" bIns="0">
            <a:noAutofit/>
          </a:bodyPr>
          <a:lstStyle/>
          <a:p>
            <a:pPr algn="l">
              <a:lnSpc>
                <a:spcPct val="105000"/>
              </a:lnSpc>
              <a:spcBef>
                <a:spcPts val="0"/>
              </a:spcBef>
            </a:pPr>
            <a:r>
              <a:rPr sz="800" b="1" i="0">
                <a:solidFill>
                  <a:srgbClr val="F2A83B"/>
                </a:solidFill>
                <a:latin typeface="Calibri"/>
              </a:rPr>
              <a:t>[B+B]</a:t>
            </a:r>
          </a:p>
        </p:txBody>
      </p:sp>
      <p:sp>
        <p:nvSpPr>
          <p:cNvPr id="39" name="Rounded Rectangle 38"/>
          <p:cNvSpPr/>
          <p:nvPr/>
        </p:nvSpPr>
        <p:spPr>
          <a:xfrm>
            <a:off x="548640" y="5074920"/>
            <a:ext cx="11094415" cy="713232"/>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166360"/>
            <a:ext cx="2011680" cy="219456"/>
          </a:xfrm>
          <a:prstGeom prst="rect">
            <a:avLst/>
          </a:prstGeom>
          <a:noFill/>
        </p:spPr>
        <p:txBody>
          <a:bodyPr wrap="square" anchor="t" lIns="0" rIns="0" tIns="0" bIns="0">
            <a:noAutofit/>
          </a:bodyPr>
          <a:lstStyle/>
          <a:p>
            <a:pPr algn="l">
              <a:lnSpc>
                <a:spcPct val="105000"/>
              </a:lnSpc>
              <a:spcBef>
                <a:spcPts val="0"/>
              </a:spcBef>
            </a:pPr>
            <a:r>
              <a:rPr sz="1400" b="1" i="0">
                <a:solidFill>
                  <a:srgbClr val="FFFFFF"/>
                </a:solidFill>
                <a:latin typeface="Calibri"/>
              </a:rPr>
              <a:t>Construction</a:t>
            </a:r>
          </a:p>
        </p:txBody>
      </p:sp>
      <p:sp>
        <p:nvSpPr>
          <p:cNvPr id="41" name="Rounded Rectangle 40"/>
          <p:cNvSpPr/>
          <p:nvPr/>
        </p:nvSpPr>
        <p:spPr>
          <a:xfrm>
            <a:off x="2834640" y="5166360"/>
            <a:ext cx="1097280" cy="219456"/>
          </a:xfrm>
          <a:prstGeom prst="roundRect">
            <a:avLst>
              <a:gd name="adj" fmla="val 3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80360" y="5166360"/>
            <a:ext cx="1005840" cy="219456"/>
          </a:xfrm>
          <a:prstGeom prst="rect">
            <a:avLst/>
          </a:prstGeom>
          <a:noFill/>
        </p:spPr>
        <p:txBody>
          <a:bodyPr wrap="square" anchor="ctr" lIns="0" rIns="0" tIns="0" bIns="0">
            <a:noAutofit/>
          </a:bodyPr>
          <a:lstStyle/>
          <a:p>
            <a:pPr algn="ctr">
              <a:lnSpc>
                <a:spcPct val="105000"/>
              </a:lnSpc>
              <a:spcBef>
                <a:spcPts val="0"/>
              </a:spcBef>
            </a:pPr>
            <a:r>
              <a:rPr sz="900" b="1" i="0">
                <a:solidFill>
                  <a:srgbClr val="FFFFFF"/>
                </a:solidFill>
                <a:latin typeface="Calibri"/>
              </a:rPr>
              <a:t>Production</a:t>
            </a:r>
          </a:p>
        </p:txBody>
      </p:sp>
      <p:sp>
        <p:nvSpPr>
          <p:cNvPr id="43" name="Rounded Rectangle 42"/>
          <p:cNvSpPr/>
          <p:nvPr/>
        </p:nvSpPr>
        <p:spPr>
          <a:xfrm>
            <a:off x="4069080" y="5166360"/>
            <a:ext cx="1097280" cy="219456"/>
          </a:xfrm>
          <a:prstGeom prst="roundRect">
            <a:avLst>
              <a:gd name="adj" fmla="val 3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800" y="5166360"/>
            <a:ext cx="1005840" cy="219456"/>
          </a:xfrm>
          <a:prstGeom prst="rect">
            <a:avLst/>
          </a:prstGeom>
          <a:noFill/>
        </p:spPr>
        <p:txBody>
          <a:bodyPr wrap="square" anchor="ctr" lIns="0" rIns="0" tIns="0" bIns="0">
            <a:noAutofit/>
          </a:bodyPr>
          <a:lstStyle/>
          <a:p>
            <a:pPr algn="ctr">
              <a:lnSpc>
                <a:spcPct val="105000"/>
              </a:lnSpc>
              <a:spcBef>
                <a:spcPts val="0"/>
              </a:spcBef>
            </a:pPr>
            <a:r>
              <a:rPr sz="900" b="1" i="0">
                <a:solidFill>
                  <a:srgbClr val="0A1628"/>
                </a:solidFill>
                <a:latin typeface="Calibri"/>
              </a:rPr>
              <a:t>Enterprise</a:t>
            </a:r>
          </a:p>
        </p:txBody>
      </p:sp>
      <p:sp>
        <p:nvSpPr>
          <p:cNvPr id="45" name="TextBox 44"/>
          <p:cNvSpPr txBox="1"/>
          <p:nvPr/>
        </p:nvSpPr>
        <p:spPr>
          <a:xfrm>
            <a:off x="731520" y="5440680"/>
            <a:ext cx="7315200" cy="201168"/>
          </a:xfrm>
          <a:prstGeom prst="rect">
            <a:avLst/>
          </a:prstGeom>
          <a:noFill/>
        </p:spPr>
        <p:txBody>
          <a:bodyPr wrap="square" anchor="t" lIns="0" rIns="0" tIns="0" bIns="0">
            <a:normAutofit/>
          </a:bodyPr>
          <a:lstStyle/>
          <a:p>
            <a:pPr algn="l">
              <a:lnSpc>
                <a:spcPct val="105000"/>
              </a:lnSpc>
              <a:spcBef>
                <a:spcPts val="0"/>
              </a:spcBef>
            </a:pPr>
            <a:r>
              <a:rPr sz="1000" b="0" i="0">
                <a:solidFill>
                  <a:srgbClr val="E0F7F1"/>
                </a:solidFill>
                <a:latin typeface="Calibri"/>
              </a:rPr>
              <a:t>DroneDeploy (34M annotations) + BCG (6x ROI)</a:t>
            </a:r>
          </a:p>
        </p:txBody>
      </p:sp>
      <p:sp>
        <p:nvSpPr>
          <p:cNvPr id="46" name="TextBox 45"/>
          <p:cNvSpPr txBox="1"/>
          <p:nvPr/>
        </p:nvSpPr>
        <p:spPr>
          <a:xfrm>
            <a:off x="5394960" y="5166360"/>
            <a:ext cx="548640" cy="219456"/>
          </a:xfrm>
          <a:prstGeom prst="rect">
            <a:avLst/>
          </a:prstGeom>
          <a:noFill/>
        </p:spPr>
        <p:txBody>
          <a:bodyPr wrap="square" anchor="ctr" lIns="0" rIns="0" tIns="0" bIns="0">
            <a:noAutofit/>
          </a:bodyPr>
          <a:lstStyle/>
          <a:p>
            <a:pPr algn="l">
              <a:lnSpc>
                <a:spcPct val="105000"/>
              </a:lnSpc>
              <a:spcBef>
                <a:spcPts val="0"/>
              </a:spcBef>
            </a:pPr>
            <a:r>
              <a:rPr sz="800" b="1" i="0">
                <a:solidFill>
                  <a:srgbClr val="F2A83B"/>
                </a:solidFill>
                <a:latin typeface="Calibri"/>
              </a:rPr>
              <a:t>[B+B]</a:t>
            </a:r>
          </a:p>
        </p:txBody>
      </p:sp>
      <p:sp>
        <p:nvSpPr>
          <p:cNvPr id="47" name="TextBox 4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 / 82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ONE ARCHITECTURE, EVERY INDUSTRY — CORRECTED</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Verified against OpenHands GitHub repo (2026-06-08)</a:t>
            </a:r>
          </a:p>
        </p:txBody>
      </p:sp>
      <p:sp>
        <p:nvSpPr>
          <p:cNvPr id="7" name="Rounded Rectangle 6"/>
          <p:cNvSpPr/>
          <p:nvPr/>
        </p:nvSpPr>
        <p:spPr>
          <a:xfrm>
            <a:off x="548640" y="1554480"/>
            <a:ext cx="11094415" cy="548640"/>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9344"/>
            <a:ext cx="2011680"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USER LAYER</a:t>
            </a:r>
          </a:p>
        </p:txBody>
      </p:sp>
      <p:sp>
        <p:nvSpPr>
          <p:cNvPr id="9" name="TextBox 8"/>
          <p:cNvSpPr txBox="1"/>
          <p:nvPr/>
        </p:nvSpPr>
        <p:spPr>
          <a:xfrm>
            <a:off x="2834640" y="1609344"/>
            <a:ext cx="8625535" cy="402336"/>
          </a:xfrm>
          <a:prstGeom prst="rect">
            <a:avLst/>
          </a:prstGeom>
          <a:noFill/>
        </p:spPr>
        <p:txBody>
          <a:bodyPr wrap="square" anchor="t" lIns="0" rIns="0" tIns="0" bIns="0">
            <a:normAutofit/>
          </a:bodyPr>
          <a:lstStyle/>
          <a:p>
            <a:pPr algn="l">
              <a:lnSpc>
                <a:spcPct val="105000"/>
              </a:lnSpc>
              <a:spcBef>
                <a:spcPts val="0"/>
              </a:spcBef>
            </a:pPr>
            <a:r>
              <a:rPr sz="950" b="0" i="0">
                <a:solidFill>
                  <a:srgbClr val="0A1628"/>
                </a:solidFill>
                <a:latin typeface="Calibri"/>
              </a:rPr>
              <a:t>CLI / Generative UI (AG-UI) / Headless Batch</a:t>
            </a:r>
          </a:p>
        </p:txBody>
      </p:sp>
      <p:sp>
        <p:nvSpPr>
          <p:cNvPr id="10" name="Rounded Rectangle 9"/>
          <p:cNvSpPr/>
          <p:nvPr/>
        </p:nvSpPr>
        <p:spPr>
          <a:xfrm>
            <a:off x="548640" y="2212848"/>
            <a:ext cx="11094415" cy="54864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67712"/>
            <a:ext cx="2011680" cy="182880"/>
          </a:xfrm>
          <a:prstGeom prst="rect">
            <a:avLst/>
          </a:prstGeom>
          <a:noFill/>
        </p:spPr>
        <p:txBody>
          <a:bodyPr wrap="square" anchor="t" lIns="0" rIns="0" tIns="0" bIns="0">
            <a:noAutofit/>
          </a:bodyPr>
          <a:lstStyle/>
          <a:p>
            <a:pPr algn="l">
              <a:lnSpc>
                <a:spcPct val="105000"/>
              </a:lnSpc>
              <a:spcBef>
                <a:spcPts val="0"/>
              </a:spcBef>
            </a:pPr>
            <a:r>
              <a:rPr sz="1000" b="1" i="0">
                <a:solidFill>
                  <a:srgbClr val="FFB800"/>
                </a:solidFill>
                <a:latin typeface="Calibri"/>
              </a:rPr>
              <a:t>ORCHESTRATION</a:t>
            </a:r>
          </a:p>
        </p:txBody>
      </p:sp>
      <p:sp>
        <p:nvSpPr>
          <p:cNvPr id="12" name="TextBox 11"/>
          <p:cNvSpPr txBox="1"/>
          <p:nvPr/>
        </p:nvSpPr>
        <p:spPr>
          <a:xfrm>
            <a:off x="2834640" y="2267712"/>
            <a:ext cx="8625535" cy="402336"/>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Agent(llm, tools) → Conversation(agent, workspace, plugins)</a:t>
            </a:r>
          </a:p>
        </p:txBody>
      </p:sp>
      <p:sp>
        <p:nvSpPr>
          <p:cNvPr id="13" name="Rounded Rectangle 12"/>
          <p:cNvSpPr/>
          <p:nvPr/>
        </p:nvSpPr>
        <p:spPr>
          <a:xfrm>
            <a:off x="548640" y="2871216"/>
            <a:ext cx="11094415" cy="548640"/>
          </a:xfrm>
          <a:prstGeom prst="roundRect">
            <a:avLst>
              <a:gd name="adj" fmla="val 4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926080"/>
            <a:ext cx="2011680"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MCP CONFIG</a:t>
            </a:r>
          </a:p>
        </p:txBody>
      </p:sp>
      <p:sp>
        <p:nvSpPr>
          <p:cNvPr id="15" name="TextBox 14"/>
          <p:cNvSpPr txBox="1"/>
          <p:nvPr/>
        </p:nvSpPr>
        <p:spPr>
          <a:xfrm>
            <a:off x="2834640" y="2926080"/>
            <a:ext cx="8625535" cy="402336"/>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Platform-level config.toml under [mcp] — SSE, Streamable HTTP, or stdio transports</a:t>
            </a:r>
          </a:p>
        </p:txBody>
      </p:sp>
      <p:sp>
        <p:nvSpPr>
          <p:cNvPr id="16" name="Rounded Rectangle 15"/>
          <p:cNvSpPr/>
          <p:nvPr/>
        </p:nvSpPr>
        <p:spPr>
          <a:xfrm>
            <a:off x="548640" y="3529584"/>
            <a:ext cx="11094415" cy="548640"/>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584448"/>
            <a:ext cx="2011680"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VERIFIED MCP</a:t>
            </a:r>
          </a:p>
        </p:txBody>
      </p:sp>
      <p:sp>
        <p:nvSpPr>
          <p:cNvPr id="18" name="TextBox 17"/>
          <p:cNvSpPr txBox="1"/>
          <p:nvPr/>
        </p:nvSpPr>
        <p:spPr>
          <a:xfrm>
            <a:off x="2834640" y="3584448"/>
            <a:ext cx="8625535" cy="402336"/>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predictive-maintenance-mcp · open-agreements · lavern · suzielaw · claude-for-legal</a:t>
            </a:r>
          </a:p>
        </p:txBody>
      </p:sp>
      <p:sp>
        <p:nvSpPr>
          <p:cNvPr id="19" name="Rounded Rectangle 18"/>
          <p:cNvSpPr/>
          <p:nvPr/>
        </p:nvSpPr>
        <p:spPr>
          <a:xfrm>
            <a:off x="548640" y="4187952"/>
            <a:ext cx="11094415" cy="548640"/>
          </a:xfrm>
          <a:prstGeom prst="roundRect">
            <a:avLst>
              <a:gd name="adj" fmla="val 4000"/>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242816"/>
            <a:ext cx="2011680"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TO BUILD MCP</a:t>
            </a:r>
          </a:p>
        </p:txBody>
      </p:sp>
      <p:sp>
        <p:nvSpPr>
          <p:cNvPr id="21" name="TextBox 20"/>
          <p:cNvSpPr txBox="1"/>
          <p:nvPr/>
        </p:nvSpPr>
        <p:spPr>
          <a:xfrm>
            <a:off x="2834640" y="4242816"/>
            <a:ext cx="8625535" cy="402336"/>
          </a:xfrm>
          <a:prstGeom prst="rect">
            <a:avLst/>
          </a:prstGeom>
          <a:noFill/>
        </p:spPr>
        <p:txBody>
          <a:bodyPr wrap="square" anchor="t" lIns="0" rIns="0" tIns="0" bIns="0">
            <a:normAutofit/>
          </a:bodyPr>
          <a:lstStyle/>
          <a:p>
            <a:pPr algn="l">
              <a:lnSpc>
                <a:spcPct val="105000"/>
              </a:lnSpc>
              <a:spcBef>
                <a:spcPts val="0"/>
              </a:spcBef>
            </a:pPr>
            <a:r>
              <a:rPr sz="950" b="0" i="0">
                <a:solidFill>
                  <a:srgbClr val="0A1628"/>
                </a:solidFill>
                <a:latin typeface="Calibri"/>
              </a:rPr>
              <a:t>FHIR wrapper · Twilio wrapper · Calendly wrapper · SAP MES wrapper · vision-pipeline</a:t>
            </a:r>
          </a:p>
        </p:txBody>
      </p:sp>
      <p:sp>
        <p:nvSpPr>
          <p:cNvPr id="22" name="Rounded Rectangle 21"/>
          <p:cNvSpPr/>
          <p:nvPr/>
        </p:nvSpPr>
        <p:spPr>
          <a:xfrm>
            <a:off x="548640" y="4846320"/>
            <a:ext cx="11094415" cy="548640"/>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901184"/>
            <a:ext cx="2011680"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DOMAIN SKILLS</a:t>
            </a:r>
          </a:p>
        </p:txBody>
      </p:sp>
      <p:sp>
        <p:nvSpPr>
          <p:cNvPr id="24" name="TextBox 23"/>
          <p:cNvSpPr txBox="1"/>
          <p:nvPr/>
        </p:nvSpPr>
        <p:spPr>
          <a:xfrm>
            <a:off x="2834640" y="4901184"/>
            <a:ext cx="8625535" cy="402336"/>
          </a:xfrm>
          <a:prstGeom prst="rect">
            <a:avLst/>
          </a:prstGeom>
          <a:noFill/>
        </p:spPr>
        <p:txBody>
          <a:bodyPr wrap="square" anchor="t" lIns="0" rIns="0" tIns="0" bIns="0">
            <a:normAutofit/>
          </a:bodyPr>
          <a:lstStyle/>
          <a:p>
            <a:pPr algn="l">
              <a:lnSpc>
                <a:spcPct val="105000"/>
              </a:lnSpc>
              <a:spcBef>
                <a:spcPts val="0"/>
              </a:spcBef>
            </a:pPr>
            <a:r>
              <a:rPr sz="950" b="0" i="0">
                <a:solidFill>
                  <a:srgbClr val="0A1628"/>
                </a:solidFill>
                <a:latin typeface="Calibri"/>
              </a:rPr>
              <a:t>SKILL.md markdown prompts with keyword triggers → domain instructions (not code bundles)</a:t>
            </a:r>
          </a:p>
        </p:txBody>
      </p:sp>
      <p:sp>
        <p:nvSpPr>
          <p:cNvPr id="25" name="Rounded Rectangle 24"/>
          <p:cNvSpPr/>
          <p:nvPr/>
        </p:nvSpPr>
        <p:spPr>
          <a:xfrm>
            <a:off x="548640" y="5504688"/>
            <a:ext cx="11094415" cy="54864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559552"/>
            <a:ext cx="2011680" cy="182880"/>
          </a:xfrm>
          <a:prstGeom prst="rect">
            <a:avLst/>
          </a:prstGeom>
          <a:noFill/>
        </p:spPr>
        <p:txBody>
          <a:bodyPr wrap="square" anchor="t" lIns="0" rIns="0" tIns="0" bIns="0">
            <a:noAutofit/>
          </a:bodyPr>
          <a:lstStyle/>
          <a:p>
            <a:pPr algn="l">
              <a:lnSpc>
                <a:spcPct val="105000"/>
              </a:lnSpc>
              <a:spcBef>
                <a:spcPts val="0"/>
              </a:spcBef>
            </a:pPr>
            <a:r>
              <a:rPr sz="1000" b="1" i="0">
                <a:solidFill>
                  <a:srgbClr val="FFB800"/>
                </a:solidFill>
                <a:latin typeface="Calibri"/>
              </a:rPr>
              <a:t>SYSTEM OF RECORD</a:t>
            </a:r>
          </a:p>
        </p:txBody>
      </p:sp>
      <p:sp>
        <p:nvSpPr>
          <p:cNvPr id="27" name="TextBox 26"/>
          <p:cNvSpPr txBox="1"/>
          <p:nvPr/>
        </p:nvSpPr>
        <p:spPr>
          <a:xfrm>
            <a:off x="2834640" y="5559552"/>
            <a:ext cx="8625535" cy="402336"/>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SAP S/4HANA · EHR/FHIR · iManage · CRM · TMS · BIM · Core Banking</a:t>
            </a:r>
          </a:p>
        </p:txBody>
      </p:sp>
      <p:sp>
        <p:nvSpPr>
          <p:cNvPr id="28" name="TextBox 2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 / 82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1094415"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01</a:t>
            </a:r>
          </a:p>
        </p:txBody>
      </p:sp>
      <p:sp>
        <p:nvSpPr>
          <p:cNvPr id="5" name="TextBox 4"/>
          <p:cNvSpPr txBox="1"/>
          <p:nvPr/>
        </p:nvSpPr>
        <p:spPr>
          <a:xfrm>
            <a:off x="548640" y="2240280"/>
            <a:ext cx="11094415" cy="822960"/>
          </a:xfrm>
          <a:prstGeom prst="rect">
            <a:avLst/>
          </a:prstGeom>
          <a:noFill/>
        </p:spPr>
        <p:txBody>
          <a:bodyPr wrap="square" anchor="t" lIns="0" rIns="0" tIns="0" bIns="0">
            <a:normAutofit/>
          </a:bodyPr>
          <a:lstStyle/>
          <a:p>
            <a:pPr algn="l">
              <a:lnSpc>
                <a:spcPct val="105000"/>
              </a:lnSpc>
              <a:spcBef>
                <a:spcPts val="0"/>
              </a:spcBef>
            </a:pPr>
            <a:r>
              <a:rPr sz="3600" b="1" i="0">
                <a:solidFill>
                  <a:srgbClr val="FFFFFF"/>
                </a:solidFill>
                <a:latin typeface="Calibri"/>
              </a:rPr>
              <a:t>Manufacturing</a:t>
            </a:r>
          </a:p>
        </p:txBody>
      </p:sp>
      <p:sp>
        <p:nvSpPr>
          <p:cNvPr id="6" name="TextBox 5"/>
          <p:cNvSpPr txBox="1"/>
          <p:nvPr/>
        </p:nvSpPr>
        <p:spPr>
          <a:xfrm>
            <a:off x="548640" y="3108960"/>
            <a:ext cx="11094415" cy="274320"/>
          </a:xfrm>
          <a:prstGeom prst="rect">
            <a:avLst/>
          </a:prstGeom>
          <a:noFill/>
        </p:spPr>
        <p:txBody>
          <a:bodyPr wrap="square" anchor="t" lIns="0" rIns="0" tIns="0" bIns="0">
            <a:noAutofit/>
          </a:bodyPr>
          <a:lstStyle/>
          <a:p>
            <a:pPr algn="l">
              <a:lnSpc>
                <a:spcPct val="105000"/>
              </a:lnSpc>
              <a:spcBef>
                <a:spcPts val="0"/>
              </a:spcBef>
            </a:pPr>
            <a:r>
              <a:rPr sz="1400" b="1" i="0">
                <a:solidFill>
                  <a:srgbClr val="FFB800"/>
                </a:solidFill>
                <a:latin typeface="Calibri"/>
              </a:rPr>
              <a:t>UC-01 | UC-02</a:t>
            </a:r>
          </a:p>
        </p:txBody>
      </p:sp>
      <p:sp>
        <p:nvSpPr>
          <p:cNvPr id="7" name="Rectangle 6"/>
          <p:cNvSpPr/>
          <p:nvPr/>
        </p:nvSpPr>
        <p:spPr>
          <a:xfrm>
            <a:off x="548640" y="3566160"/>
            <a:ext cx="3657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749039"/>
            <a:ext cx="11094415" cy="365760"/>
          </a:xfrm>
          <a:prstGeom prst="rect">
            <a:avLst/>
          </a:prstGeom>
          <a:noFill/>
        </p:spPr>
        <p:txBody>
          <a:bodyPr wrap="square" anchor="t" lIns="0" rIns="0" tIns="0" bIns="0">
            <a:normAutofit/>
          </a:bodyPr>
          <a:lstStyle/>
          <a:p>
            <a:pPr algn="l">
              <a:lnSpc>
                <a:spcPct val="105000"/>
              </a:lnSpc>
              <a:spcBef>
                <a:spcPts val="0"/>
              </a:spcBef>
            </a:pPr>
            <a:r>
              <a:rPr sz="1200" b="0" i="0">
                <a:solidFill>
                  <a:srgbClr val="E0F7F1"/>
                </a:solidFill>
                <a:latin typeface="Calibri"/>
              </a:rPr>
              <a:t>Where predictive beats reactive — and the data already exists</a:t>
            </a:r>
          </a:p>
        </p:txBody>
      </p:sp>
      <p:sp>
        <p:nvSpPr>
          <p:cNvPr id="9" name="TextBox 8"/>
          <p:cNvSpPr txBox="1"/>
          <p:nvPr/>
        </p:nvSpPr>
        <p:spPr>
          <a:xfrm>
            <a:off x="548640" y="6217920"/>
            <a:ext cx="11094415" cy="2743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AI Market Research · AI Use Cases — Full Pipeline | 2026</a:t>
            </a:r>
          </a:p>
        </p:txBody>
      </p:sp>
      <p:sp>
        <p:nvSpPr>
          <p:cNvPr id="10" name="TextBox 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4 / 82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UC-01 | MANUFACTURING</a:t>
            </a:r>
          </a:p>
        </p:txBody>
      </p:sp>
      <p:sp>
        <p:nvSpPr>
          <p:cNvPr id="5" name="TextBox 4"/>
          <p:cNvSpPr txBox="1"/>
          <p:nvPr/>
        </p:nvSpPr>
        <p:spPr>
          <a:xfrm>
            <a:off x="548640" y="1691640"/>
            <a:ext cx="11094415" cy="731520"/>
          </a:xfrm>
          <a:prstGeom prst="rect">
            <a:avLst/>
          </a:prstGeom>
          <a:noFill/>
        </p:spPr>
        <p:txBody>
          <a:bodyPr wrap="square" anchor="t" lIns="0" rIns="0" tIns="0" bIns="0">
            <a:normAutofit/>
          </a:bodyPr>
          <a:lstStyle/>
          <a:p>
            <a:pPr algn="l">
              <a:lnSpc>
                <a:spcPct val="105000"/>
              </a:lnSpc>
              <a:spcBef>
                <a:spcPts val="0"/>
              </a:spcBef>
            </a:pPr>
            <a:r>
              <a:rPr sz="2800" b="1" i="0">
                <a:solidFill>
                  <a:srgbClr val="FFFFFF"/>
                </a:solidFill>
                <a:latin typeface="Calibri"/>
              </a:rPr>
              <a:t>Predictive Maintenance — Sensor → Anomaly → Work Order</a:t>
            </a:r>
          </a:p>
        </p:txBody>
      </p:sp>
      <p:sp>
        <p:nvSpPr>
          <p:cNvPr id="6" name="TextBox 5"/>
          <p:cNvSpPr txBox="1"/>
          <p:nvPr/>
        </p:nvSpPr>
        <p:spPr>
          <a:xfrm>
            <a:off x="548640" y="2514600"/>
            <a:ext cx="11094415" cy="274320"/>
          </a:xfrm>
          <a:prstGeom prst="rect">
            <a:avLst/>
          </a:prstGeom>
          <a:noFill/>
        </p:spPr>
        <p:txBody>
          <a:bodyPr wrap="square" anchor="t" lIns="0" rIns="0" tIns="0" bIns="0">
            <a:normAutofit/>
          </a:bodyPr>
          <a:lstStyle/>
          <a:p>
            <a:pPr algn="l">
              <a:lnSpc>
                <a:spcPct val="105000"/>
              </a:lnSpc>
              <a:spcBef>
                <a:spcPts val="0"/>
              </a:spcBef>
            </a:pPr>
            <a:r>
              <a:rPr sz="1400" b="1" i="0">
                <a:solidFill>
                  <a:srgbClr val="FFB800"/>
                </a:solidFill>
                <a:latin typeface="Calibri"/>
              </a:rPr>
              <a:t>Unilever Indaiatuba: $2.3M saved, 92% accuracy, 6.5-month payback</a:t>
            </a:r>
          </a:p>
        </p:txBody>
      </p:sp>
      <p:sp>
        <p:nvSpPr>
          <p:cNvPr id="7" name="TextBox 6"/>
          <p:cNvSpPr txBox="1"/>
          <p:nvPr/>
        </p:nvSpPr>
        <p:spPr>
          <a:xfrm>
            <a:off x="548640" y="2926080"/>
            <a:ext cx="11094415" cy="274320"/>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Unilever (Brazil)  |  2023, expanded to 7+ sites by Q4 2025</a:t>
            </a:r>
          </a:p>
        </p:txBody>
      </p:sp>
      <p:sp>
        <p:nvSpPr>
          <p:cNvPr id="8" name="Rounded Rectangle 7"/>
          <p:cNvSpPr/>
          <p:nvPr/>
        </p:nvSpPr>
        <p:spPr>
          <a:xfrm>
            <a:off x="548640" y="3383280"/>
            <a:ext cx="2011680" cy="29260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383280"/>
            <a:ext cx="1737360" cy="292608"/>
          </a:xfrm>
          <a:prstGeom prst="rect">
            <a:avLst/>
          </a:prstGeom>
          <a:noFill/>
        </p:spPr>
        <p:txBody>
          <a:bodyPr wrap="square" anchor="ctr" lIns="0" rIns="0" tIns="0" bIns="0">
            <a:noAutofit/>
          </a:bodyPr>
          <a:lstStyle/>
          <a:p>
            <a:pPr algn="l">
              <a:lnSpc>
                <a:spcPct val="105000"/>
              </a:lnSpc>
              <a:spcBef>
                <a:spcPts val="0"/>
              </a:spcBef>
            </a:pPr>
            <a:r>
              <a:rPr sz="1000" b="1" i="0">
                <a:solidFill>
                  <a:srgbClr val="FFFFFF"/>
                </a:solidFill>
                <a:latin typeface="Calibri"/>
              </a:rPr>
              <a:t>VERTICAL SCORE: 32/35 GO</a:t>
            </a:r>
          </a:p>
        </p:txBody>
      </p:sp>
      <p:sp>
        <p:nvSpPr>
          <p:cNvPr id="10" name="TextBox 9"/>
          <p:cNvSpPr txBox="1"/>
          <p:nvPr/>
        </p:nvSpPr>
        <p:spPr>
          <a:xfrm>
            <a:off x="548640" y="3931920"/>
            <a:ext cx="11094415" cy="2743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Source: NSSG Insights Mar 2026 + Unilever case study</a:t>
            </a:r>
          </a:p>
        </p:txBody>
      </p:sp>
      <p:sp>
        <p:nvSpPr>
          <p:cNvPr id="11" name="TextBox 1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5 / 82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Equipment Downtime Costs $50K-$250K/Hour</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UC-01 | MANUFACTURING — The Problem</a:t>
            </a:r>
          </a:p>
        </p:txBody>
      </p:sp>
      <p:sp>
        <p:nvSpPr>
          <p:cNvPr id="7" name="Rounded Rectangle 6"/>
          <p:cNvSpPr/>
          <p:nvPr/>
        </p:nvSpPr>
        <p:spPr>
          <a:xfrm>
            <a:off x="548640" y="160020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160020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01</a:t>
            </a:r>
          </a:p>
        </p:txBody>
      </p:sp>
      <p:sp>
        <p:nvSpPr>
          <p:cNvPr id="9" name="TextBox 8"/>
          <p:cNvSpPr txBox="1"/>
          <p:nvPr/>
        </p:nvSpPr>
        <p:spPr>
          <a:xfrm>
            <a:off x="1060704" y="165506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Equipment downtime costs $50K-$250K/hour in manufacturing plants</a:t>
            </a:r>
          </a:p>
        </p:txBody>
      </p:sp>
      <p:sp>
        <p:nvSpPr>
          <p:cNvPr id="10" name="Rounded Rectangle 9"/>
          <p:cNvSpPr/>
          <p:nvPr/>
        </p:nvSpPr>
        <p:spPr>
          <a:xfrm>
            <a:off x="548640" y="2258568"/>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58568"/>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02</a:t>
            </a:r>
          </a:p>
        </p:txBody>
      </p:sp>
      <p:sp>
        <p:nvSpPr>
          <p:cNvPr id="12" name="TextBox 11"/>
          <p:cNvSpPr txBox="1"/>
          <p:nvPr/>
        </p:nvSpPr>
        <p:spPr>
          <a:xfrm>
            <a:off x="1060704" y="2313432"/>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Calendar-based maintenance wastes 30%+ of budget on unnecessary interventions</a:t>
            </a:r>
          </a:p>
        </p:txBody>
      </p:sp>
      <p:sp>
        <p:nvSpPr>
          <p:cNvPr id="13" name="Rounded Rectangle 12"/>
          <p:cNvSpPr/>
          <p:nvPr/>
        </p:nvSpPr>
        <p:spPr>
          <a:xfrm>
            <a:off x="548640" y="2916936"/>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 y="2916936"/>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03</a:t>
            </a:r>
          </a:p>
        </p:txBody>
      </p:sp>
      <p:sp>
        <p:nvSpPr>
          <p:cNvPr id="15" name="TextBox 14"/>
          <p:cNvSpPr txBox="1"/>
          <p:nvPr/>
        </p:nvSpPr>
        <p:spPr>
          <a:xfrm>
            <a:off x="1060704" y="2971800"/>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Unilever baseline: 8.2% unplanned downtime, $5.1M annual maintenance spend</a:t>
            </a:r>
          </a:p>
        </p:txBody>
      </p:sp>
      <p:sp>
        <p:nvSpPr>
          <p:cNvPr id="16" name="Rounded Rectangle 15"/>
          <p:cNvSpPr/>
          <p:nvPr/>
        </p:nvSpPr>
        <p:spPr>
          <a:xfrm>
            <a:off x="548640" y="3575304"/>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3575304"/>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04</a:t>
            </a:r>
          </a:p>
        </p:txBody>
      </p:sp>
      <p:sp>
        <p:nvSpPr>
          <p:cNvPr id="18" name="TextBox 17"/>
          <p:cNvSpPr txBox="1"/>
          <p:nvPr/>
        </p:nvSpPr>
        <p:spPr>
          <a:xfrm>
            <a:off x="1060704" y="3630168"/>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Technician trust in AI predictions is the real deployment barrier — not model accuracy</a:t>
            </a:r>
          </a:p>
        </p:txBody>
      </p:sp>
      <p:sp>
        <p:nvSpPr>
          <p:cNvPr id="19" name="Rounded Rectangle 18"/>
          <p:cNvSpPr/>
          <p:nvPr/>
        </p:nvSpPr>
        <p:spPr>
          <a:xfrm>
            <a:off x="548640" y="4233672"/>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 y="4233672"/>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05</a:t>
            </a:r>
          </a:p>
        </p:txBody>
      </p:sp>
      <p:sp>
        <p:nvSpPr>
          <p:cNvPr id="21" name="TextBox 20"/>
          <p:cNvSpPr txBox="1"/>
          <p:nvPr/>
        </p:nvSpPr>
        <p:spPr>
          <a:xfrm>
            <a:off x="1060704" y="4288536"/>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50,000+ IoT sensors generating time-series data across compressors, HVAC, packaging</a:t>
            </a:r>
          </a:p>
        </p:txBody>
      </p:sp>
      <p:sp>
        <p:nvSpPr>
          <p:cNvPr id="22" name="Rounded Rectangle 21"/>
          <p:cNvSpPr/>
          <p:nvPr/>
        </p:nvSpPr>
        <p:spPr>
          <a:xfrm>
            <a:off x="548640" y="489204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489204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06</a:t>
            </a:r>
          </a:p>
        </p:txBody>
      </p:sp>
      <p:sp>
        <p:nvSpPr>
          <p:cNvPr id="24" name="TextBox 23"/>
          <p:cNvSpPr txBox="1"/>
          <p:nvPr/>
        </p:nvSpPr>
        <p:spPr>
          <a:xfrm>
            <a:off x="1060704" y="494690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3 years of historical failure data needed before any model could train</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 / 82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52-Endpoint MCP Server + SAP PM Integration</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UC-01 | MANUFACTURING — How It's Realized</a:t>
            </a:r>
          </a:p>
        </p:txBody>
      </p:sp>
      <p:sp>
        <p:nvSpPr>
          <p:cNvPr id="7" name="Rounded Rectangle 6"/>
          <p:cNvSpPr/>
          <p:nvPr/>
        </p:nvSpPr>
        <p:spPr>
          <a:xfrm>
            <a:off x="548640" y="1600200"/>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160020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01</a:t>
            </a:r>
          </a:p>
        </p:txBody>
      </p:sp>
      <p:sp>
        <p:nvSpPr>
          <p:cNvPr id="9" name="TextBox 8"/>
          <p:cNvSpPr txBox="1"/>
          <p:nvPr/>
        </p:nvSpPr>
        <p:spPr>
          <a:xfrm>
            <a:off x="1060704" y="165506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50K+ IoT sensors → anomaly detection 14-28 days before failure at 92% accuracy</a:t>
            </a:r>
          </a:p>
        </p:txBody>
      </p:sp>
      <p:sp>
        <p:nvSpPr>
          <p:cNvPr id="10" name="Rounded Rectangle 9"/>
          <p:cNvSpPr/>
          <p:nvPr/>
        </p:nvSpPr>
        <p:spPr>
          <a:xfrm>
            <a:off x="548640" y="2258568"/>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58568"/>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02</a:t>
            </a:r>
          </a:p>
        </p:txBody>
      </p:sp>
      <p:sp>
        <p:nvSpPr>
          <p:cNvPr id="12" name="TextBox 11"/>
          <p:cNvSpPr txBox="1"/>
          <p:nvPr/>
        </p:nvSpPr>
        <p:spPr>
          <a:xfrm>
            <a:off x="1060704" y="2313432"/>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52-endpoint MCP server: FFT, envelope analysis, RUL estimation (ISO 13374)</a:t>
            </a:r>
          </a:p>
        </p:txBody>
      </p:sp>
      <p:sp>
        <p:nvSpPr>
          <p:cNvPr id="13" name="Rounded Rectangle 12"/>
          <p:cNvSpPr/>
          <p:nvPr/>
        </p:nvSpPr>
        <p:spPr>
          <a:xfrm>
            <a:off x="548640" y="2916936"/>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 y="2916936"/>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03</a:t>
            </a:r>
          </a:p>
        </p:txBody>
      </p:sp>
      <p:sp>
        <p:nvSpPr>
          <p:cNvPr id="15" name="TextBox 14"/>
          <p:cNvSpPr txBox="1"/>
          <p:nvPr/>
        </p:nvSpPr>
        <p:spPr>
          <a:xfrm>
            <a:off x="1060704" y="2971800"/>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Auto-generates SAP PM work orders with equipment ID, failure type, predicted date</a:t>
            </a:r>
          </a:p>
        </p:txBody>
      </p:sp>
      <p:sp>
        <p:nvSpPr>
          <p:cNvPr id="16" name="Rounded Rectangle 15"/>
          <p:cNvSpPr/>
          <p:nvPr/>
        </p:nvSpPr>
        <p:spPr>
          <a:xfrm>
            <a:off x="548640" y="3575304"/>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3575304"/>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04</a:t>
            </a:r>
          </a:p>
        </p:txBody>
      </p:sp>
      <p:sp>
        <p:nvSpPr>
          <p:cNvPr id="18" name="TextBox 17"/>
          <p:cNvSpPr txBox="1"/>
          <p:nvPr/>
        </p:nvSpPr>
        <p:spPr>
          <a:xfrm>
            <a:off x="1060704" y="3630168"/>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6-month trust-building phase with technician feedback loops before full reliance</a:t>
            </a:r>
          </a:p>
        </p:txBody>
      </p:sp>
      <p:sp>
        <p:nvSpPr>
          <p:cNvPr id="19" name="Rounded Rectangle 18"/>
          <p:cNvSpPr/>
          <p:nvPr/>
        </p:nvSpPr>
        <p:spPr>
          <a:xfrm>
            <a:off x="548640" y="4233672"/>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 y="4233672"/>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05</a:t>
            </a:r>
          </a:p>
        </p:txBody>
      </p:sp>
      <p:sp>
        <p:nvSpPr>
          <p:cNvPr id="21" name="TextBox 20"/>
          <p:cNvSpPr txBox="1"/>
          <p:nvPr/>
        </p:nvSpPr>
        <p:spPr>
          <a:xfrm>
            <a:off x="1060704" y="4288536"/>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Started with 12 machines causing 80% of downtime — focused deployment</a:t>
            </a:r>
          </a:p>
        </p:txBody>
      </p:sp>
      <p:sp>
        <p:nvSpPr>
          <p:cNvPr id="22" name="Rounded Rectangle 21"/>
          <p:cNvSpPr/>
          <p:nvPr/>
        </p:nvSpPr>
        <p:spPr>
          <a:xfrm>
            <a:off x="548640" y="4892040"/>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489204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06</a:t>
            </a:r>
          </a:p>
        </p:txBody>
      </p:sp>
      <p:sp>
        <p:nvSpPr>
          <p:cNvPr id="24" name="TextBox 23"/>
          <p:cNvSpPr txBox="1"/>
          <p:nvPr/>
        </p:nvSpPr>
        <p:spPr>
          <a:xfrm>
            <a:off x="1060704" y="494690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Amazon SageMaker processes time-series data; ONNX Runtime for edge inference</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 / 82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KEY METRICS — UC-01 | MANUFACTURING</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$2.3M</a:t>
            </a:r>
          </a:p>
        </p:txBody>
      </p:sp>
      <p:sp>
        <p:nvSpPr>
          <p:cNvPr id="9" name="TextBox 8"/>
          <p:cNvSpPr txBox="1"/>
          <p:nvPr/>
        </p:nvSpPr>
        <p:spPr>
          <a:xfrm>
            <a:off x="685800"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Annual Savings</a:t>
            </a:r>
          </a:p>
        </p:txBody>
      </p:sp>
      <p:sp>
        <p:nvSpPr>
          <p:cNvPr id="10" name="TextBox 9"/>
          <p:cNvSpPr txBox="1"/>
          <p:nvPr/>
        </p:nvSpPr>
        <p:spPr>
          <a:xfrm>
            <a:off x="685800"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45% reduction from $5.1M baseline</a:t>
            </a:r>
          </a:p>
        </p:txBody>
      </p:sp>
      <p:sp>
        <p:nvSpPr>
          <p:cNvPr id="11" name="Rounded Rectangle 10"/>
          <p:cNvSpPr/>
          <p:nvPr/>
        </p:nvSpPr>
        <p:spPr>
          <a:xfrm>
            <a:off x="4313834"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50994"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92%</a:t>
            </a:r>
          </a:p>
        </p:txBody>
      </p:sp>
      <p:sp>
        <p:nvSpPr>
          <p:cNvPr id="13" name="TextBox 12"/>
          <p:cNvSpPr txBox="1"/>
          <p:nvPr/>
        </p:nvSpPr>
        <p:spPr>
          <a:xfrm>
            <a:off x="4450994"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Detection Accuracy</a:t>
            </a:r>
          </a:p>
        </p:txBody>
      </p:sp>
      <p:sp>
        <p:nvSpPr>
          <p:cNvPr id="14" name="TextBox 13"/>
          <p:cNvSpPr txBox="1"/>
          <p:nvPr/>
        </p:nvSpPr>
        <p:spPr>
          <a:xfrm>
            <a:off x="4450994"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14-28 days before predicted failure</a:t>
            </a:r>
          </a:p>
        </p:txBody>
      </p:sp>
      <p:sp>
        <p:nvSpPr>
          <p:cNvPr id="15" name="Rounded Rectangle 14"/>
          <p:cNvSpPr/>
          <p:nvPr/>
        </p:nvSpPr>
        <p:spPr>
          <a:xfrm>
            <a:off x="8079028"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6188"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52</a:t>
            </a:r>
          </a:p>
        </p:txBody>
      </p:sp>
      <p:sp>
        <p:nvSpPr>
          <p:cNvPr id="17" name="TextBox 16"/>
          <p:cNvSpPr txBox="1"/>
          <p:nvPr/>
        </p:nvSpPr>
        <p:spPr>
          <a:xfrm>
            <a:off x="8216188"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MCP Endpoints</a:t>
            </a:r>
          </a:p>
        </p:txBody>
      </p:sp>
      <p:sp>
        <p:nvSpPr>
          <p:cNvPr id="18" name="TextBox 17"/>
          <p:cNvSpPr txBox="1"/>
          <p:nvPr/>
        </p:nvSpPr>
        <p:spPr>
          <a:xfrm>
            <a:off x="8216188"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ISO 13374 six-block diagnostic architecture</a:t>
            </a:r>
          </a:p>
        </p:txBody>
      </p:sp>
      <p:sp>
        <p:nvSpPr>
          <p:cNvPr id="19" name="Rounded Rectangle 18"/>
          <p:cNvSpPr/>
          <p:nvPr/>
        </p:nvSpPr>
        <p:spPr>
          <a:xfrm>
            <a:off x="548640"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6.5 mo</a:t>
            </a:r>
          </a:p>
        </p:txBody>
      </p:sp>
      <p:sp>
        <p:nvSpPr>
          <p:cNvPr id="21" name="TextBox 20"/>
          <p:cNvSpPr txBox="1"/>
          <p:nvPr/>
        </p:nvSpPr>
        <p:spPr>
          <a:xfrm>
            <a:off x="685800"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Payback Period</a:t>
            </a:r>
          </a:p>
        </p:txBody>
      </p:sp>
      <p:sp>
        <p:nvSpPr>
          <p:cNvPr id="22" name="TextBox 21"/>
          <p:cNvSpPr txBox="1"/>
          <p:nvPr/>
        </p:nvSpPr>
        <p:spPr>
          <a:xfrm>
            <a:off x="685800"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$1.2M investment recovered</a:t>
            </a:r>
          </a:p>
        </p:txBody>
      </p:sp>
      <p:sp>
        <p:nvSpPr>
          <p:cNvPr id="23" name="Rounded Rectangle 22"/>
          <p:cNvSpPr/>
          <p:nvPr/>
        </p:nvSpPr>
        <p:spPr>
          <a:xfrm>
            <a:off x="4313834"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50994"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40%</a:t>
            </a:r>
          </a:p>
        </p:txBody>
      </p:sp>
      <p:sp>
        <p:nvSpPr>
          <p:cNvPr id="25" name="TextBox 24"/>
          <p:cNvSpPr txBox="1"/>
          <p:nvPr/>
        </p:nvSpPr>
        <p:spPr>
          <a:xfrm>
            <a:off x="4450994"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Downtime Reduction</a:t>
            </a:r>
          </a:p>
        </p:txBody>
      </p:sp>
      <p:sp>
        <p:nvSpPr>
          <p:cNvPr id="26" name="TextBox 25"/>
          <p:cNvSpPr txBox="1"/>
          <p:nvPr/>
        </p:nvSpPr>
        <p:spPr>
          <a:xfrm>
            <a:off x="4450994"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8.2% → 4.9% unplanned downtime</a:t>
            </a:r>
          </a:p>
        </p:txBody>
      </p:sp>
      <p:sp>
        <p:nvSpPr>
          <p:cNvPr id="27" name="Rounded Rectangle 26"/>
          <p:cNvSpPr/>
          <p:nvPr/>
        </p:nvSpPr>
        <p:spPr>
          <a:xfrm>
            <a:off x="8079028"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6188"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85%+</a:t>
            </a:r>
          </a:p>
        </p:txBody>
      </p:sp>
      <p:sp>
        <p:nvSpPr>
          <p:cNvPr id="29" name="TextBox 28"/>
          <p:cNvSpPr txBox="1"/>
          <p:nvPr/>
        </p:nvSpPr>
        <p:spPr>
          <a:xfrm>
            <a:off x="8216188"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OEE Achieved</a:t>
            </a:r>
          </a:p>
        </p:txBody>
      </p:sp>
      <p:sp>
        <p:nvSpPr>
          <p:cNvPr id="30" name="TextBox 29"/>
          <p:cNvSpPr txBox="1"/>
          <p:nvPr/>
        </p:nvSpPr>
        <p:spPr>
          <a:xfrm>
            <a:off x="8216188"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Highest in Unilever global network</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8 / 82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HOW IT WORKS — UC-01 | MANUFACTURING</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11094415" cy="530352"/>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63624"/>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1</a:t>
            </a:r>
          </a:p>
        </p:txBody>
      </p:sp>
      <p:sp>
        <p:nvSpPr>
          <p:cNvPr id="9" name="TextBox 8"/>
          <p:cNvSpPr txBox="1"/>
          <p:nvPr/>
        </p:nvSpPr>
        <p:spPr>
          <a:xfrm>
            <a:off x="685800" y="1746504"/>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Sensor reading arrives (MQTT/OPC-UA) → load_signal + analyze_spectrum + extract_features</a:t>
            </a:r>
          </a:p>
        </p:txBody>
      </p:sp>
      <p:sp>
        <p:nvSpPr>
          <p:cNvPr id="10" name="TextBox 9"/>
          <p:cNvSpPr txBox="1"/>
          <p:nvPr/>
        </p:nvSpPr>
        <p:spPr>
          <a:xfrm>
            <a:off x="6004407" y="2039112"/>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11" name="Rounded Rectangle 10"/>
          <p:cNvSpPr/>
          <p:nvPr/>
        </p:nvSpPr>
        <p:spPr>
          <a:xfrm>
            <a:off x="548640" y="2167128"/>
            <a:ext cx="11094415" cy="530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21992"/>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2</a:t>
            </a:r>
          </a:p>
        </p:txBody>
      </p:sp>
      <p:sp>
        <p:nvSpPr>
          <p:cNvPr id="13" name="TextBox 12"/>
          <p:cNvSpPr txBox="1"/>
          <p:nvPr/>
        </p:nvSpPr>
        <p:spPr>
          <a:xfrm>
            <a:off x="685800" y="2404872"/>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detect_anomalies (semi-supervised, trained on 3yr baseline) → anomaly_score</a:t>
            </a:r>
          </a:p>
        </p:txBody>
      </p:sp>
      <p:sp>
        <p:nvSpPr>
          <p:cNvPr id="14" name="TextBox 13"/>
          <p:cNvSpPr txBox="1"/>
          <p:nvPr/>
        </p:nvSpPr>
        <p:spPr>
          <a:xfrm>
            <a:off x="6004407" y="2697480"/>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15" name="Rounded Rectangle 14"/>
          <p:cNvSpPr/>
          <p:nvPr/>
        </p:nvSpPr>
        <p:spPr>
          <a:xfrm>
            <a:off x="548640" y="2825496"/>
            <a:ext cx="11094415" cy="530352"/>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880360"/>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3</a:t>
            </a:r>
          </a:p>
        </p:txBody>
      </p:sp>
      <p:sp>
        <p:nvSpPr>
          <p:cNvPr id="17" name="TextBox 16"/>
          <p:cNvSpPr txBox="1"/>
          <p:nvPr/>
        </p:nvSpPr>
        <p:spPr>
          <a:xfrm>
            <a:off x="685800" y="3063240"/>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IF anomaly_score &gt; threshold → analyze_envelope (bearing-specific: BPFO/BPFI/BSF/FTF)</a:t>
            </a:r>
          </a:p>
        </p:txBody>
      </p:sp>
      <p:sp>
        <p:nvSpPr>
          <p:cNvPr id="18" name="TextBox 17"/>
          <p:cNvSpPr txBox="1"/>
          <p:nvPr/>
        </p:nvSpPr>
        <p:spPr>
          <a:xfrm>
            <a:off x="6004407" y="3355848"/>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19" name="Rounded Rectangle 18"/>
          <p:cNvSpPr/>
          <p:nvPr/>
        </p:nvSpPr>
        <p:spPr>
          <a:xfrm>
            <a:off x="548640" y="3483864"/>
            <a:ext cx="11094415" cy="530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538728"/>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4</a:t>
            </a:r>
          </a:p>
        </p:txBody>
      </p:sp>
      <p:sp>
        <p:nvSpPr>
          <p:cNvPr id="21" name="TextBox 20"/>
          <p:cNvSpPr txBox="1"/>
          <p:nvPr/>
        </p:nvSpPr>
        <p:spPr>
          <a:xfrm>
            <a:off x="685800" y="3721608"/>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assess_severity (ISO 20816-3 zone A/B/C/D) → estimate_rul (Weibull)</a:t>
            </a:r>
          </a:p>
        </p:txBody>
      </p:sp>
      <p:sp>
        <p:nvSpPr>
          <p:cNvPr id="22" name="TextBox 21"/>
          <p:cNvSpPr txBox="1"/>
          <p:nvPr/>
        </p:nvSpPr>
        <p:spPr>
          <a:xfrm>
            <a:off x="6004407" y="4014216"/>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23" name="Rounded Rectangle 22"/>
          <p:cNvSpPr/>
          <p:nvPr/>
        </p:nvSpPr>
        <p:spPr>
          <a:xfrm>
            <a:off x="548640" y="4142232"/>
            <a:ext cx="11094415" cy="530352"/>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197096"/>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5</a:t>
            </a:r>
          </a:p>
        </p:txBody>
      </p:sp>
      <p:sp>
        <p:nvSpPr>
          <p:cNvPr id="25" name="TextBox 24"/>
          <p:cNvSpPr txBox="1"/>
          <p:nvPr/>
        </p:nvSpPr>
        <p:spPr>
          <a:xfrm>
            <a:off x="685800" y="4379976"/>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IF severity &gt;= Zone C OR rul_days &lt; 14 → generate_report → create_work_order (SAP PM OData)</a:t>
            </a:r>
          </a:p>
        </p:txBody>
      </p:sp>
      <p:sp>
        <p:nvSpPr>
          <p:cNvPr id="26" name="TextBox 25"/>
          <p:cNvSpPr txBox="1"/>
          <p:nvPr/>
        </p:nvSpPr>
        <p:spPr>
          <a:xfrm>
            <a:off x="6004407" y="4672584"/>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27" name="Rounded Rectangle 26"/>
          <p:cNvSpPr/>
          <p:nvPr/>
        </p:nvSpPr>
        <p:spPr>
          <a:xfrm>
            <a:off x="548640" y="4800600"/>
            <a:ext cx="11094415" cy="530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855464"/>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6</a:t>
            </a:r>
          </a:p>
        </p:txBody>
      </p:sp>
      <p:sp>
        <p:nvSpPr>
          <p:cNvPr id="29" name="TextBox 28"/>
          <p:cNvSpPr txBox="1"/>
          <p:nvPr/>
        </p:nvSpPr>
        <p:spPr>
          <a:xfrm>
            <a:off x="685800" y="5038344"/>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Work order: equipment_id, failure_type, predicted_date, priority, recommended_ops</a:t>
            </a:r>
          </a:p>
        </p:txBody>
      </p:sp>
      <p:sp>
        <p:nvSpPr>
          <p:cNvPr id="30" name="TextBox 29"/>
          <p:cNvSpPr txBox="1"/>
          <p:nvPr/>
        </p:nvSpPr>
        <p:spPr>
          <a:xfrm>
            <a:off x="6004407" y="5330952"/>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31" name="Rounded Rectangle 30"/>
          <p:cNvSpPr/>
          <p:nvPr/>
        </p:nvSpPr>
        <p:spPr>
          <a:xfrm>
            <a:off x="548640" y="5458968"/>
            <a:ext cx="11094415" cy="530352"/>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513832"/>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7</a:t>
            </a:r>
          </a:p>
        </p:txBody>
      </p:sp>
      <p:sp>
        <p:nvSpPr>
          <p:cNvPr id="33" name="TextBox 32"/>
          <p:cNvSpPr txBox="1"/>
          <p:nvPr/>
        </p:nvSpPr>
        <p:spPr>
          <a:xfrm>
            <a:off x="685800" y="5696712"/>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Technician completes → feedback loop → model retraining on actual vs predicted</a:t>
            </a:r>
          </a:p>
        </p:txBody>
      </p:sp>
      <p:sp>
        <p:nvSpPr>
          <p:cNvPr id="34" name="TextBox 3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9 / 82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5B6B7C"/>
                </a:solidFill>
                <a:latin typeface="Calibri"/>
              </a:rPr>
              <a:t>ARCHITECTURE — UC-01 | MANUFACTURING</a:t>
            </a:r>
          </a:p>
        </p:txBody>
      </p:sp>
      <p:sp>
        <p:nvSpPr>
          <p:cNvPr id="5" name="TextBox 4"/>
          <p:cNvSpPr txBox="1"/>
          <p:nvPr/>
        </p:nvSpPr>
        <p:spPr>
          <a:xfrm>
            <a:off x="548640" y="548640"/>
            <a:ext cx="11094415" cy="457200"/>
          </a:xfrm>
          <a:prstGeom prst="rect">
            <a:avLst/>
          </a:prstGeom>
          <a:noFill/>
        </p:spPr>
        <p:txBody>
          <a:bodyPr wrap="square" anchor="t" lIns="0" rIns="0" tIns="0" bIns="0">
            <a:normAutofit/>
          </a:bodyPr>
          <a:lstStyle/>
          <a:p>
            <a:pPr algn="l">
              <a:lnSpc>
                <a:spcPct val="105000"/>
              </a:lnSpc>
              <a:spcBef>
                <a:spcPts val="0"/>
              </a:spcBef>
            </a:pPr>
            <a:r>
              <a:rPr sz="2000" b="1" i="0">
                <a:solidFill>
                  <a:srgbClr val="0A1628"/>
                </a:solidFill>
                <a:latin typeface="Calibri"/>
              </a:rPr>
              <a:t>Predictive Maintenance Agent Architecture</a:t>
            </a:r>
          </a:p>
        </p:txBody>
      </p:sp>
      <p:sp>
        <p:nvSpPr>
          <p:cNvPr id="6" name="Rounded Rectangle 5"/>
          <p:cNvSpPr/>
          <p:nvPr/>
        </p:nvSpPr>
        <p:spPr>
          <a:xfrm>
            <a:off x="548640" y="1143000"/>
            <a:ext cx="5029200" cy="256032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828800" cy="201168"/>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AGENT STACK</a:t>
            </a:r>
          </a:p>
        </p:txBody>
      </p:sp>
      <p:sp>
        <p:nvSpPr>
          <p:cNvPr id="8" name="TextBox 7"/>
          <p:cNvSpPr txBox="1"/>
          <p:nvPr/>
        </p:nvSpPr>
        <p:spPr>
          <a:xfrm>
            <a:off x="731520" y="1554480"/>
            <a:ext cx="4663440" cy="201168"/>
          </a:xfrm>
          <a:prstGeom prst="rect">
            <a:avLst/>
          </a:prstGeom>
          <a:noFill/>
        </p:spPr>
        <p:txBody>
          <a:bodyPr wrap="square" anchor="t" lIns="0" rIns="0" tIns="0" bIns="0">
            <a:normAutofit/>
          </a:bodyPr>
          <a:lstStyle/>
          <a:p>
            <a:pPr algn="l">
              <a:lnSpc>
                <a:spcPct val="105000"/>
              </a:lnSpc>
              <a:spcBef>
                <a:spcPts val="0"/>
              </a:spcBef>
            </a:pPr>
            <a:r>
              <a:rPr sz="1050" b="1" i="0">
                <a:solidFill>
                  <a:srgbClr val="00C9A7"/>
                </a:solidFill>
                <a:latin typeface="Calibri"/>
              </a:rPr>
              <a:t>sensor-fusion-agent</a:t>
            </a:r>
          </a:p>
        </p:txBody>
      </p:sp>
      <p:sp>
        <p:nvSpPr>
          <p:cNvPr id="9" name="TextBox 8"/>
          <p:cNvSpPr txBox="1"/>
          <p:nvPr/>
        </p:nvSpPr>
        <p:spPr>
          <a:xfrm>
            <a:off x="731520" y="1737360"/>
            <a:ext cx="4663440" cy="320040"/>
          </a:xfrm>
          <a:prstGeom prst="rect">
            <a:avLst/>
          </a:prstGeom>
          <a:noFill/>
        </p:spPr>
        <p:txBody>
          <a:bodyPr wrap="square" anchor="t" lIns="0" rIns="0" tIns="0" bIns="0">
            <a:normAutofit/>
          </a:bodyPr>
          <a:lstStyle/>
          <a:p>
            <a:pPr algn="l">
              <a:lnSpc>
                <a:spcPct val="100000"/>
              </a:lnSpc>
              <a:spcBef>
                <a:spcPts val="0"/>
              </a:spcBef>
            </a:pPr>
            <a:r>
              <a:rPr sz="850" b="0" i="0">
                <a:solidFill>
                  <a:srgbClr val="FFFFFF"/>
                </a:solidFill>
                <a:latin typeface="Calibri"/>
              </a:rPr>
              <a:t>Ingests multi-signal data (vibration, temp, pressure) from MQTT/OPC-UA gateway</a:t>
            </a:r>
          </a:p>
        </p:txBody>
      </p:sp>
      <p:sp>
        <p:nvSpPr>
          <p:cNvPr id="10" name="TextBox 9"/>
          <p:cNvSpPr txBox="1"/>
          <p:nvPr/>
        </p:nvSpPr>
        <p:spPr>
          <a:xfrm>
            <a:off x="731520" y="2103120"/>
            <a:ext cx="4663440" cy="201168"/>
          </a:xfrm>
          <a:prstGeom prst="rect">
            <a:avLst/>
          </a:prstGeom>
          <a:noFill/>
        </p:spPr>
        <p:txBody>
          <a:bodyPr wrap="square" anchor="t" lIns="0" rIns="0" tIns="0" bIns="0">
            <a:normAutofit/>
          </a:bodyPr>
          <a:lstStyle/>
          <a:p>
            <a:pPr algn="l">
              <a:lnSpc>
                <a:spcPct val="105000"/>
              </a:lnSpc>
              <a:spcBef>
                <a:spcPts val="0"/>
              </a:spcBef>
            </a:pPr>
            <a:r>
              <a:rPr sz="1050" b="1" i="0">
                <a:solidFill>
                  <a:srgbClr val="00C9A7"/>
                </a:solidFill>
                <a:latin typeface="Calibri"/>
              </a:rPr>
              <a:t>anomaly-detection-agent</a:t>
            </a:r>
          </a:p>
        </p:txBody>
      </p:sp>
      <p:sp>
        <p:nvSpPr>
          <p:cNvPr id="11" name="TextBox 10"/>
          <p:cNvSpPr txBox="1"/>
          <p:nvPr/>
        </p:nvSpPr>
        <p:spPr>
          <a:xfrm>
            <a:off x="731520" y="2286000"/>
            <a:ext cx="4663440" cy="320040"/>
          </a:xfrm>
          <a:prstGeom prst="rect">
            <a:avLst/>
          </a:prstGeom>
          <a:noFill/>
        </p:spPr>
        <p:txBody>
          <a:bodyPr wrap="square" anchor="t" lIns="0" rIns="0" tIns="0" bIns="0">
            <a:normAutofit/>
          </a:bodyPr>
          <a:lstStyle/>
          <a:p>
            <a:pPr algn="l">
              <a:lnSpc>
                <a:spcPct val="100000"/>
              </a:lnSpc>
              <a:spcBef>
                <a:spcPts val="0"/>
              </a:spcBef>
            </a:pPr>
            <a:r>
              <a:rPr sz="850" b="0" i="0">
                <a:solidFill>
                  <a:srgbClr val="FFFFFF"/>
                </a:solidFill>
                <a:latin typeface="Calibri"/>
              </a:rPr>
              <a:t>ML inference (XGBoost + LSTM) + ISO 20816-3 severity classification</a:t>
            </a:r>
          </a:p>
        </p:txBody>
      </p:sp>
      <p:sp>
        <p:nvSpPr>
          <p:cNvPr id="12" name="TextBox 11"/>
          <p:cNvSpPr txBox="1"/>
          <p:nvPr/>
        </p:nvSpPr>
        <p:spPr>
          <a:xfrm>
            <a:off x="731520" y="2651760"/>
            <a:ext cx="4663440" cy="201168"/>
          </a:xfrm>
          <a:prstGeom prst="rect">
            <a:avLst/>
          </a:prstGeom>
          <a:noFill/>
        </p:spPr>
        <p:txBody>
          <a:bodyPr wrap="square" anchor="t" lIns="0" rIns="0" tIns="0" bIns="0">
            <a:normAutofit/>
          </a:bodyPr>
          <a:lstStyle/>
          <a:p>
            <a:pPr algn="l">
              <a:lnSpc>
                <a:spcPct val="105000"/>
              </a:lnSpc>
              <a:spcBef>
                <a:spcPts val="0"/>
              </a:spcBef>
            </a:pPr>
            <a:r>
              <a:rPr sz="1050" b="1" i="0">
                <a:solidFill>
                  <a:srgbClr val="00C9A7"/>
                </a:solidFill>
                <a:latin typeface="Calibri"/>
              </a:rPr>
              <a:t>explainability-agent</a:t>
            </a:r>
          </a:p>
        </p:txBody>
      </p:sp>
      <p:sp>
        <p:nvSpPr>
          <p:cNvPr id="13" name="TextBox 12"/>
          <p:cNvSpPr txBox="1"/>
          <p:nvPr/>
        </p:nvSpPr>
        <p:spPr>
          <a:xfrm>
            <a:off x="731520" y="2834640"/>
            <a:ext cx="4663440" cy="320040"/>
          </a:xfrm>
          <a:prstGeom prst="rect">
            <a:avLst/>
          </a:prstGeom>
          <a:noFill/>
        </p:spPr>
        <p:txBody>
          <a:bodyPr wrap="square" anchor="t" lIns="0" rIns="0" tIns="0" bIns="0">
            <a:normAutofit/>
          </a:bodyPr>
          <a:lstStyle/>
          <a:p>
            <a:pPr algn="l">
              <a:lnSpc>
                <a:spcPct val="100000"/>
              </a:lnSpc>
              <a:spcBef>
                <a:spcPts val="0"/>
              </a:spcBef>
            </a:pPr>
            <a:r>
              <a:rPr sz="850" b="0" i="0">
                <a:solidFill>
                  <a:srgbClr val="FFFFFF"/>
                </a:solidFill>
                <a:latin typeface="Calibri"/>
              </a:rPr>
              <a:t>SHAP-based root-cause analysis → human-readable failure narratives</a:t>
            </a:r>
          </a:p>
        </p:txBody>
      </p:sp>
      <p:sp>
        <p:nvSpPr>
          <p:cNvPr id="14" name="TextBox 13"/>
          <p:cNvSpPr txBox="1"/>
          <p:nvPr/>
        </p:nvSpPr>
        <p:spPr>
          <a:xfrm>
            <a:off x="731520" y="3200400"/>
            <a:ext cx="4663440" cy="201168"/>
          </a:xfrm>
          <a:prstGeom prst="rect">
            <a:avLst/>
          </a:prstGeom>
          <a:noFill/>
        </p:spPr>
        <p:txBody>
          <a:bodyPr wrap="square" anchor="t" lIns="0" rIns="0" tIns="0" bIns="0">
            <a:normAutofit/>
          </a:bodyPr>
          <a:lstStyle/>
          <a:p>
            <a:pPr algn="l">
              <a:lnSpc>
                <a:spcPct val="105000"/>
              </a:lnSpc>
              <a:spcBef>
                <a:spcPts val="0"/>
              </a:spcBef>
            </a:pPr>
            <a:r>
              <a:rPr sz="1050" b="1" i="0">
                <a:solidFill>
                  <a:srgbClr val="00C9A7"/>
                </a:solidFill>
                <a:latin typeface="Calibri"/>
              </a:rPr>
              <a:t>sap-pm-agent</a:t>
            </a:r>
          </a:p>
        </p:txBody>
      </p:sp>
      <p:sp>
        <p:nvSpPr>
          <p:cNvPr id="15" name="TextBox 14"/>
          <p:cNvSpPr txBox="1"/>
          <p:nvPr/>
        </p:nvSpPr>
        <p:spPr>
          <a:xfrm>
            <a:off x="731520" y="3383280"/>
            <a:ext cx="4663440" cy="320040"/>
          </a:xfrm>
          <a:prstGeom prst="rect">
            <a:avLst/>
          </a:prstGeom>
          <a:noFill/>
        </p:spPr>
        <p:txBody>
          <a:bodyPr wrap="square" anchor="t" lIns="0" rIns="0" tIns="0" bIns="0">
            <a:normAutofit/>
          </a:bodyPr>
          <a:lstStyle/>
          <a:p>
            <a:pPr algn="l">
              <a:lnSpc>
                <a:spcPct val="100000"/>
              </a:lnSpc>
              <a:spcBef>
                <a:spcPts val="0"/>
              </a:spcBef>
            </a:pPr>
            <a:r>
              <a:rPr sz="850" b="0" i="0">
                <a:solidFill>
                  <a:srgbClr val="FFFFFF"/>
                </a:solidFill>
                <a:latin typeface="Calibri"/>
              </a:rPr>
              <a:t>Creates SAP PM work orders via OData: equipment_id, order_type, priority</a:t>
            </a:r>
          </a:p>
        </p:txBody>
      </p:sp>
      <p:sp>
        <p:nvSpPr>
          <p:cNvPr id="16" name="Rounded Rectangle 15"/>
          <p:cNvSpPr/>
          <p:nvPr/>
        </p:nvSpPr>
        <p:spPr>
          <a:xfrm>
            <a:off x="5806440" y="1143000"/>
            <a:ext cx="5836615" cy="2560320"/>
          </a:xfrm>
          <a:prstGeom prst="roundRect">
            <a:avLst>
              <a:gd name="adj" fmla="val 6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9320" y="1280160"/>
            <a:ext cx="5470855" cy="201168"/>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MCP SERVERS</a:t>
            </a:r>
          </a:p>
        </p:txBody>
      </p:sp>
      <p:sp>
        <p:nvSpPr>
          <p:cNvPr id="18" name="TextBox 17"/>
          <p:cNvSpPr txBox="1"/>
          <p:nvPr/>
        </p:nvSpPr>
        <p:spPr>
          <a:xfrm>
            <a:off x="5989320" y="1554480"/>
            <a:ext cx="5470855" cy="182880"/>
          </a:xfrm>
          <a:prstGeom prst="rect">
            <a:avLst/>
          </a:prstGeom>
          <a:noFill/>
        </p:spPr>
        <p:txBody>
          <a:bodyPr wrap="square" anchor="t" lIns="0" rIns="0" tIns="0" bIns="0">
            <a:normAutofit/>
          </a:bodyPr>
          <a:lstStyle/>
          <a:p>
            <a:pPr algn="l">
              <a:lnSpc>
                <a:spcPct val="105000"/>
              </a:lnSpc>
              <a:spcBef>
                <a:spcPts val="0"/>
              </a:spcBef>
            </a:pPr>
            <a:r>
              <a:rPr sz="950" b="1" i="0">
                <a:solidFill>
                  <a:srgbClr val="00C9A7"/>
                </a:solidFill>
                <a:latin typeface="Calibri"/>
              </a:rPr>
              <a:t>predictive-maintenance-mcp (52 endpoints)  [VERIFIED]</a:t>
            </a:r>
          </a:p>
        </p:txBody>
      </p:sp>
      <p:sp>
        <p:nvSpPr>
          <p:cNvPr id="19" name="TextBox 18"/>
          <p:cNvSpPr txBox="1"/>
          <p:nvPr/>
        </p:nvSpPr>
        <p:spPr>
          <a:xfrm>
            <a:off x="5989320" y="1719072"/>
            <a:ext cx="5470855" cy="292608"/>
          </a:xfrm>
          <a:prstGeom prst="rect">
            <a:avLst/>
          </a:prstGeom>
          <a:noFill/>
        </p:spPr>
        <p:txBody>
          <a:bodyPr wrap="square" anchor="t" lIns="0" rIns="0" tIns="0" bIns="0">
            <a:normAutofit/>
          </a:bodyPr>
          <a:lstStyle/>
          <a:p>
            <a:pPr algn="l">
              <a:lnSpc>
                <a:spcPct val="100000"/>
              </a:lnSpc>
              <a:spcBef>
                <a:spcPts val="0"/>
              </a:spcBef>
            </a:pPr>
            <a:r>
              <a:rPr sz="800" b="0" i="0">
                <a:solidFill>
                  <a:srgbClr val="1B2B3C"/>
                </a:solidFill>
                <a:latin typeface="Calibri"/>
              </a:rPr>
              <a:t>load_signal, analyze_spectrum, detect_anomalies, assess_severity, estimate_rul, generate_report</a:t>
            </a:r>
          </a:p>
        </p:txBody>
      </p:sp>
      <p:sp>
        <p:nvSpPr>
          <p:cNvPr id="20" name="TextBox 19"/>
          <p:cNvSpPr txBox="1"/>
          <p:nvPr/>
        </p:nvSpPr>
        <p:spPr>
          <a:xfrm>
            <a:off x="5989320" y="2057400"/>
            <a:ext cx="5470855" cy="182880"/>
          </a:xfrm>
          <a:prstGeom prst="rect">
            <a:avLst/>
          </a:prstGeom>
          <a:noFill/>
        </p:spPr>
        <p:txBody>
          <a:bodyPr wrap="square" anchor="t" lIns="0" rIns="0" tIns="0" bIns="0">
            <a:normAutofit/>
          </a:bodyPr>
          <a:lstStyle/>
          <a:p>
            <a:pPr algn="l">
              <a:lnSpc>
                <a:spcPct val="105000"/>
              </a:lnSpc>
              <a:spcBef>
                <a:spcPts val="0"/>
              </a:spcBef>
            </a:pPr>
            <a:r>
              <a:rPr sz="950" b="1" i="0">
                <a:solidFill>
                  <a:srgbClr val="F2A83B"/>
                </a:solidFill>
                <a:latin typeface="Calibri"/>
              </a:rPr>
              <a:t>mcp-maintenance-cap (SAP Community PoC)  [TO BUILD]</a:t>
            </a:r>
          </a:p>
        </p:txBody>
      </p:sp>
      <p:sp>
        <p:nvSpPr>
          <p:cNvPr id="21" name="TextBox 20"/>
          <p:cNvSpPr txBox="1"/>
          <p:nvPr/>
        </p:nvSpPr>
        <p:spPr>
          <a:xfrm>
            <a:off x="5989320" y="2221992"/>
            <a:ext cx="5470855" cy="292608"/>
          </a:xfrm>
          <a:prstGeom prst="rect">
            <a:avLst/>
          </a:prstGeom>
          <a:noFill/>
        </p:spPr>
        <p:txBody>
          <a:bodyPr wrap="square" anchor="t" lIns="0" rIns="0" tIns="0" bIns="0">
            <a:normAutofit/>
          </a:bodyPr>
          <a:lstStyle/>
          <a:p>
            <a:pPr algn="l">
              <a:lnSpc>
                <a:spcPct val="100000"/>
              </a:lnSpc>
              <a:spcBef>
                <a:spcPts val="0"/>
              </a:spcBef>
            </a:pPr>
            <a:r>
              <a:rPr sz="800" b="0" i="0">
                <a:solidFill>
                  <a:srgbClr val="1B2B3C"/>
                </a:solidFill>
                <a:latin typeface="Calibri"/>
              </a:rPr>
              <a:t>get_maintenance_orders, create_work_order, get_equipment_history — OData → SAP S/4HANA PM</a:t>
            </a:r>
          </a:p>
        </p:txBody>
      </p:sp>
      <p:sp>
        <p:nvSpPr>
          <p:cNvPr id="22" name="Rounded Rectangle 21"/>
          <p:cNvSpPr/>
          <p:nvPr/>
        </p:nvSpPr>
        <p:spPr>
          <a:xfrm>
            <a:off x="548640" y="3840480"/>
            <a:ext cx="11094415" cy="68580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931920"/>
            <a:ext cx="1371600"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DEPLOYMENT</a:t>
            </a:r>
          </a:p>
        </p:txBody>
      </p:sp>
      <p:sp>
        <p:nvSpPr>
          <p:cNvPr id="24" name="TextBox 23"/>
          <p:cNvSpPr txBox="1"/>
          <p:nvPr/>
        </p:nvSpPr>
        <p:spPr>
          <a:xfrm>
            <a:off x="2194560" y="3931920"/>
            <a:ext cx="9265615" cy="182880"/>
          </a:xfrm>
          <a:prstGeom prst="rect">
            <a:avLst/>
          </a:prstGeom>
          <a:noFill/>
        </p:spPr>
        <p:txBody>
          <a:bodyPr wrap="square" anchor="t" lIns="0" rIns="0" tIns="0" bIns="0">
            <a:normAutofit/>
          </a:bodyPr>
          <a:lstStyle/>
          <a:p>
            <a:pPr algn="l">
              <a:lnSpc>
                <a:spcPct val="105000"/>
              </a:lnSpc>
              <a:spcBef>
                <a:spcPts val="0"/>
              </a:spcBef>
            </a:pPr>
            <a:r>
              <a:rPr sz="900" b="0" i="0">
                <a:solidFill>
                  <a:srgbClr val="FFFFFF"/>
                </a:solidFill>
                <a:latin typeface="Calibri"/>
              </a:rPr>
              <a:t>Headless batch: sensor analysis + work orders | Interactive: operator CLI queries</a:t>
            </a:r>
          </a:p>
        </p:txBody>
      </p:sp>
      <p:sp>
        <p:nvSpPr>
          <p:cNvPr id="25" name="TextBox 24"/>
          <p:cNvSpPr txBox="1"/>
          <p:nvPr/>
        </p:nvSpPr>
        <p:spPr>
          <a:xfrm>
            <a:off x="731520" y="4206240"/>
            <a:ext cx="10728655" cy="182880"/>
          </a:xfrm>
          <a:prstGeom prst="rect">
            <a:avLst/>
          </a:prstGeom>
          <a:noFill/>
        </p:spPr>
        <p:txBody>
          <a:bodyPr wrap="square" anchor="t" lIns="0" rIns="0" tIns="0" bIns="0">
            <a:normAutofit/>
          </a:bodyPr>
          <a:lstStyle/>
          <a:p>
            <a:pPr algn="l">
              <a:lnSpc>
                <a:spcPct val="105000"/>
              </a:lnSpc>
              <a:spcBef>
                <a:spcPts val="0"/>
              </a:spcBef>
            </a:pPr>
            <a:r>
              <a:rPr sz="850" b="1" i="0">
                <a:solidFill>
                  <a:srgbClr val="0A1628"/>
                </a:solidFill>
                <a:latin typeface="Calibri"/>
              </a:rPr>
              <a:t>Pattern: Agent(llm, tools) → Conversation(agent, workspace, plugins) | MCP config at platform level (config.toml)</a:t>
            </a:r>
          </a:p>
        </p:txBody>
      </p:sp>
      <p:sp>
        <p:nvSpPr>
          <p:cNvPr id="26" name="Rounded Rectangle 25"/>
          <p:cNvSpPr/>
          <p:nvPr/>
        </p:nvSpPr>
        <p:spPr>
          <a:xfrm>
            <a:off x="548640" y="4663440"/>
            <a:ext cx="11094415" cy="128016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75488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TECH STACK &amp; GITHUB</a:t>
            </a:r>
          </a:p>
        </p:txBody>
      </p:sp>
      <p:sp>
        <p:nvSpPr>
          <p:cNvPr id="28" name="TextBox 27"/>
          <p:cNvSpPr txBox="1"/>
          <p:nvPr/>
        </p:nvSpPr>
        <p:spPr>
          <a:xfrm>
            <a:off x="731520" y="4983480"/>
            <a:ext cx="3362858" cy="164592"/>
          </a:xfrm>
          <a:prstGeom prst="rect">
            <a:avLst/>
          </a:prstGeom>
          <a:noFill/>
        </p:spPr>
        <p:txBody>
          <a:bodyPr wrap="square" anchor="t" lIns="0" rIns="0" tIns="0" bIns="0">
            <a:normAutofit/>
          </a:bodyPr>
          <a:lstStyle/>
          <a:p>
            <a:pPr algn="l">
              <a:lnSpc>
                <a:spcPct val="105000"/>
              </a:lnSpc>
              <a:spcBef>
                <a:spcPts val="0"/>
              </a:spcBef>
            </a:pPr>
            <a:r>
              <a:rPr sz="850" b="1" i="0">
                <a:solidFill>
                  <a:srgbClr val="00C9A7"/>
                </a:solidFill>
                <a:latin typeface="Calibri"/>
              </a:rPr>
              <a:t>LGDiMaggio/predictive-maintenance-mcp</a:t>
            </a:r>
          </a:p>
        </p:txBody>
      </p:sp>
      <p:sp>
        <p:nvSpPr>
          <p:cNvPr id="29" name="TextBox 28"/>
          <p:cNvSpPr txBox="1"/>
          <p:nvPr/>
        </p:nvSpPr>
        <p:spPr>
          <a:xfrm>
            <a:off x="731520" y="5129784"/>
            <a:ext cx="3362858" cy="219456"/>
          </a:xfrm>
          <a:prstGeom prst="rect">
            <a:avLst/>
          </a:prstGeom>
          <a:noFill/>
        </p:spPr>
        <p:txBody>
          <a:bodyPr wrap="square" anchor="t" lIns="0" rIns="0" tIns="0" bIns="0">
            <a:normAutofit/>
          </a:bodyPr>
          <a:lstStyle/>
          <a:p>
            <a:pPr algn="l">
              <a:lnSpc>
                <a:spcPct val="105000"/>
              </a:lnSpc>
              <a:spcBef>
                <a:spcPts val="0"/>
              </a:spcBef>
            </a:pPr>
            <a:r>
              <a:rPr sz="750" b="0" i="0">
                <a:solidFill>
                  <a:srgbClr val="FFFFFF"/>
                </a:solidFill>
                <a:latin typeface="Calibri"/>
              </a:rPr>
              <a:t>v0.8.0 — 52 endpoints, ISO 13374</a:t>
            </a:r>
          </a:p>
        </p:txBody>
      </p:sp>
      <p:sp>
        <p:nvSpPr>
          <p:cNvPr id="30" name="TextBox 29"/>
          <p:cNvSpPr txBox="1"/>
          <p:nvPr/>
        </p:nvSpPr>
        <p:spPr>
          <a:xfrm>
            <a:off x="4185818" y="4983480"/>
            <a:ext cx="3362858" cy="164592"/>
          </a:xfrm>
          <a:prstGeom prst="rect">
            <a:avLst/>
          </a:prstGeom>
          <a:noFill/>
        </p:spPr>
        <p:txBody>
          <a:bodyPr wrap="square" anchor="t" lIns="0" rIns="0" tIns="0" bIns="0">
            <a:normAutofit/>
          </a:bodyPr>
          <a:lstStyle/>
          <a:p>
            <a:pPr algn="l">
              <a:lnSpc>
                <a:spcPct val="105000"/>
              </a:lnSpc>
              <a:spcBef>
                <a:spcPts val="0"/>
              </a:spcBef>
            </a:pPr>
            <a:r>
              <a:rPr sz="850" b="1" i="0">
                <a:solidFill>
                  <a:srgbClr val="00C9A7"/>
                </a:solidFill>
                <a:latin typeface="Calibri"/>
              </a:rPr>
              <a:t>bernardcaldas/mcp-maintenance-cap</a:t>
            </a:r>
          </a:p>
        </p:txBody>
      </p:sp>
      <p:sp>
        <p:nvSpPr>
          <p:cNvPr id="31" name="TextBox 30"/>
          <p:cNvSpPr txBox="1"/>
          <p:nvPr/>
        </p:nvSpPr>
        <p:spPr>
          <a:xfrm>
            <a:off x="4185818" y="5129784"/>
            <a:ext cx="3362858" cy="219456"/>
          </a:xfrm>
          <a:prstGeom prst="rect">
            <a:avLst/>
          </a:prstGeom>
          <a:noFill/>
        </p:spPr>
        <p:txBody>
          <a:bodyPr wrap="square" anchor="t" lIns="0" rIns="0" tIns="0" bIns="0">
            <a:normAutofit/>
          </a:bodyPr>
          <a:lstStyle/>
          <a:p>
            <a:pPr algn="l">
              <a:lnSpc>
                <a:spcPct val="105000"/>
              </a:lnSpc>
              <a:spcBef>
                <a:spcPts val="0"/>
              </a:spcBef>
            </a:pPr>
            <a:r>
              <a:rPr sz="750" b="0" i="0">
                <a:solidFill>
                  <a:srgbClr val="FFFFFF"/>
                </a:solidFill>
                <a:latin typeface="Calibri"/>
              </a:rPr>
              <a:t>SAP CAP PoC — PM work orders</a:t>
            </a:r>
          </a:p>
        </p:txBody>
      </p:sp>
      <p:sp>
        <p:nvSpPr>
          <p:cNvPr id="32" name="TextBox 31"/>
          <p:cNvSpPr txBox="1"/>
          <p:nvPr/>
        </p:nvSpPr>
        <p:spPr>
          <a:xfrm>
            <a:off x="7640116" y="4983480"/>
            <a:ext cx="3362858" cy="164592"/>
          </a:xfrm>
          <a:prstGeom prst="rect">
            <a:avLst/>
          </a:prstGeom>
          <a:noFill/>
        </p:spPr>
        <p:txBody>
          <a:bodyPr wrap="square" anchor="t" lIns="0" rIns="0" tIns="0" bIns="0">
            <a:normAutofit/>
          </a:bodyPr>
          <a:lstStyle/>
          <a:p>
            <a:pPr algn="l">
              <a:lnSpc>
                <a:spcPct val="105000"/>
              </a:lnSpc>
              <a:spcBef>
                <a:spcPts val="0"/>
              </a:spcBef>
            </a:pPr>
            <a:r>
              <a:rPr sz="850" b="1" i="0">
                <a:solidFill>
                  <a:srgbClr val="00C9A7"/>
                </a:solidFill>
                <a:latin typeface="Calibri"/>
              </a:rPr>
              <a:t>All-Hands-AI/OpenHands</a:t>
            </a:r>
          </a:p>
        </p:txBody>
      </p:sp>
      <p:sp>
        <p:nvSpPr>
          <p:cNvPr id="33" name="TextBox 32"/>
          <p:cNvSpPr txBox="1"/>
          <p:nvPr/>
        </p:nvSpPr>
        <p:spPr>
          <a:xfrm>
            <a:off x="7640116" y="5129784"/>
            <a:ext cx="3362858" cy="219456"/>
          </a:xfrm>
          <a:prstGeom prst="rect">
            <a:avLst/>
          </a:prstGeom>
          <a:noFill/>
        </p:spPr>
        <p:txBody>
          <a:bodyPr wrap="square" anchor="t" lIns="0" rIns="0" tIns="0" bIns="0">
            <a:normAutofit/>
          </a:bodyPr>
          <a:lstStyle/>
          <a:p>
            <a:pPr algn="l">
              <a:lnSpc>
                <a:spcPct val="105000"/>
              </a:lnSpc>
              <a:spcBef>
                <a:spcPts val="0"/>
              </a:spcBef>
            </a:pPr>
            <a:r>
              <a:rPr sz="750" b="0" i="0">
                <a:solidFill>
                  <a:srgbClr val="FFFFFF"/>
                </a:solidFill>
                <a:latin typeface="Calibri"/>
              </a:rPr>
              <a:t>Agent SDK — headless mode + MCP config</a:t>
            </a:r>
          </a:p>
        </p:txBody>
      </p:sp>
      <p:sp>
        <p:nvSpPr>
          <p:cNvPr id="34" name="TextBox 33"/>
          <p:cNvSpPr txBox="1"/>
          <p:nvPr/>
        </p:nvSpPr>
        <p:spPr>
          <a:xfrm>
            <a:off x="731520" y="5422392"/>
            <a:ext cx="3362858" cy="164592"/>
          </a:xfrm>
          <a:prstGeom prst="rect">
            <a:avLst/>
          </a:prstGeom>
          <a:noFill/>
        </p:spPr>
        <p:txBody>
          <a:bodyPr wrap="square" anchor="t" lIns="0" rIns="0" tIns="0" bIns="0">
            <a:normAutofit/>
          </a:bodyPr>
          <a:lstStyle/>
          <a:p>
            <a:pPr algn="l">
              <a:lnSpc>
                <a:spcPct val="105000"/>
              </a:lnSpc>
              <a:spcBef>
                <a:spcPts val="0"/>
              </a:spcBef>
            </a:pPr>
            <a:r>
              <a:rPr sz="850" b="1" i="0">
                <a:solidFill>
                  <a:srgbClr val="00C9A7"/>
                </a:solidFill>
                <a:latin typeface="Calibri"/>
              </a:rPr>
              <a:t>huggingface/transformers</a:t>
            </a:r>
          </a:p>
        </p:txBody>
      </p:sp>
      <p:sp>
        <p:nvSpPr>
          <p:cNvPr id="35" name="TextBox 34"/>
          <p:cNvSpPr txBox="1"/>
          <p:nvPr/>
        </p:nvSpPr>
        <p:spPr>
          <a:xfrm>
            <a:off x="731520" y="5568696"/>
            <a:ext cx="3362858" cy="219456"/>
          </a:xfrm>
          <a:prstGeom prst="rect">
            <a:avLst/>
          </a:prstGeom>
          <a:noFill/>
        </p:spPr>
        <p:txBody>
          <a:bodyPr wrap="square" anchor="t" lIns="0" rIns="0" tIns="0" bIns="0">
            <a:normAutofit/>
          </a:bodyPr>
          <a:lstStyle/>
          <a:p>
            <a:pPr algn="l">
              <a:lnSpc>
                <a:spcPct val="105000"/>
              </a:lnSpc>
              <a:spcBef>
                <a:spcPts val="0"/>
              </a:spcBef>
            </a:pPr>
            <a:r>
              <a:rPr sz="750" b="0" i="0">
                <a:solidFill>
                  <a:srgbClr val="FFFFFF"/>
                </a:solidFill>
                <a:latin typeface="Calibri"/>
              </a:rPr>
              <a:t>Time-series anomaly detection models</a:t>
            </a:r>
          </a:p>
        </p:txBody>
      </p:sp>
      <p:sp>
        <p:nvSpPr>
          <p:cNvPr id="36" name="Rounded Rectangle 35"/>
          <p:cNvSpPr/>
          <p:nvPr/>
        </p:nvSpPr>
        <p:spPr>
          <a:xfrm>
            <a:off x="548640" y="6080760"/>
            <a:ext cx="5455767" cy="274320"/>
          </a:xfrm>
          <a:prstGeom prst="roundRect">
            <a:avLst>
              <a:gd name="adj" fmla="val 3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6080760"/>
            <a:ext cx="5272887" cy="274320"/>
          </a:xfrm>
          <a:prstGeom prst="rect">
            <a:avLst/>
          </a:prstGeom>
          <a:noFill/>
        </p:spPr>
        <p:txBody>
          <a:bodyPr wrap="square" anchor="ctr" lIns="0" rIns="0" tIns="0" bIns="0">
            <a:normAutofit/>
          </a:bodyPr>
          <a:lstStyle/>
          <a:p>
            <a:pPr algn="l">
              <a:lnSpc>
                <a:spcPct val="105000"/>
              </a:lnSpc>
              <a:spcBef>
                <a:spcPts val="0"/>
              </a:spcBef>
            </a:pPr>
            <a:r>
              <a:rPr sz="700" b="1" i="0">
                <a:solidFill>
                  <a:srgbClr val="FFFFFF"/>
                </a:solidFill>
                <a:latin typeface="Calibri"/>
              </a:rPr>
              <a:t>SYSTEMS: SCADA/OPC-UA | SAP PM | IoT Gateway | CMMS | Historian</a:t>
            </a:r>
          </a:p>
        </p:txBody>
      </p:sp>
      <p:sp>
        <p:nvSpPr>
          <p:cNvPr id="38" name="Rounded Rectangle 37"/>
          <p:cNvSpPr/>
          <p:nvPr/>
        </p:nvSpPr>
        <p:spPr>
          <a:xfrm>
            <a:off x="6187287" y="6080760"/>
            <a:ext cx="5455767" cy="274320"/>
          </a:xfrm>
          <a:prstGeom prst="roundRect">
            <a:avLst>
              <a:gd name="adj" fmla="val 3000"/>
            </a:avLst>
          </a:prstGeom>
          <a:solidFill>
            <a:srgbClr val="008F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78727" y="6080760"/>
            <a:ext cx="5272887" cy="274320"/>
          </a:xfrm>
          <a:prstGeom prst="rect">
            <a:avLst/>
          </a:prstGeom>
          <a:noFill/>
        </p:spPr>
        <p:txBody>
          <a:bodyPr wrap="square" anchor="ctr" lIns="0" rIns="0" tIns="0" bIns="0">
            <a:normAutofit/>
          </a:bodyPr>
          <a:lstStyle/>
          <a:p>
            <a:pPr algn="l">
              <a:lnSpc>
                <a:spcPct val="105000"/>
              </a:lnSpc>
              <a:spcBef>
                <a:spcPts val="0"/>
              </a:spcBef>
            </a:pPr>
            <a:r>
              <a:rPr sz="700" b="1" i="0">
                <a:solidFill>
                  <a:srgbClr val="FFFFFF"/>
                </a:solidFill>
                <a:latin typeface="Calibri"/>
              </a:rPr>
              <a:t>USERS: Maintenance technicians | Plant engineers | Reliability managers</a:t>
            </a:r>
          </a:p>
        </p:txBody>
      </p:sp>
      <p:sp>
        <p:nvSpPr>
          <p:cNvPr id="40" name="TextBox 3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10 / 82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Governance &amp; Compliance — UC-01</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Manufacturing — Standards, audits, and compliance requirements</a:t>
            </a:r>
          </a:p>
        </p:txBody>
      </p:sp>
      <p:sp>
        <p:nvSpPr>
          <p:cNvPr id="7" name="TextBox 6"/>
          <p:cNvSpPr txBox="1"/>
          <p:nvPr/>
        </p:nvSpPr>
        <p:spPr>
          <a:xfrm>
            <a:off x="548640" y="1600200"/>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ISO 13374 six-block diagnostic architecture (acquisition → processing → detection → severity → prognostics → decision)</a:t>
            </a:r>
          </a:p>
        </p:txBody>
      </p:sp>
      <p:sp>
        <p:nvSpPr>
          <p:cNvPr id="8" name="TextBox 7"/>
          <p:cNvSpPr txBox="1"/>
          <p:nvPr/>
        </p:nvSpPr>
        <p:spPr>
          <a:xfrm>
            <a:off x="548640" y="2130552"/>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ISO 20816-3 vibration severity classification (Zone A/B/C/D thresholds)</a:t>
            </a:r>
          </a:p>
        </p:txBody>
      </p:sp>
      <p:sp>
        <p:nvSpPr>
          <p:cNvPr id="9" name="TextBox 8"/>
          <p:cNvSpPr txBox="1"/>
          <p:nvPr/>
        </p:nvSpPr>
        <p:spPr>
          <a:xfrm>
            <a:off x="548640" y="2660904"/>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Sensor calibration audit per ISO 6789 — annual recertification required</a:t>
            </a:r>
          </a:p>
        </p:txBody>
      </p:sp>
      <p:sp>
        <p:nvSpPr>
          <p:cNvPr id="10" name="TextBox 9"/>
          <p:cNvSpPr txBox="1"/>
          <p:nvPr/>
        </p:nvSpPr>
        <p:spPr>
          <a:xfrm>
            <a:off x="548640" y="3191256"/>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Model drift monitoring: weekly accuracy check against actuals</a:t>
            </a:r>
          </a:p>
        </p:txBody>
      </p:sp>
      <p:sp>
        <p:nvSpPr>
          <p:cNvPr id="11" name="TextBox 10"/>
          <p:cNvSpPr txBox="1"/>
          <p:nvPr/>
        </p:nvSpPr>
        <p:spPr>
          <a:xfrm>
            <a:off x="548640" y="3721608"/>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Technician override logging: all manual overrides of AI predictions tracked</a:t>
            </a:r>
          </a:p>
        </p:txBody>
      </p:sp>
      <p:sp>
        <p:nvSpPr>
          <p:cNvPr id="12" name="TextBox 1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11 / 82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COMPETITIVE LANDSCAPE — UC-01 | MANUFACTURING</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18488"/>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Sight Machine</a:t>
            </a:r>
          </a:p>
        </p:txBody>
      </p:sp>
      <p:sp>
        <p:nvSpPr>
          <p:cNvPr id="9" name="TextBox 8"/>
          <p:cNvSpPr txBox="1"/>
          <p:nvPr/>
        </p:nvSpPr>
        <p:spPr>
          <a:xfrm>
            <a:off x="3749040" y="1618488"/>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$100K+/yr SaaS</a:t>
            </a:r>
          </a:p>
        </p:txBody>
      </p:sp>
      <p:sp>
        <p:nvSpPr>
          <p:cNvPr id="10" name="TextBox 9"/>
          <p:cNvSpPr txBox="1"/>
          <p:nvPr/>
        </p:nvSpPr>
        <p:spPr>
          <a:xfrm>
            <a:off x="731520" y="1892808"/>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Manufacturing analytics platform — broad but expensive, no SAP integration</a:t>
            </a:r>
          </a:p>
        </p:txBody>
      </p:sp>
      <p:sp>
        <p:nvSpPr>
          <p:cNvPr id="11" name="Rounded Rectangle 10"/>
          <p:cNvSpPr/>
          <p:nvPr/>
        </p:nvSpPr>
        <p:spPr>
          <a:xfrm>
            <a:off x="548640" y="2395728"/>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05456"/>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Uptake</a:t>
            </a:r>
          </a:p>
        </p:txBody>
      </p:sp>
      <p:sp>
        <p:nvSpPr>
          <p:cNvPr id="13" name="TextBox 12"/>
          <p:cNvSpPr txBox="1"/>
          <p:nvPr/>
        </p:nvSpPr>
        <p:spPr>
          <a:xfrm>
            <a:off x="3749040" y="2505456"/>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$100K+/yr SaaS</a:t>
            </a:r>
          </a:p>
        </p:txBody>
      </p:sp>
      <p:sp>
        <p:nvSpPr>
          <p:cNvPr id="14" name="TextBox 13"/>
          <p:cNvSpPr txBox="1"/>
          <p:nvPr/>
        </p:nvSpPr>
        <p:spPr>
          <a:xfrm>
            <a:off x="731520" y="2779776"/>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Asset performance management — enterprise pricing, long deployments</a:t>
            </a:r>
          </a:p>
        </p:txBody>
      </p:sp>
      <p:sp>
        <p:nvSpPr>
          <p:cNvPr id="15" name="Rounded Rectangle 14"/>
          <p:cNvSpPr/>
          <p:nvPr/>
        </p:nvSpPr>
        <p:spPr>
          <a:xfrm>
            <a:off x="548640" y="3282696"/>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392424"/>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Siemens Senseye</a:t>
            </a:r>
          </a:p>
        </p:txBody>
      </p:sp>
      <p:sp>
        <p:nvSpPr>
          <p:cNvPr id="17" name="TextBox 16"/>
          <p:cNvSpPr txBox="1"/>
          <p:nvPr/>
        </p:nvSpPr>
        <p:spPr>
          <a:xfrm>
            <a:off x="3749040" y="3392424"/>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Cloud PdM</a:t>
            </a:r>
          </a:p>
        </p:txBody>
      </p:sp>
      <p:sp>
        <p:nvSpPr>
          <p:cNvPr id="18" name="TextBox 17"/>
          <p:cNvSpPr txBox="1"/>
          <p:nvPr/>
        </p:nvSpPr>
        <p:spPr>
          <a:xfrm>
            <a:off x="731520" y="3666744"/>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Gen-AI-enhanced failure prediction (Dec 2025) — cloud-based, production-grade</a:t>
            </a:r>
          </a:p>
        </p:txBody>
      </p:sp>
      <p:sp>
        <p:nvSpPr>
          <p:cNvPr id="19" name="Rounded Rectangle 18"/>
          <p:cNvSpPr/>
          <p:nvPr/>
        </p:nvSpPr>
        <p:spPr>
          <a:xfrm>
            <a:off x="548640" y="4169664"/>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279392"/>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Bosch AI</a:t>
            </a:r>
          </a:p>
        </p:txBody>
      </p:sp>
      <p:sp>
        <p:nvSpPr>
          <p:cNvPr id="21" name="TextBox 20"/>
          <p:cNvSpPr txBox="1"/>
          <p:nvPr/>
        </p:nvSpPr>
        <p:spPr>
          <a:xfrm>
            <a:off x="3749040" y="4279392"/>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50 plants</a:t>
            </a:r>
          </a:p>
        </p:txBody>
      </p:sp>
      <p:sp>
        <p:nvSpPr>
          <p:cNvPr id="22" name="TextBox 21"/>
          <p:cNvSpPr txBox="1"/>
          <p:nvPr/>
        </p:nvSpPr>
        <p:spPr>
          <a:xfrm>
            <a:off x="731520" y="4553712"/>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2,000+ production lines interconnected; opening AI platform to externals (CES 2026)</a:t>
            </a:r>
          </a:p>
        </p:txBody>
      </p:sp>
      <p:sp>
        <p:nvSpPr>
          <p:cNvPr id="23" name="Rounded Rectangle 22"/>
          <p:cNvSpPr/>
          <p:nvPr/>
        </p:nvSpPr>
        <p:spPr>
          <a:xfrm>
            <a:off x="548640" y="5056632"/>
            <a:ext cx="11094415" cy="7772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166360"/>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FFFFFF"/>
                </a:solidFill>
                <a:latin typeface="Calibri"/>
              </a:rPr>
              <a:t>Our approach</a:t>
            </a:r>
          </a:p>
        </p:txBody>
      </p:sp>
      <p:sp>
        <p:nvSpPr>
          <p:cNvPr id="25" name="TextBox 24"/>
          <p:cNvSpPr txBox="1"/>
          <p:nvPr/>
        </p:nvSpPr>
        <p:spPr>
          <a:xfrm>
            <a:off x="3749040" y="5166360"/>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FFB800"/>
                </a:solidFill>
                <a:latin typeface="Calibri"/>
              </a:rPr>
              <a:t>4 weeks, 50-70% cheaper</a:t>
            </a:r>
          </a:p>
        </p:txBody>
      </p:sp>
      <p:sp>
        <p:nvSpPr>
          <p:cNvPr id="26" name="TextBox 25"/>
          <p:cNvSpPr txBox="1"/>
          <p:nvPr/>
        </p:nvSpPr>
        <p:spPr>
          <a:xfrm>
            <a:off x="731520" y="5440680"/>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Open-source MCP, pilot-first, technician trust-building baked in</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12 / 82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5B6B7C"/>
                </a:solidFill>
                <a:latin typeface="Calibri"/>
              </a:rPr>
              <a:t>THE ACTUAL INSIGHT — UC-01</a:t>
            </a:r>
          </a:p>
        </p:txBody>
      </p:sp>
      <p:sp>
        <p:nvSpPr>
          <p:cNvPr id="5" name="Rounded Rectangle 4"/>
          <p:cNvSpPr/>
          <p:nvPr/>
        </p:nvSpPr>
        <p:spPr>
          <a:xfrm>
            <a:off x="548640" y="822960"/>
            <a:ext cx="11094415" cy="256032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005840"/>
            <a:ext cx="10545775" cy="2194560"/>
          </a:xfrm>
          <a:prstGeom prst="rect">
            <a:avLst/>
          </a:prstGeom>
          <a:noFill/>
        </p:spPr>
        <p:txBody>
          <a:bodyPr wrap="square" anchor="t" lIns="0" rIns="0" tIns="0" bIns="0">
            <a:normAutofit/>
          </a:bodyPr>
          <a:lstStyle/>
          <a:p>
            <a:pPr algn="l">
              <a:lnSpc>
                <a:spcPct val="115000"/>
              </a:lnSpc>
              <a:spcBef>
                <a:spcPts val="0"/>
              </a:spcBef>
            </a:pPr>
            <a:r>
              <a:rPr sz="1400" b="0" i="0">
                <a:solidFill>
                  <a:srgbClr val="FFFFFF"/>
                </a:solidFill>
                <a:latin typeface="Calibri"/>
              </a:rPr>
              <a:t>3 years of labeled failure data eliminated the data-collection phase that kills most manufacturing AI. Started with 12 machines causing 80% of downtime. The model was technically ready before the humans were. Trust took 6 months to build. Budget for trust, not just training.</a:t>
            </a:r>
          </a:p>
        </p:txBody>
      </p:sp>
      <p:sp>
        <p:nvSpPr>
          <p:cNvPr id="7" name="Rounded Rectangle 6"/>
          <p:cNvSpPr/>
          <p:nvPr/>
        </p:nvSpPr>
        <p:spPr>
          <a:xfrm>
            <a:off x="548640" y="3657600"/>
            <a:ext cx="3576218" cy="10058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767328"/>
            <a:ext cx="3301898" cy="182880"/>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BUYER</a:t>
            </a:r>
          </a:p>
        </p:txBody>
      </p:sp>
      <p:sp>
        <p:nvSpPr>
          <p:cNvPr id="9" name="TextBox 8"/>
          <p:cNvSpPr txBox="1"/>
          <p:nvPr/>
        </p:nvSpPr>
        <p:spPr>
          <a:xfrm>
            <a:off x="685800" y="4005072"/>
            <a:ext cx="3301898" cy="530352"/>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VP Manufacturing / Plant Manager</a:t>
            </a:r>
          </a:p>
        </p:txBody>
      </p:sp>
      <p:sp>
        <p:nvSpPr>
          <p:cNvPr id="10" name="Rounded Rectangle 9"/>
          <p:cNvSpPr/>
          <p:nvPr/>
        </p:nvSpPr>
        <p:spPr>
          <a:xfrm>
            <a:off x="4307738" y="3657600"/>
            <a:ext cx="3576218" cy="10058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4898" y="3767328"/>
            <a:ext cx="3301898" cy="182880"/>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REVENUE MODEL</a:t>
            </a:r>
          </a:p>
        </p:txBody>
      </p:sp>
      <p:sp>
        <p:nvSpPr>
          <p:cNvPr id="12" name="TextBox 11"/>
          <p:cNvSpPr txBox="1"/>
          <p:nvPr/>
        </p:nvSpPr>
        <p:spPr>
          <a:xfrm>
            <a:off x="4444898" y="4005072"/>
            <a:ext cx="3301898" cy="530352"/>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$5-10K/mo per plant</a:t>
            </a:r>
          </a:p>
        </p:txBody>
      </p:sp>
      <p:sp>
        <p:nvSpPr>
          <p:cNvPr id="13" name="Rounded Rectangle 12"/>
          <p:cNvSpPr/>
          <p:nvPr/>
        </p:nvSpPr>
        <p:spPr>
          <a:xfrm>
            <a:off x="8066836" y="3657600"/>
            <a:ext cx="3576218" cy="10058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3996" y="3767328"/>
            <a:ext cx="3301898" cy="182880"/>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DEPLOYMENT</a:t>
            </a:r>
          </a:p>
        </p:txBody>
      </p:sp>
      <p:sp>
        <p:nvSpPr>
          <p:cNvPr id="15" name="TextBox 14"/>
          <p:cNvSpPr txBox="1"/>
          <p:nvPr/>
        </p:nvSpPr>
        <p:spPr>
          <a:xfrm>
            <a:off x="8203996" y="4005072"/>
            <a:ext cx="3301898" cy="530352"/>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Headless batch: openhands --headless</a:t>
            </a:r>
          </a:p>
        </p:txBody>
      </p:sp>
      <p:sp>
        <p:nvSpPr>
          <p:cNvPr id="16" name="TextBox 15"/>
          <p:cNvSpPr txBox="1"/>
          <p:nvPr/>
        </p:nvSpPr>
        <p:spPr>
          <a:xfrm>
            <a:off x="548640" y="4937760"/>
            <a:ext cx="11094415" cy="18288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Source: NSSG Insights Mar 2026 + Unilever case study</a:t>
            </a:r>
          </a:p>
        </p:txBody>
      </p:sp>
      <p:sp>
        <p:nvSpPr>
          <p:cNvPr id="17" name="TextBox 1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13 / 82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UC-02 | MANUFACTURING</a:t>
            </a:r>
          </a:p>
        </p:txBody>
      </p:sp>
      <p:sp>
        <p:nvSpPr>
          <p:cNvPr id="5" name="TextBox 4"/>
          <p:cNvSpPr txBox="1"/>
          <p:nvPr/>
        </p:nvSpPr>
        <p:spPr>
          <a:xfrm>
            <a:off x="548640" y="1691640"/>
            <a:ext cx="11094415" cy="731520"/>
          </a:xfrm>
          <a:prstGeom prst="rect">
            <a:avLst/>
          </a:prstGeom>
          <a:noFill/>
        </p:spPr>
        <p:txBody>
          <a:bodyPr wrap="square" anchor="t" lIns="0" rIns="0" tIns="0" bIns="0">
            <a:normAutofit/>
          </a:bodyPr>
          <a:lstStyle/>
          <a:p>
            <a:pPr algn="l">
              <a:lnSpc>
                <a:spcPct val="105000"/>
              </a:lnSpc>
              <a:spcBef>
                <a:spcPts val="0"/>
              </a:spcBef>
            </a:pPr>
            <a:r>
              <a:rPr sz="2800" b="1" i="0">
                <a:solidFill>
                  <a:srgbClr val="FFFFFF"/>
                </a:solidFill>
                <a:latin typeface="Calibri"/>
              </a:rPr>
              <a:t>Visual Quality Inspection — Camera → CNN → SAP MES</a:t>
            </a:r>
          </a:p>
        </p:txBody>
      </p:sp>
      <p:sp>
        <p:nvSpPr>
          <p:cNvPr id="6" name="TextBox 5"/>
          <p:cNvSpPr txBox="1"/>
          <p:nvPr/>
        </p:nvSpPr>
        <p:spPr>
          <a:xfrm>
            <a:off x="548640" y="2514600"/>
            <a:ext cx="11094415" cy="274320"/>
          </a:xfrm>
          <a:prstGeom prst="rect">
            <a:avLst/>
          </a:prstGeom>
          <a:noFill/>
        </p:spPr>
        <p:txBody>
          <a:bodyPr wrap="square" anchor="t" lIns="0" rIns="0" tIns="0" bIns="0">
            <a:normAutofit/>
          </a:bodyPr>
          <a:lstStyle/>
          <a:p>
            <a:pPr algn="l">
              <a:lnSpc>
                <a:spcPct val="105000"/>
              </a:lnSpc>
              <a:spcBef>
                <a:spcPts val="0"/>
              </a:spcBef>
            </a:pPr>
            <a:r>
              <a:rPr sz="1400" b="1" i="0">
                <a:solidFill>
                  <a:srgbClr val="FFB800"/>
                </a:solidFill>
                <a:latin typeface="Calibri"/>
              </a:rPr>
              <a:t>YOLOv8 at line speed: 99.2% accuracy, 85% false positive reduction</a:t>
            </a:r>
          </a:p>
        </p:txBody>
      </p:sp>
      <p:sp>
        <p:nvSpPr>
          <p:cNvPr id="7" name="TextBox 6"/>
          <p:cNvSpPr txBox="1"/>
          <p:nvPr/>
        </p:nvSpPr>
        <p:spPr>
          <a:xfrm>
            <a:off x="548640" y="2926080"/>
            <a:ext cx="11094415" cy="274320"/>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Hyundai Framework + Multi-Plant  |  Reference architecture, 4-6 week deployment</a:t>
            </a:r>
          </a:p>
        </p:txBody>
      </p:sp>
      <p:sp>
        <p:nvSpPr>
          <p:cNvPr id="8" name="Rounded Rectangle 7"/>
          <p:cNvSpPr/>
          <p:nvPr/>
        </p:nvSpPr>
        <p:spPr>
          <a:xfrm>
            <a:off x="548640" y="3383280"/>
            <a:ext cx="2011680" cy="29260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383280"/>
            <a:ext cx="1737360" cy="292608"/>
          </a:xfrm>
          <a:prstGeom prst="rect">
            <a:avLst/>
          </a:prstGeom>
          <a:noFill/>
        </p:spPr>
        <p:txBody>
          <a:bodyPr wrap="square" anchor="ctr" lIns="0" rIns="0" tIns="0" bIns="0">
            <a:noAutofit/>
          </a:bodyPr>
          <a:lstStyle/>
          <a:p>
            <a:pPr algn="l">
              <a:lnSpc>
                <a:spcPct val="105000"/>
              </a:lnSpc>
              <a:spcBef>
                <a:spcPts val="0"/>
              </a:spcBef>
            </a:pPr>
            <a:r>
              <a:rPr sz="1000" b="1" i="0">
                <a:solidFill>
                  <a:srgbClr val="FFFFFF"/>
                </a:solidFill>
                <a:latin typeface="Calibri"/>
              </a:rPr>
              <a:t>VERTICAL SCORE: 32/35 GO</a:t>
            </a:r>
          </a:p>
        </p:txBody>
      </p:sp>
      <p:sp>
        <p:nvSpPr>
          <p:cNvPr id="10" name="TextBox 9"/>
          <p:cNvSpPr txBox="1"/>
          <p:nvPr/>
        </p:nvSpPr>
        <p:spPr>
          <a:xfrm>
            <a:off x="548640" y="3931920"/>
            <a:ext cx="11094415" cy="2743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Source: GBrain impl spec UC-MFG-02 + Hyundai framework</a:t>
            </a:r>
          </a:p>
        </p:txBody>
      </p:sp>
      <p:sp>
        <p:nvSpPr>
          <p:cNvPr id="11" name="TextBox 1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14 / 82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Manual Inspection Fails at Scale</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UC-02 | MANUFACTURING — The Problem</a:t>
            </a:r>
          </a:p>
        </p:txBody>
      </p:sp>
      <p:sp>
        <p:nvSpPr>
          <p:cNvPr id="7" name="Rounded Rectangle 6"/>
          <p:cNvSpPr/>
          <p:nvPr/>
        </p:nvSpPr>
        <p:spPr>
          <a:xfrm>
            <a:off x="548640" y="160020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160020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01</a:t>
            </a:r>
          </a:p>
        </p:txBody>
      </p:sp>
      <p:sp>
        <p:nvSpPr>
          <p:cNvPr id="9" name="TextBox 8"/>
          <p:cNvSpPr txBox="1"/>
          <p:nvPr/>
        </p:nvSpPr>
        <p:spPr>
          <a:xfrm>
            <a:off x="1060704" y="165506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15-20% false positive rate in manual inspection across production lines</a:t>
            </a:r>
          </a:p>
        </p:txBody>
      </p:sp>
      <p:sp>
        <p:nvSpPr>
          <p:cNvPr id="10" name="Rounded Rectangle 9"/>
          <p:cNvSpPr/>
          <p:nvPr/>
        </p:nvSpPr>
        <p:spPr>
          <a:xfrm>
            <a:off x="548640" y="2258568"/>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58568"/>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02</a:t>
            </a:r>
          </a:p>
        </p:txBody>
      </p:sp>
      <p:sp>
        <p:nvSpPr>
          <p:cNvPr id="12" name="TextBox 11"/>
          <p:cNvSpPr txBox="1"/>
          <p:nvPr/>
        </p:nvSpPr>
        <p:spPr>
          <a:xfrm>
            <a:off x="1060704" y="2313432"/>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Inspector fatigue: accuracy drops to 72% by hour 6 of shift</a:t>
            </a:r>
          </a:p>
        </p:txBody>
      </p:sp>
      <p:sp>
        <p:nvSpPr>
          <p:cNvPr id="13" name="Rounded Rectangle 12"/>
          <p:cNvSpPr/>
          <p:nvPr/>
        </p:nvSpPr>
        <p:spPr>
          <a:xfrm>
            <a:off x="548640" y="2916936"/>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 y="2916936"/>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03</a:t>
            </a:r>
          </a:p>
        </p:txBody>
      </p:sp>
      <p:sp>
        <p:nvSpPr>
          <p:cNvPr id="15" name="TextBox 14"/>
          <p:cNvSpPr txBox="1"/>
          <p:nvPr/>
        </p:nvSpPr>
        <p:spPr>
          <a:xfrm>
            <a:off x="1060704" y="2971800"/>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$2.3M average annual quality cost per plant from missed defects</a:t>
            </a:r>
          </a:p>
        </p:txBody>
      </p:sp>
      <p:sp>
        <p:nvSpPr>
          <p:cNvPr id="16" name="Rounded Rectangle 15"/>
          <p:cNvSpPr/>
          <p:nvPr/>
        </p:nvSpPr>
        <p:spPr>
          <a:xfrm>
            <a:off x="548640" y="3575304"/>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3575304"/>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04</a:t>
            </a:r>
          </a:p>
        </p:txBody>
      </p:sp>
      <p:sp>
        <p:nvSpPr>
          <p:cNvPr id="18" name="TextBox 17"/>
          <p:cNvSpPr txBox="1"/>
          <p:nvPr/>
        </p:nvSpPr>
        <p:spPr>
          <a:xfrm>
            <a:off x="1060704" y="3630168"/>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Inconsistent criteria across shifts — 3 inspectors, 3 different standards</a:t>
            </a:r>
          </a:p>
        </p:txBody>
      </p:sp>
      <p:sp>
        <p:nvSpPr>
          <p:cNvPr id="19" name="Rounded Rectangle 18"/>
          <p:cNvSpPr/>
          <p:nvPr/>
        </p:nvSpPr>
        <p:spPr>
          <a:xfrm>
            <a:off x="548640" y="4233672"/>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 y="4233672"/>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05</a:t>
            </a:r>
          </a:p>
        </p:txBody>
      </p:sp>
      <p:sp>
        <p:nvSpPr>
          <p:cNvPr id="21" name="TextBox 20"/>
          <p:cNvSpPr txBox="1"/>
          <p:nvPr/>
        </p:nvSpPr>
        <p:spPr>
          <a:xfrm>
            <a:off x="1060704" y="4288536"/>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Generic CV doesn't understand defect taxonomy per manufacturing context</a:t>
            </a:r>
          </a:p>
        </p:txBody>
      </p:sp>
      <p:sp>
        <p:nvSpPr>
          <p:cNvPr id="22" name="Rounded Rectangle 21"/>
          <p:cNvSpPr/>
          <p:nvPr/>
        </p:nvSpPr>
        <p:spPr>
          <a:xfrm>
            <a:off x="548640" y="489204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489204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06</a:t>
            </a:r>
          </a:p>
        </p:txBody>
      </p:sp>
      <p:sp>
        <p:nvSpPr>
          <p:cNvPr id="24" name="TextBox 23"/>
          <p:cNvSpPr txBox="1"/>
          <p:nvPr/>
        </p:nvSpPr>
        <p:spPr>
          <a:xfrm>
            <a:off x="1060704" y="494690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Edge inference latency must be &lt;5ms to keep up with line speed (120 units/hr)</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15 / 82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Edge AI + Active Learning + SAP MES Integration</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UC-02 | MANUFACTURING — How It's Realized</a:t>
            </a:r>
          </a:p>
        </p:txBody>
      </p:sp>
      <p:sp>
        <p:nvSpPr>
          <p:cNvPr id="7" name="Rounded Rectangle 6"/>
          <p:cNvSpPr/>
          <p:nvPr/>
        </p:nvSpPr>
        <p:spPr>
          <a:xfrm>
            <a:off x="548640" y="1600200"/>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160020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01</a:t>
            </a:r>
          </a:p>
        </p:txBody>
      </p:sp>
      <p:sp>
        <p:nvSpPr>
          <p:cNvPr id="9" name="TextBox 8"/>
          <p:cNvSpPr txBox="1"/>
          <p:nvPr/>
        </p:nvSpPr>
        <p:spPr>
          <a:xfrm>
            <a:off x="1060704" y="165506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YOLOv8 real-time defect detection: 640x640 input, 1.2ms edge inference on Jetson Orin</a:t>
            </a:r>
          </a:p>
        </p:txBody>
      </p:sp>
      <p:sp>
        <p:nvSpPr>
          <p:cNvPr id="10" name="Rounded Rectangle 9"/>
          <p:cNvSpPr/>
          <p:nvPr/>
        </p:nvSpPr>
        <p:spPr>
          <a:xfrm>
            <a:off x="548640" y="2258568"/>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58568"/>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02</a:t>
            </a:r>
          </a:p>
        </p:txBody>
      </p:sp>
      <p:sp>
        <p:nvSpPr>
          <p:cNvPr id="12" name="TextBox 11"/>
          <p:cNvSpPr txBox="1"/>
          <p:nvPr/>
        </p:nvSpPr>
        <p:spPr>
          <a:xfrm>
            <a:off x="1060704" y="2313432"/>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Multi-camera 360 inspection at line speed (120 units/hr) — no throughput reduction</a:t>
            </a:r>
          </a:p>
        </p:txBody>
      </p:sp>
      <p:sp>
        <p:nvSpPr>
          <p:cNvPr id="13" name="Rounded Rectangle 12"/>
          <p:cNvSpPr/>
          <p:nvPr/>
        </p:nvSpPr>
        <p:spPr>
          <a:xfrm>
            <a:off x="548640" y="2916936"/>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 y="2916936"/>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03</a:t>
            </a:r>
          </a:p>
        </p:txBody>
      </p:sp>
      <p:sp>
        <p:nvSpPr>
          <p:cNvPr id="15" name="TextBox 14"/>
          <p:cNvSpPr txBox="1"/>
          <p:nvPr/>
        </p:nvSpPr>
        <p:spPr>
          <a:xfrm>
            <a:off x="1060704" y="2971800"/>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Three-tier confidence routing: &gt;0.85 auto-reject; 0.5-0.85 operator review; &lt;0.5 passes</a:t>
            </a:r>
          </a:p>
        </p:txBody>
      </p:sp>
      <p:sp>
        <p:nvSpPr>
          <p:cNvPr id="16" name="Rounded Rectangle 15"/>
          <p:cNvSpPr/>
          <p:nvPr/>
        </p:nvSpPr>
        <p:spPr>
          <a:xfrm>
            <a:off x="548640" y="3575304"/>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3575304"/>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04</a:t>
            </a:r>
          </a:p>
        </p:txBody>
      </p:sp>
      <p:sp>
        <p:nvSpPr>
          <p:cNvPr id="18" name="TextBox 17"/>
          <p:cNvSpPr txBox="1"/>
          <p:nvPr/>
        </p:nvSpPr>
        <p:spPr>
          <a:xfrm>
            <a:off x="1060704" y="3630168"/>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Active learning pipeline: operator corrections feed continuous model retraining</a:t>
            </a:r>
          </a:p>
        </p:txBody>
      </p:sp>
      <p:sp>
        <p:nvSpPr>
          <p:cNvPr id="19" name="Rounded Rectangle 18"/>
          <p:cNvSpPr/>
          <p:nvPr/>
        </p:nvSpPr>
        <p:spPr>
          <a:xfrm>
            <a:off x="548640" y="4233672"/>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 y="4233672"/>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05</a:t>
            </a:r>
          </a:p>
        </p:txBody>
      </p:sp>
      <p:sp>
        <p:nvSpPr>
          <p:cNvPr id="21" name="TextBox 20"/>
          <p:cNvSpPr txBox="1"/>
          <p:nvPr/>
        </p:nvSpPr>
        <p:spPr>
          <a:xfrm>
            <a:off x="1060704" y="4288536"/>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Defect taxonomy: surface (scratch/dent/pit/crack), dimensional, contamination, assembly</a:t>
            </a:r>
          </a:p>
        </p:txBody>
      </p:sp>
      <p:sp>
        <p:nvSpPr>
          <p:cNvPr id="22" name="Rounded Rectangle 21"/>
          <p:cNvSpPr/>
          <p:nvPr/>
        </p:nvSpPr>
        <p:spPr>
          <a:xfrm>
            <a:off x="548640" y="4892040"/>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489204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06</a:t>
            </a:r>
          </a:p>
        </p:txBody>
      </p:sp>
      <p:sp>
        <p:nvSpPr>
          <p:cNvPr id="24" name="TextBox 23"/>
          <p:cNvSpPr txBox="1"/>
          <p:nvPr/>
        </p:nvSpPr>
        <p:spPr>
          <a:xfrm>
            <a:off x="1060704" y="494690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Per-shift quality reports auto-generated with SPC dashboard + Cpk monitoring</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16 / 82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KEY METRICS — UC-02 | MANUFACTURING</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99.2%</a:t>
            </a:r>
          </a:p>
        </p:txBody>
      </p:sp>
      <p:sp>
        <p:nvSpPr>
          <p:cNvPr id="9" name="TextBox 8"/>
          <p:cNvSpPr txBox="1"/>
          <p:nvPr/>
        </p:nvSpPr>
        <p:spPr>
          <a:xfrm>
            <a:off x="685800"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Detection Accuracy</a:t>
            </a:r>
          </a:p>
        </p:txBody>
      </p:sp>
      <p:sp>
        <p:nvSpPr>
          <p:cNvPr id="10" name="TextBox 9"/>
          <p:cNvSpPr txBox="1"/>
          <p:nvPr/>
        </p:nvSpPr>
        <p:spPr>
          <a:xfrm>
            <a:off x="685800"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Across all defect categories</a:t>
            </a:r>
          </a:p>
        </p:txBody>
      </p:sp>
      <p:sp>
        <p:nvSpPr>
          <p:cNvPr id="11" name="Rounded Rectangle 10"/>
          <p:cNvSpPr/>
          <p:nvPr/>
        </p:nvSpPr>
        <p:spPr>
          <a:xfrm>
            <a:off x="4313834"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50994"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85%</a:t>
            </a:r>
          </a:p>
        </p:txBody>
      </p:sp>
      <p:sp>
        <p:nvSpPr>
          <p:cNvPr id="13" name="TextBox 12"/>
          <p:cNvSpPr txBox="1"/>
          <p:nvPr/>
        </p:nvSpPr>
        <p:spPr>
          <a:xfrm>
            <a:off x="4450994"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FP Reduction</a:t>
            </a:r>
          </a:p>
        </p:txBody>
      </p:sp>
      <p:sp>
        <p:nvSpPr>
          <p:cNvPr id="14" name="TextBox 13"/>
          <p:cNvSpPr txBox="1"/>
          <p:nvPr/>
        </p:nvSpPr>
        <p:spPr>
          <a:xfrm>
            <a:off x="4450994"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From 15-20% manual FP rate</a:t>
            </a:r>
          </a:p>
        </p:txBody>
      </p:sp>
      <p:sp>
        <p:nvSpPr>
          <p:cNvPr id="15" name="Rounded Rectangle 14"/>
          <p:cNvSpPr/>
          <p:nvPr/>
        </p:nvSpPr>
        <p:spPr>
          <a:xfrm>
            <a:off x="8079028"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6188"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$1.8M</a:t>
            </a:r>
          </a:p>
        </p:txBody>
      </p:sp>
      <p:sp>
        <p:nvSpPr>
          <p:cNvPr id="17" name="TextBox 16"/>
          <p:cNvSpPr txBox="1"/>
          <p:nvPr/>
        </p:nvSpPr>
        <p:spPr>
          <a:xfrm>
            <a:off x="8216188"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Annual Savings</a:t>
            </a:r>
          </a:p>
        </p:txBody>
      </p:sp>
      <p:sp>
        <p:nvSpPr>
          <p:cNvPr id="18" name="TextBox 17"/>
          <p:cNvSpPr txBox="1"/>
          <p:nvPr/>
        </p:nvSpPr>
        <p:spPr>
          <a:xfrm>
            <a:off x="8216188"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Per plant from reduced quality costs</a:t>
            </a:r>
          </a:p>
        </p:txBody>
      </p:sp>
      <p:sp>
        <p:nvSpPr>
          <p:cNvPr id="19" name="Rounded Rectangle 18"/>
          <p:cNvSpPr/>
          <p:nvPr/>
        </p:nvSpPr>
        <p:spPr>
          <a:xfrm>
            <a:off x="548640"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&lt;2ms</a:t>
            </a:r>
          </a:p>
        </p:txBody>
      </p:sp>
      <p:sp>
        <p:nvSpPr>
          <p:cNvPr id="21" name="TextBox 20"/>
          <p:cNvSpPr txBox="1"/>
          <p:nvPr/>
        </p:nvSpPr>
        <p:spPr>
          <a:xfrm>
            <a:off x="685800"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Inference Time</a:t>
            </a:r>
          </a:p>
        </p:txBody>
      </p:sp>
      <p:sp>
        <p:nvSpPr>
          <p:cNvPr id="22" name="TextBox 21"/>
          <p:cNvSpPr txBox="1"/>
          <p:nvPr/>
        </p:nvSpPr>
        <p:spPr>
          <a:xfrm>
            <a:off x="685800"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YOLOv8 on Jetson Orin NX edge GPU</a:t>
            </a:r>
          </a:p>
        </p:txBody>
      </p:sp>
      <p:sp>
        <p:nvSpPr>
          <p:cNvPr id="23" name="Rounded Rectangle 22"/>
          <p:cNvSpPr/>
          <p:nvPr/>
        </p:nvSpPr>
        <p:spPr>
          <a:xfrm>
            <a:off x="4313834"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50994"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4-6 wk</a:t>
            </a:r>
          </a:p>
        </p:txBody>
      </p:sp>
      <p:sp>
        <p:nvSpPr>
          <p:cNvPr id="25" name="TextBox 24"/>
          <p:cNvSpPr txBox="1"/>
          <p:nvPr/>
        </p:nvSpPr>
        <p:spPr>
          <a:xfrm>
            <a:off x="4450994"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Deployment</a:t>
            </a:r>
          </a:p>
        </p:txBody>
      </p:sp>
      <p:sp>
        <p:nvSpPr>
          <p:cNvPr id="26" name="TextBox 25"/>
          <p:cNvSpPr txBox="1"/>
          <p:nvPr/>
        </p:nvSpPr>
        <p:spPr>
          <a:xfrm>
            <a:off x="4450994"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Camera install → model trained → production</a:t>
            </a:r>
          </a:p>
        </p:txBody>
      </p:sp>
      <p:sp>
        <p:nvSpPr>
          <p:cNvPr id="27" name="Rounded Rectangle 26"/>
          <p:cNvSpPr/>
          <p:nvPr/>
        </p:nvSpPr>
        <p:spPr>
          <a:xfrm>
            <a:off x="8079028"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6188"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120/hr</a:t>
            </a:r>
          </a:p>
        </p:txBody>
      </p:sp>
      <p:sp>
        <p:nvSpPr>
          <p:cNvPr id="29" name="TextBox 28"/>
          <p:cNvSpPr txBox="1"/>
          <p:nvPr/>
        </p:nvSpPr>
        <p:spPr>
          <a:xfrm>
            <a:off x="8216188"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Line Speed</a:t>
            </a:r>
          </a:p>
        </p:txBody>
      </p:sp>
      <p:sp>
        <p:nvSpPr>
          <p:cNvPr id="30" name="TextBox 29"/>
          <p:cNvSpPr txBox="1"/>
          <p:nvPr/>
        </p:nvSpPr>
        <p:spPr>
          <a:xfrm>
            <a:off x="8216188"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No throughput reduction from inspection</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17 / 82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HOW IT WORKS — UC-02 | MANUFACTURING</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11094415" cy="530352"/>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63624"/>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1</a:t>
            </a:r>
          </a:p>
        </p:txBody>
      </p:sp>
      <p:sp>
        <p:nvSpPr>
          <p:cNvPr id="9" name="TextBox 8"/>
          <p:cNvSpPr txBox="1"/>
          <p:nvPr/>
        </p:nvSpPr>
        <p:spPr>
          <a:xfrm>
            <a:off x="685800" y="1746504"/>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GigE Vision camera captures part → Image preprocessing (normalize, resize 640x640)</a:t>
            </a:r>
          </a:p>
        </p:txBody>
      </p:sp>
      <p:sp>
        <p:nvSpPr>
          <p:cNvPr id="10" name="TextBox 9"/>
          <p:cNvSpPr txBox="1"/>
          <p:nvPr/>
        </p:nvSpPr>
        <p:spPr>
          <a:xfrm>
            <a:off x="6004407" y="2039112"/>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11" name="Rounded Rectangle 10"/>
          <p:cNvSpPr/>
          <p:nvPr/>
        </p:nvSpPr>
        <p:spPr>
          <a:xfrm>
            <a:off x="548640" y="2167128"/>
            <a:ext cx="11094415" cy="530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21992"/>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2</a:t>
            </a:r>
          </a:p>
        </p:txBody>
      </p:sp>
      <p:sp>
        <p:nvSpPr>
          <p:cNvPr id="13" name="TextBox 12"/>
          <p:cNvSpPr txBox="1"/>
          <p:nvPr/>
        </p:nvSpPr>
        <p:spPr>
          <a:xfrm>
            <a:off x="685800" y="2404872"/>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Jetson Orin NX runs YOLOv8 inference (&lt;2ms) → Defect classification</a:t>
            </a:r>
          </a:p>
        </p:txBody>
      </p:sp>
      <p:sp>
        <p:nvSpPr>
          <p:cNvPr id="14" name="TextBox 13"/>
          <p:cNvSpPr txBox="1"/>
          <p:nvPr/>
        </p:nvSpPr>
        <p:spPr>
          <a:xfrm>
            <a:off x="6004407" y="2697480"/>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15" name="Rounded Rectangle 14"/>
          <p:cNvSpPr/>
          <p:nvPr/>
        </p:nvSpPr>
        <p:spPr>
          <a:xfrm>
            <a:off x="548640" y="2825496"/>
            <a:ext cx="11094415" cy="530352"/>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880360"/>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3</a:t>
            </a:r>
          </a:p>
        </p:txBody>
      </p:sp>
      <p:sp>
        <p:nvSpPr>
          <p:cNvPr id="17" name="TextBox 16"/>
          <p:cNvSpPr txBox="1"/>
          <p:nvPr/>
        </p:nvSpPr>
        <p:spPr>
          <a:xfrm>
            <a:off x="685800" y="3063240"/>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Bounding box + confidence score → Three-tier routing decision</a:t>
            </a:r>
          </a:p>
        </p:txBody>
      </p:sp>
      <p:sp>
        <p:nvSpPr>
          <p:cNvPr id="18" name="TextBox 17"/>
          <p:cNvSpPr txBox="1"/>
          <p:nvPr/>
        </p:nvSpPr>
        <p:spPr>
          <a:xfrm>
            <a:off x="6004407" y="3355848"/>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19" name="Rounded Rectangle 18"/>
          <p:cNvSpPr/>
          <p:nvPr/>
        </p:nvSpPr>
        <p:spPr>
          <a:xfrm>
            <a:off x="548640" y="3483864"/>
            <a:ext cx="11094415" cy="530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538728"/>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4</a:t>
            </a:r>
          </a:p>
        </p:txBody>
      </p:sp>
      <p:sp>
        <p:nvSpPr>
          <p:cNvPr id="21" name="TextBox 20"/>
          <p:cNvSpPr txBox="1"/>
          <p:nvPr/>
        </p:nvSpPr>
        <p:spPr>
          <a:xfrm>
            <a:off x="685800" y="3721608"/>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IF confidence &gt; 0.85 AND defect: auto-reject → log_inspection_result (SAP MES)</a:t>
            </a:r>
          </a:p>
        </p:txBody>
      </p:sp>
      <p:sp>
        <p:nvSpPr>
          <p:cNvPr id="22" name="TextBox 21"/>
          <p:cNvSpPr txBox="1"/>
          <p:nvPr/>
        </p:nvSpPr>
        <p:spPr>
          <a:xfrm>
            <a:off x="6004407" y="4014216"/>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23" name="Rounded Rectangle 22"/>
          <p:cNvSpPr/>
          <p:nvPr/>
        </p:nvSpPr>
        <p:spPr>
          <a:xfrm>
            <a:off x="548640" y="4142232"/>
            <a:ext cx="11094415" cy="530352"/>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197096"/>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5</a:t>
            </a:r>
          </a:p>
        </p:txBody>
      </p:sp>
      <p:sp>
        <p:nvSpPr>
          <p:cNvPr id="25" name="TextBox 24"/>
          <p:cNvSpPr txBox="1"/>
          <p:nvPr/>
        </p:nvSpPr>
        <p:spPr>
          <a:xfrm>
            <a:off x="685800" y="4379976"/>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IF 0.5-0.85: operator review → operator decision feeds active learning pipeline</a:t>
            </a:r>
          </a:p>
        </p:txBody>
      </p:sp>
      <p:sp>
        <p:nvSpPr>
          <p:cNvPr id="26" name="TextBox 25"/>
          <p:cNvSpPr txBox="1"/>
          <p:nvPr/>
        </p:nvSpPr>
        <p:spPr>
          <a:xfrm>
            <a:off x="6004407" y="4672584"/>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27" name="Rounded Rectangle 26"/>
          <p:cNvSpPr/>
          <p:nvPr/>
        </p:nvSpPr>
        <p:spPr>
          <a:xfrm>
            <a:off x="548640" y="4800600"/>
            <a:ext cx="11094415" cy="530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855464"/>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6</a:t>
            </a:r>
          </a:p>
        </p:txBody>
      </p:sp>
      <p:sp>
        <p:nvSpPr>
          <p:cNvPr id="29" name="TextBox 28"/>
          <p:cNvSpPr txBox="1"/>
          <p:nvPr/>
        </p:nvSpPr>
        <p:spPr>
          <a:xfrm>
            <a:off x="685800" y="5038344"/>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Per-shift aggregate → generate_quality_report → SPC dashboard (Cpk monitoring)</a:t>
            </a:r>
          </a:p>
        </p:txBody>
      </p:sp>
      <p:sp>
        <p:nvSpPr>
          <p:cNvPr id="30" name="TextBox 29"/>
          <p:cNvSpPr txBox="1"/>
          <p:nvPr/>
        </p:nvSpPr>
        <p:spPr>
          <a:xfrm>
            <a:off x="6004407" y="5330952"/>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31" name="Rounded Rectangle 30"/>
          <p:cNvSpPr/>
          <p:nvPr/>
        </p:nvSpPr>
        <p:spPr>
          <a:xfrm>
            <a:off x="548640" y="5458968"/>
            <a:ext cx="11094415" cy="530352"/>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513832"/>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7</a:t>
            </a:r>
          </a:p>
        </p:txBody>
      </p:sp>
      <p:sp>
        <p:nvSpPr>
          <p:cNvPr id="33" name="TextBox 32"/>
          <p:cNvSpPr txBox="1"/>
          <p:nvPr/>
        </p:nvSpPr>
        <p:spPr>
          <a:xfrm>
            <a:off x="685800" y="5696712"/>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Continuous: new labeled defects feed model retraining → OTA update to edge devices</a:t>
            </a:r>
          </a:p>
        </p:txBody>
      </p:sp>
      <p:sp>
        <p:nvSpPr>
          <p:cNvPr id="34" name="TextBox 3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18 / 82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5B6B7C"/>
                </a:solidFill>
                <a:latin typeface="Calibri"/>
              </a:rPr>
              <a:t>ARCHITECTURE — UC-02 | MANUFACTURING</a:t>
            </a:r>
          </a:p>
        </p:txBody>
      </p:sp>
      <p:sp>
        <p:nvSpPr>
          <p:cNvPr id="5" name="TextBox 4"/>
          <p:cNvSpPr txBox="1"/>
          <p:nvPr/>
        </p:nvSpPr>
        <p:spPr>
          <a:xfrm>
            <a:off x="548640" y="548640"/>
            <a:ext cx="11094415" cy="457200"/>
          </a:xfrm>
          <a:prstGeom prst="rect">
            <a:avLst/>
          </a:prstGeom>
          <a:noFill/>
        </p:spPr>
        <p:txBody>
          <a:bodyPr wrap="square" anchor="t" lIns="0" rIns="0" tIns="0" bIns="0">
            <a:normAutofit/>
          </a:bodyPr>
          <a:lstStyle/>
          <a:p>
            <a:pPr algn="l">
              <a:lnSpc>
                <a:spcPct val="105000"/>
              </a:lnSpc>
              <a:spcBef>
                <a:spcPts val="0"/>
              </a:spcBef>
            </a:pPr>
            <a:r>
              <a:rPr sz="2000" b="1" i="0">
                <a:solidFill>
                  <a:srgbClr val="0A1628"/>
                </a:solidFill>
                <a:latin typeface="Calibri"/>
              </a:rPr>
              <a:t>Visual Quality Inspection Agent Architecture</a:t>
            </a:r>
          </a:p>
        </p:txBody>
      </p:sp>
      <p:sp>
        <p:nvSpPr>
          <p:cNvPr id="6" name="Rounded Rectangle 5"/>
          <p:cNvSpPr/>
          <p:nvPr/>
        </p:nvSpPr>
        <p:spPr>
          <a:xfrm>
            <a:off x="548640" y="1143000"/>
            <a:ext cx="5029200" cy="256032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828800" cy="201168"/>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AGENT STACK</a:t>
            </a:r>
          </a:p>
        </p:txBody>
      </p:sp>
      <p:sp>
        <p:nvSpPr>
          <p:cNvPr id="8" name="TextBox 7"/>
          <p:cNvSpPr txBox="1"/>
          <p:nvPr/>
        </p:nvSpPr>
        <p:spPr>
          <a:xfrm>
            <a:off x="731520" y="1554480"/>
            <a:ext cx="4663440" cy="201168"/>
          </a:xfrm>
          <a:prstGeom prst="rect">
            <a:avLst/>
          </a:prstGeom>
          <a:noFill/>
        </p:spPr>
        <p:txBody>
          <a:bodyPr wrap="square" anchor="t" lIns="0" rIns="0" tIns="0" bIns="0">
            <a:normAutofit/>
          </a:bodyPr>
          <a:lstStyle/>
          <a:p>
            <a:pPr algn="l">
              <a:lnSpc>
                <a:spcPct val="105000"/>
              </a:lnSpc>
              <a:spcBef>
                <a:spcPts val="0"/>
              </a:spcBef>
            </a:pPr>
            <a:r>
              <a:rPr sz="1050" b="1" i="0">
                <a:solidFill>
                  <a:srgbClr val="00C9A7"/>
                </a:solidFill>
                <a:latin typeface="Calibri"/>
              </a:rPr>
              <a:t>vision-capture-agent</a:t>
            </a:r>
          </a:p>
        </p:txBody>
      </p:sp>
      <p:sp>
        <p:nvSpPr>
          <p:cNvPr id="9" name="TextBox 8"/>
          <p:cNvSpPr txBox="1"/>
          <p:nvPr/>
        </p:nvSpPr>
        <p:spPr>
          <a:xfrm>
            <a:off x="731520" y="1737360"/>
            <a:ext cx="4663440" cy="320040"/>
          </a:xfrm>
          <a:prstGeom prst="rect">
            <a:avLst/>
          </a:prstGeom>
          <a:noFill/>
        </p:spPr>
        <p:txBody>
          <a:bodyPr wrap="square" anchor="t" lIns="0" rIns="0" tIns="0" bIns="0">
            <a:normAutofit/>
          </a:bodyPr>
          <a:lstStyle/>
          <a:p>
            <a:pPr algn="l">
              <a:lnSpc>
                <a:spcPct val="100000"/>
              </a:lnSpc>
              <a:spcBef>
                <a:spcPts val="0"/>
              </a:spcBef>
            </a:pPr>
            <a:r>
              <a:rPr sz="850" b="0" i="0">
                <a:solidFill>
                  <a:srgbClr val="FFFFFF"/>
                </a:solidFill>
                <a:latin typeface="Calibri"/>
              </a:rPr>
              <a:t>GigE Vision camera control, image preprocessing, multi-camera sync</a:t>
            </a:r>
          </a:p>
        </p:txBody>
      </p:sp>
      <p:sp>
        <p:nvSpPr>
          <p:cNvPr id="10" name="TextBox 9"/>
          <p:cNvSpPr txBox="1"/>
          <p:nvPr/>
        </p:nvSpPr>
        <p:spPr>
          <a:xfrm>
            <a:off x="731520" y="2103120"/>
            <a:ext cx="4663440" cy="201168"/>
          </a:xfrm>
          <a:prstGeom prst="rect">
            <a:avLst/>
          </a:prstGeom>
          <a:noFill/>
        </p:spPr>
        <p:txBody>
          <a:bodyPr wrap="square" anchor="t" lIns="0" rIns="0" tIns="0" bIns="0">
            <a:normAutofit/>
          </a:bodyPr>
          <a:lstStyle/>
          <a:p>
            <a:pPr algn="l">
              <a:lnSpc>
                <a:spcPct val="105000"/>
              </a:lnSpc>
              <a:spcBef>
                <a:spcPts val="0"/>
              </a:spcBef>
            </a:pPr>
            <a:r>
              <a:rPr sz="1050" b="1" i="0">
                <a:solidFill>
                  <a:srgbClr val="00C9A7"/>
                </a:solidFill>
                <a:latin typeface="Calibri"/>
              </a:rPr>
              <a:t>inference-agent</a:t>
            </a:r>
          </a:p>
        </p:txBody>
      </p:sp>
      <p:sp>
        <p:nvSpPr>
          <p:cNvPr id="11" name="TextBox 10"/>
          <p:cNvSpPr txBox="1"/>
          <p:nvPr/>
        </p:nvSpPr>
        <p:spPr>
          <a:xfrm>
            <a:off x="731520" y="2286000"/>
            <a:ext cx="4663440" cy="320040"/>
          </a:xfrm>
          <a:prstGeom prst="rect">
            <a:avLst/>
          </a:prstGeom>
          <a:noFill/>
        </p:spPr>
        <p:txBody>
          <a:bodyPr wrap="square" anchor="t" lIns="0" rIns="0" tIns="0" bIns="0">
            <a:normAutofit/>
          </a:bodyPr>
          <a:lstStyle/>
          <a:p>
            <a:pPr algn="l">
              <a:lnSpc>
                <a:spcPct val="100000"/>
              </a:lnSpc>
              <a:spcBef>
                <a:spcPts val="0"/>
              </a:spcBef>
            </a:pPr>
            <a:r>
              <a:rPr sz="850" b="0" i="0">
                <a:solidFill>
                  <a:srgbClr val="FFFFFF"/>
                </a:solidFill>
                <a:latin typeface="Calibri"/>
              </a:rPr>
              <a:t>YOLOv8 / EfficientDet CNN → defect classification with confidence scores</a:t>
            </a:r>
          </a:p>
        </p:txBody>
      </p:sp>
      <p:sp>
        <p:nvSpPr>
          <p:cNvPr id="12" name="TextBox 11"/>
          <p:cNvSpPr txBox="1"/>
          <p:nvPr/>
        </p:nvSpPr>
        <p:spPr>
          <a:xfrm>
            <a:off x="731520" y="2651760"/>
            <a:ext cx="4663440" cy="201168"/>
          </a:xfrm>
          <a:prstGeom prst="rect">
            <a:avLst/>
          </a:prstGeom>
          <a:noFill/>
        </p:spPr>
        <p:txBody>
          <a:bodyPr wrap="square" anchor="t" lIns="0" rIns="0" tIns="0" bIns="0">
            <a:normAutofit/>
          </a:bodyPr>
          <a:lstStyle/>
          <a:p>
            <a:pPr algn="l">
              <a:lnSpc>
                <a:spcPct val="105000"/>
              </a:lnSpc>
              <a:spcBef>
                <a:spcPts val="0"/>
              </a:spcBef>
            </a:pPr>
            <a:r>
              <a:rPr sz="1050" b="1" i="0">
                <a:solidFill>
                  <a:srgbClr val="00C9A7"/>
                </a:solidFill>
                <a:latin typeface="Calibri"/>
              </a:rPr>
              <a:t>quality-routing-agent</a:t>
            </a:r>
          </a:p>
        </p:txBody>
      </p:sp>
      <p:sp>
        <p:nvSpPr>
          <p:cNvPr id="13" name="TextBox 12"/>
          <p:cNvSpPr txBox="1"/>
          <p:nvPr/>
        </p:nvSpPr>
        <p:spPr>
          <a:xfrm>
            <a:off x="731520" y="2834640"/>
            <a:ext cx="4663440" cy="320040"/>
          </a:xfrm>
          <a:prstGeom prst="rect">
            <a:avLst/>
          </a:prstGeom>
          <a:noFill/>
        </p:spPr>
        <p:txBody>
          <a:bodyPr wrap="square" anchor="t" lIns="0" rIns="0" tIns="0" bIns="0">
            <a:normAutofit/>
          </a:bodyPr>
          <a:lstStyle/>
          <a:p>
            <a:pPr algn="l">
              <a:lnSpc>
                <a:spcPct val="100000"/>
              </a:lnSpc>
              <a:spcBef>
                <a:spcPts val="0"/>
              </a:spcBef>
            </a:pPr>
            <a:r>
              <a:rPr sz="850" b="0" i="0">
                <a:solidFill>
                  <a:srgbClr val="FFFFFF"/>
                </a:solidFill>
                <a:latin typeface="Calibri"/>
              </a:rPr>
              <a:t>Routes by confidence: auto-reject, human review, or pass</a:t>
            </a:r>
          </a:p>
        </p:txBody>
      </p:sp>
      <p:sp>
        <p:nvSpPr>
          <p:cNvPr id="14" name="TextBox 13"/>
          <p:cNvSpPr txBox="1"/>
          <p:nvPr/>
        </p:nvSpPr>
        <p:spPr>
          <a:xfrm>
            <a:off x="731520" y="3200400"/>
            <a:ext cx="4663440" cy="201168"/>
          </a:xfrm>
          <a:prstGeom prst="rect">
            <a:avLst/>
          </a:prstGeom>
          <a:noFill/>
        </p:spPr>
        <p:txBody>
          <a:bodyPr wrap="square" anchor="t" lIns="0" rIns="0" tIns="0" bIns="0">
            <a:normAutofit/>
          </a:bodyPr>
          <a:lstStyle/>
          <a:p>
            <a:pPr algn="l">
              <a:lnSpc>
                <a:spcPct val="105000"/>
              </a:lnSpc>
              <a:spcBef>
                <a:spcPts val="0"/>
              </a:spcBef>
            </a:pPr>
            <a:r>
              <a:rPr sz="1050" b="1" i="0">
                <a:solidFill>
                  <a:srgbClr val="00C9A7"/>
                </a:solidFill>
                <a:latin typeface="Calibri"/>
              </a:rPr>
              <a:t>sap-mes-agent</a:t>
            </a:r>
          </a:p>
        </p:txBody>
      </p:sp>
      <p:sp>
        <p:nvSpPr>
          <p:cNvPr id="15" name="TextBox 14"/>
          <p:cNvSpPr txBox="1"/>
          <p:nvPr/>
        </p:nvSpPr>
        <p:spPr>
          <a:xfrm>
            <a:off x="731520" y="3383280"/>
            <a:ext cx="4663440" cy="320040"/>
          </a:xfrm>
          <a:prstGeom prst="rect">
            <a:avLst/>
          </a:prstGeom>
          <a:noFill/>
        </p:spPr>
        <p:txBody>
          <a:bodyPr wrap="square" anchor="t" lIns="0" rIns="0" tIns="0" bIns="0">
            <a:normAutofit/>
          </a:bodyPr>
          <a:lstStyle/>
          <a:p>
            <a:pPr algn="l">
              <a:lnSpc>
                <a:spcPct val="100000"/>
              </a:lnSpc>
              <a:spcBef>
                <a:spcPts val="0"/>
              </a:spcBef>
            </a:pPr>
            <a:r>
              <a:rPr sz="850" b="0" i="0">
                <a:solidFill>
                  <a:srgbClr val="FFFFFF"/>
                </a:solidFill>
                <a:latin typeface="Calibri"/>
              </a:rPr>
              <a:t>Logs results to SAP MES, creates quality notifications</a:t>
            </a:r>
          </a:p>
        </p:txBody>
      </p:sp>
      <p:sp>
        <p:nvSpPr>
          <p:cNvPr id="16" name="Rounded Rectangle 15"/>
          <p:cNvSpPr/>
          <p:nvPr/>
        </p:nvSpPr>
        <p:spPr>
          <a:xfrm>
            <a:off x="5806440" y="1143000"/>
            <a:ext cx="5836615" cy="2560320"/>
          </a:xfrm>
          <a:prstGeom prst="roundRect">
            <a:avLst>
              <a:gd name="adj" fmla="val 6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9320" y="1280160"/>
            <a:ext cx="5470855" cy="201168"/>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MCP SERVERS</a:t>
            </a:r>
          </a:p>
        </p:txBody>
      </p:sp>
      <p:sp>
        <p:nvSpPr>
          <p:cNvPr id="18" name="TextBox 17"/>
          <p:cNvSpPr txBox="1"/>
          <p:nvPr/>
        </p:nvSpPr>
        <p:spPr>
          <a:xfrm>
            <a:off x="5989320" y="1554480"/>
            <a:ext cx="5470855" cy="182880"/>
          </a:xfrm>
          <a:prstGeom prst="rect">
            <a:avLst/>
          </a:prstGeom>
          <a:noFill/>
        </p:spPr>
        <p:txBody>
          <a:bodyPr wrap="square" anchor="t" lIns="0" rIns="0" tIns="0" bIns="0">
            <a:normAutofit/>
          </a:bodyPr>
          <a:lstStyle/>
          <a:p>
            <a:pPr algn="l">
              <a:lnSpc>
                <a:spcPct val="105000"/>
              </a:lnSpc>
              <a:spcBef>
                <a:spcPts val="0"/>
              </a:spcBef>
            </a:pPr>
            <a:r>
              <a:rPr sz="950" b="1" i="0">
                <a:solidFill>
                  <a:srgbClr val="F2A83B"/>
                </a:solidFill>
                <a:latin typeface="Calibri"/>
              </a:rPr>
              <a:t>vision-pipeline MCP (5 endpoints)  [TO BUILD]</a:t>
            </a:r>
          </a:p>
        </p:txBody>
      </p:sp>
      <p:sp>
        <p:nvSpPr>
          <p:cNvPr id="19" name="TextBox 18"/>
          <p:cNvSpPr txBox="1"/>
          <p:nvPr/>
        </p:nvSpPr>
        <p:spPr>
          <a:xfrm>
            <a:off x="5989320" y="1719072"/>
            <a:ext cx="5470855" cy="292608"/>
          </a:xfrm>
          <a:prstGeom prst="rect">
            <a:avLst/>
          </a:prstGeom>
          <a:noFill/>
        </p:spPr>
        <p:txBody>
          <a:bodyPr wrap="square" anchor="t" lIns="0" rIns="0" tIns="0" bIns="0">
            <a:normAutofit/>
          </a:bodyPr>
          <a:lstStyle/>
          <a:p>
            <a:pPr algn="l">
              <a:lnSpc>
                <a:spcPct val="100000"/>
              </a:lnSpc>
              <a:spcBef>
                <a:spcPts val="0"/>
              </a:spcBef>
            </a:pPr>
            <a:r>
              <a:rPr sz="800" b="0" i="0">
                <a:solidFill>
                  <a:srgbClr val="1B2B3C"/>
                </a:solidFill>
                <a:latin typeface="Calibri"/>
              </a:rPr>
              <a:t>capture_image, run_inference, classify_defect, get_defect_history, generate_quality_report</a:t>
            </a:r>
          </a:p>
        </p:txBody>
      </p:sp>
      <p:sp>
        <p:nvSpPr>
          <p:cNvPr id="20" name="TextBox 19"/>
          <p:cNvSpPr txBox="1"/>
          <p:nvPr/>
        </p:nvSpPr>
        <p:spPr>
          <a:xfrm>
            <a:off x="5989320" y="2057400"/>
            <a:ext cx="5470855" cy="182880"/>
          </a:xfrm>
          <a:prstGeom prst="rect">
            <a:avLst/>
          </a:prstGeom>
          <a:noFill/>
        </p:spPr>
        <p:txBody>
          <a:bodyPr wrap="square" anchor="t" lIns="0" rIns="0" tIns="0" bIns="0">
            <a:normAutofit/>
          </a:bodyPr>
          <a:lstStyle/>
          <a:p>
            <a:pPr algn="l">
              <a:lnSpc>
                <a:spcPct val="105000"/>
              </a:lnSpc>
              <a:spcBef>
                <a:spcPts val="0"/>
              </a:spcBef>
            </a:pPr>
            <a:r>
              <a:rPr sz="950" b="1" i="0">
                <a:solidFill>
                  <a:srgbClr val="F2A83B"/>
                </a:solidFill>
                <a:latin typeface="Calibri"/>
              </a:rPr>
              <a:t>sap-mes MCP (OData) (4 endpoints)  [TO BUILD]</a:t>
            </a:r>
          </a:p>
        </p:txBody>
      </p:sp>
      <p:sp>
        <p:nvSpPr>
          <p:cNvPr id="21" name="TextBox 20"/>
          <p:cNvSpPr txBox="1"/>
          <p:nvPr/>
        </p:nvSpPr>
        <p:spPr>
          <a:xfrm>
            <a:off x="5989320" y="2221992"/>
            <a:ext cx="5470855" cy="292608"/>
          </a:xfrm>
          <a:prstGeom prst="rect">
            <a:avLst/>
          </a:prstGeom>
          <a:noFill/>
        </p:spPr>
        <p:txBody>
          <a:bodyPr wrap="square" anchor="t" lIns="0" rIns="0" tIns="0" bIns="0">
            <a:normAutofit/>
          </a:bodyPr>
          <a:lstStyle/>
          <a:p>
            <a:pPr algn="l">
              <a:lnSpc>
                <a:spcPct val="100000"/>
              </a:lnSpc>
              <a:spcBef>
                <a:spcPts val="0"/>
              </a:spcBef>
            </a:pPr>
            <a:r>
              <a:rPr sz="800" b="0" i="0">
                <a:solidFill>
                  <a:srgbClr val="1B2B3C"/>
                </a:solidFill>
                <a:latin typeface="Calibri"/>
              </a:rPr>
              <a:t>log_inspection_result, get_production_order, update_quality_status, create_quality_notification</a:t>
            </a:r>
          </a:p>
        </p:txBody>
      </p:sp>
      <p:sp>
        <p:nvSpPr>
          <p:cNvPr id="22" name="Rounded Rectangle 21"/>
          <p:cNvSpPr/>
          <p:nvPr/>
        </p:nvSpPr>
        <p:spPr>
          <a:xfrm>
            <a:off x="548640" y="3840480"/>
            <a:ext cx="11094415" cy="68580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931920"/>
            <a:ext cx="1371600"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DEPLOYMENT</a:t>
            </a:r>
          </a:p>
        </p:txBody>
      </p:sp>
      <p:sp>
        <p:nvSpPr>
          <p:cNvPr id="24" name="TextBox 23"/>
          <p:cNvSpPr txBox="1"/>
          <p:nvPr/>
        </p:nvSpPr>
        <p:spPr>
          <a:xfrm>
            <a:off x="2194560" y="3931920"/>
            <a:ext cx="9265615" cy="182880"/>
          </a:xfrm>
          <a:prstGeom prst="rect">
            <a:avLst/>
          </a:prstGeom>
          <a:noFill/>
        </p:spPr>
        <p:txBody>
          <a:bodyPr wrap="square" anchor="t" lIns="0" rIns="0" tIns="0" bIns="0">
            <a:normAutofit/>
          </a:bodyPr>
          <a:lstStyle/>
          <a:p>
            <a:pPr algn="l">
              <a:lnSpc>
                <a:spcPct val="105000"/>
              </a:lnSpc>
              <a:spcBef>
                <a:spcPts val="0"/>
              </a:spcBef>
            </a:pPr>
            <a:r>
              <a:rPr sz="900" b="0" i="0">
                <a:solidFill>
                  <a:srgbClr val="FFFFFF"/>
                </a:solidFill>
                <a:latin typeface="Calibri"/>
              </a:rPr>
              <a:t>Edge: Jetson Orin NX per station | Line-speed 120/hr | OTA model updates</a:t>
            </a:r>
          </a:p>
        </p:txBody>
      </p:sp>
      <p:sp>
        <p:nvSpPr>
          <p:cNvPr id="25" name="TextBox 24"/>
          <p:cNvSpPr txBox="1"/>
          <p:nvPr/>
        </p:nvSpPr>
        <p:spPr>
          <a:xfrm>
            <a:off x="731520" y="4206240"/>
            <a:ext cx="10728655" cy="182880"/>
          </a:xfrm>
          <a:prstGeom prst="rect">
            <a:avLst/>
          </a:prstGeom>
          <a:noFill/>
        </p:spPr>
        <p:txBody>
          <a:bodyPr wrap="square" anchor="t" lIns="0" rIns="0" tIns="0" bIns="0">
            <a:normAutofit/>
          </a:bodyPr>
          <a:lstStyle/>
          <a:p>
            <a:pPr algn="l">
              <a:lnSpc>
                <a:spcPct val="105000"/>
              </a:lnSpc>
              <a:spcBef>
                <a:spcPts val="0"/>
              </a:spcBef>
            </a:pPr>
            <a:r>
              <a:rPr sz="850" b="1" i="0">
                <a:solidFill>
                  <a:srgbClr val="0A1628"/>
                </a:solidFill>
                <a:latin typeface="Calibri"/>
              </a:rPr>
              <a:t>Pattern: Agent(llm, tools) → Conversation(agent, workspace, plugins) | MCP config at platform level (config.toml)</a:t>
            </a:r>
          </a:p>
        </p:txBody>
      </p:sp>
      <p:sp>
        <p:nvSpPr>
          <p:cNvPr id="26" name="Rounded Rectangle 25"/>
          <p:cNvSpPr/>
          <p:nvPr/>
        </p:nvSpPr>
        <p:spPr>
          <a:xfrm>
            <a:off x="548640" y="4663440"/>
            <a:ext cx="11094415" cy="128016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75488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TECH STACK &amp; GITHUB</a:t>
            </a:r>
          </a:p>
        </p:txBody>
      </p:sp>
      <p:sp>
        <p:nvSpPr>
          <p:cNvPr id="28" name="TextBox 27"/>
          <p:cNvSpPr txBox="1"/>
          <p:nvPr/>
        </p:nvSpPr>
        <p:spPr>
          <a:xfrm>
            <a:off x="731520" y="4983480"/>
            <a:ext cx="3362858" cy="164592"/>
          </a:xfrm>
          <a:prstGeom prst="rect">
            <a:avLst/>
          </a:prstGeom>
          <a:noFill/>
        </p:spPr>
        <p:txBody>
          <a:bodyPr wrap="square" anchor="t" lIns="0" rIns="0" tIns="0" bIns="0">
            <a:normAutofit/>
          </a:bodyPr>
          <a:lstStyle/>
          <a:p>
            <a:pPr algn="l">
              <a:lnSpc>
                <a:spcPct val="105000"/>
              </a:lnSpc>
              <a:spcBef>
                <a:spcPts val="0"/>
              </a:spcBef>
            </a:pPr>
            <a:r>
              <a:rPr sz="850" b="1" i="0">
                <a:solidFill>
                  <a:srgbClr val="00C9A7"/>
                </a:solidFill>
                <a:latin typeface="Calibri"/>
              </a:rPr>
              <a:t>ultralytics/ultralytics</a:t>
            </a:r>
          </a:p>
        </p:txBody>
      </p:sp>
      <p:sp>
        <p:nvSpPr>
          <p:cNvPr id="29" name="TextBox 28"/>
          <p:cNvSpPr txBox="1"/>
          <p:nvPr/>
        </p:nvSpPr>
        <p:spPr>
          <a:xfrm>
            <a:off x="731520" y="5129784"/>
            <a:ext cx="3362858" cy="219456"/>
          </a:xfrm>
          <a:prstGeom prst="rect">
            <a:avLst/>
          </a:prstGeom>
          <a:noFill/>
        </p:spPr>
        <p:txBody>
          <a:bodyPr wrap="square" anchor="t" lIns="0" rIns="0" tIns="0" bIns="0">
            <a:normAutofit/>
          </a:bodyPr>
          <a:lstStyle/>
          <a:p>
            <a:pPr algn="l">
              <a:lnSpc>
                <a:spcPct val="105000"/>
              </a:lnSpc>
              <a:spcBef>
                <a:spcPts val="0"/>
              </a:spcBef>
            </a:pPr>
            <a:r>
              <a:rPr sz="750" b="0" i="0">
                <a:solidFill>
                  <a:srgbClr val="FFFFFF"/>
                </a:solidFill>
                <a:latin typeface="Calibri"/>
              </a:rPr>
              <a:t>YOLOv8 — real-time detection, ONNX export</a:t>
            </a:r>
          </a:p>
        </p:txBody>
      </p:sp>
      <p:sp>
        <p:nvSpPr>
          <p:cNvPr id="30" name="TextBox 29"/>
          <p:cNvSpPr txBox="1"/>
          <p:nvPr/>
        </p:nvSpPr>
        <p:spPr>
          <a:xfrm>
            <a:off x="4185818" y="4983480"/>
            <a:ext cx="3362858" cy="164592"/>
          </a:xfrm>
          <a:prstGeom prst="rect">
            <a:avLst/>
          </a:prstGeom>
          <a:noFill/>
        </p:spPr>
        <p:txBody>
          <a:bodyPr wrap="square" anchor="t" lIns="0" rIns="0" tIns="0" bIns="0">
            <a:normAutofit/>
          </a:bodyPr>
          <a:lstStyle/>
          <a:p>
            <a:pPr algn="l">
              <a:lnSpc>
                <a:spcPct val="105000"/>
              </a:lnSpc>
              <a:spcBef>
                <a:spcPts val="0"/>
              </a:spcBef>
            </a:pPr>
            <a:r>
              <a:rPr sz="850" b="1" i="0">
                <a:solidFill>
                  <a:srgbClr val="00C9A7"/>
                </a:solidFill>
                <a:latin typeface="Calibri"/>
              </a:rPr>
              <a:t>opencv/opencv</a:t>
            </a:r>
          </a:p>
        </p:txBody>
      </p:sp>
      <p:sp>
        <p:nvSpPr>
          <p:cNvPr id="31" name="TextBox 30"/>
          <p:cNvSpPr txBox="1"/>
          <p:nvPr/>
        </p:nvSpPr>
        <p:spPr>
          <a:xfrm>
            <a:off x="4185818" y="5129784"/>
            <a:ext cx="3362858" cy="219456"/>
          </a:xfrm>
          <a:prstGeom prst="rect">
            <a:avLst/>
          </a:prstGeom>
          <a:noFill/>
        </p:spPr>
        <p:txBody>
          <a:bodyPr wrap="square" anchor="t" lIns="0" rIns="0" tIns="0" bIns="0">
            <a:normAutofit/>
          </a:bodyPr>
          <a:lstStyle/>
          <a:p>
            <a:pPr algn="l">
              <a:lnSpc>
                <a:spcPct val="105000"/>
              </a:lnSpc>
              <a:spcBef>
                <a:spcPts val="0"/>
              </a:spcBef>
            </a:pPr>
            <a:r>
              <a:rPr sz="750" b="0" i="0">
                <a:solidFill>
                  <a:srgbClr val="FFFFFF"/>
                </a:solidFill>
                <a:latin typeface="Calibri"/>
              </a:rPr>
              <a:t>Camera capture, preprocessing, GigE Vision</a:t>
            </a:r>
          </a:p>
        </p:txBody>
      </p:sp>
      <p:sp>
        <p:nvSpPr>
          <p:cNvPr id="32" name="TextBox 31"/>
          <p:cNvSpPr txBox="1"/>
          <p:nvPr/>
        </p:nvSpPr>
        <p:spPr>
          <a:xfrm>
            <a:off x="7640116" y="4983480"/>
            <a:ext cx="3362858" cy="164592"/>
          </a:xfrm>
          <a:prstGeom prst="rect">
            <a:avLst/>
          </a:prstGeom>
          <a:noFill/>
        </p:spPr>
        <p:txBody>
          <a:bodyPr wrap="square" anchor="t" lIns="0" rIns="0" tIns="0" bIns="0">
            <a:normAutofit/>
          </a:bodyPr>
          <a:lstStyle/>
          <a:p>
            <a:pPr algn="l">
              <a:lnSpc>
                <a:spcPct val="105000"/>
              </a:lnSpc>
              <a:spcBef>
                <a:spcPts val="0"/>
              </a:spcBef>
            </a:pPr>
            <a:r>
              <a:rPr sz="850" b="1" i="0">
                <a:solidFill>
                  <a:srgbClr val="00C9A7"/>
                </a:solidFill>
                <a:latin typeface="Calibri"/>
              </a:rPr>
              <a:t>NVIDIA/TensorRT</a:t>
            </a:r>
          </a:p>
        </p:txBody>
      </p:sp>
      <p:sp>
        <p:nvSpPr>
          <p:cNvPr id="33" name="TextBox 32"/>
          <p:cNvSpPr txBox="1"/>
          <p:nvPr/>
        </p:nvSpPr>
        <p:spPr>
          <a:xfrm>
            <a:off x="7640116" y="5129784"/>
            <a:ext cx="3362858" cy="219456"/>
          </a:xfrm>
          <a:prstGeom prst="rect">
            <a:avLst/>
          </a:prstGeom>
          <a:noFill/>
        </p:spPr>
        <p:txBody>
          <a:bodyPr wrap="square" anchor="t" lIns="0" rIns="0" tIns="0" bIns="0">
            <a:normAutofit/>
          </a:bodyPr>
          <a:lstStyle/>
          <a:p>
            <a:pPr algn="l">
              <a:lnSpc>
                <a:spcPct val="105000"/>
              </a:lnSpc>
              <a:spcBef>
                <a:spcPts val="0"/>
              </a:spcBef>
            </a:pPr>
            <a:r>
              <a:rPr sz="750" b="0" i="0">
                <a:solidFill>
                  <a:srgbClr val="FFFFFF"/>
                </a:solidFill>
                <a:latin typeface="Calibri"/>
              </a:rPr>
              <a:t>Edge inference optimization for Jetson</a:t>
            </a:r>
          </a:p>
        </p:txBody>
      </p:sp>
      <p:sp>
        <p:nvSpPr>
          <p:cNvPr id="34" name="TextBox 33"/>
          <p:cNvSpPr txBox="1"/>
          <p:nvPr/>
        </p:nvSpPr>
        <p:spPr>
          <a:xfrm>
            <a:off x="731520" y="5422392"/>
            <a:ext cx="3362858" cy="164592"/>
          </a:xfrm>
          <a:prstGeom prst="rect">
            <a:avLst/>
          </a:prstGeom>
          <a:noFill/>
        </p:spPr>
        <p:txBody>
          <a:bodyPr wrap="square" anchor="t" lIns="0" rIns="0" tIns="0" bIns="0">
            <a:normAutofit/>
          </a:bodyPr>
          <a:lstStyle/>
          <a:p>
            <a:pPr algn="l">
              <a:lnSpc>
                <a:spcPct val="105000"/>
              </a:lnSpc>
              <a:spcBef>
                <a:spcPts val="0"/>
              </a:spcBef>
            </a:pPr>
            <a:r>
              <a:rPr sz="850" b="1" i="0">
                <a:solidFill>
                  <a:srgbClr val="00C9A7"/>
                </a:solidFill>
                <a:latin typeface="Calibri"/>
              </a:rPr>
              <a:t>minio/minio</a:t>
            </a:r>
          </a:p>
        </p:txBody>
      </p:sp>
      <p:sp>
        <p:nvSpPr>
          <p:cNvPr id="35" name="TextBox 34"/>
          <p:cNvSpPr txBox="1"/>
          <p:nvPr/>
        </p:nvSpPr>
        <p:spPr>
          <a:xfrm>
            <a:off x="731520" y="5568696"/>
            <a:ext cx="3362858" cy="219456"/>
          </a:xfrm>
          <a:prstGeom prst="rect">
            <a:avLst/>
          </a:prstGeom>
          <a:noFill/>
        </p:spPr>
        <p:txBody>
          <a:bodyPr wrap="square" anchor="t" lIns="0" rIns="0" tIns="0" bIns="0">
            <a:normAutofit/>
          </a:bodyPr>
          <a:lstStyle/>
          <a:p>
            <a:pPr algn="l">
              <a:lnSpc>
                <a:spcPct val="105000"/>
              </a:lnSpc>
              <a:spcBef>
                <a:spcPts val="0"/>
              </a:spcBef>
            </a:pPr>
            <a:r>
              <a:rPr sz="750" b="0" i="0">
                <a:solidFill>
                  <a:srgbClr val="FFFFFF"/>
                </a:solidFill>
                <a:latin typeface="Calibri"/>
              </a:rPr>
              <a:t>S3-compatible defect image storage</a:t>
            </a:r>
          </a:p>
        </p:txBody>
      </p:sp>
      <p:sp>
        <p:nvSpPr>
          <p:cNvPr id="36" name="Rounded Rectangle 35"/>
          <p:cNvSpPr/>
          <p:nvPr/>
        </p:nvSpPr>
        <p:spPr>
          <a:xfrm>
            <a:off x="548640" y="6080760"/>
            <a:ext cx="5455767" cy="274320"/>
          </a:xfrm>
          <a:prstGeom prst="roundRect">
            <a:avLst>
              <a:gd name="adj" fmla="val 3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6080760"/>
            <a:ext cx="5272887" cy="274320"/>
          </a:xfrm>
          <a:prstGeom prst="rect">
            <a:avLst/>
          </a:prstGeom>
          <a:noFill/>
        </p:spPr>
        <p:txBody>
          <a:bodyPr wrap="square" anchor="ctr" lIns="0" rIns="0" tIns="0" bIns="0">
            <a:normAutofit/>
          </a:bodyPr>
          <a:lstStyle/>
          <a:p>
            <a:pPr algn="l">
              <a:lnSpc>
                <a:spcPct val="105000"/>
              </a:lnSpc>
              <a:spcBef>
                <a:spcPts val="0"/>
              </a:spcBef>
            </a:pPr>
            <a:r>
              <a:rPr sz="700" b="1" i="0">
                <a:solidFill>
                  <a:srgbClr val="FFFFFF"/>
                </a:solidFill>
                <a:latin typeface="Calibri"/>
              </a:rPr>
              <a:t>SYSTEMS: SAP MES | GigE Vision | Jetson Orin | MinIO | SPC Dashboard</a:t>
            </a:r>
          </a:p>
        </p:txBody>
      </p:sp>
      <p:sp>
        <p:nvSpPr>
          <p:cNvPr id="38" name="Rounded Rectangle 37"/>
          <p:cNvSpPr/>
          <p:nvPr/>
        </p:nvSpPr>
        <p:spPr>
          <a:xfrm>
            <a:off x="6187287" y="6080760"/>
            <a:ext cx="5455767" cy="274320"/>
          </a:xfrm>
          <a:prstGeom prst="roundRect">
            <a:avLst>
              <a:gd name="adj" fmla="val 3000"/>
            </a:avLst>
          </a:prstGeom>
          <a:solidFill>
            <a:srgbClr val="008F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78727" y="6080760"/>
            <a:ext cx="5272887" cy="274320"/>
          </a:xfrm>
          <a:prstGeom prst="rect">
            <a:avLst/>
          </a:prstGeom>
          <a:noFill/>
        </p:spPr>
        <p:txBody>
          <a:bodyPr wrap="square" anchor="ctr" lIns="0" rIns="0" tIns="0" bIns="0">
            <a:normAutofit/>
          </a:bodyPr>
          <a:lstStyle/>
          <a:p>
            <a:pPr algn="l">
              <a:lnSpc>
                <a:spcPct val="105000"/>
              </a:lnSpc>
              <a:spcBef>
                <a:spcPts val="0"/>
              </a:spcBef>
            </a:pPr>
            <a:r>
              <a:rPr sz="700" b="1" i="0">
                <a:solidFill>
                  <a:srgbClr val="FFFFFF"/>
                </a:solidFill>
                <a:latin typeface="Calibri"/>
              </a:rPr>
              <a:t>USERS: Quality engineers | Line supervisors | Plant managers</a:t>
            </a:r>
          </a:p>
        </p:txBody>
      </p:sp>
      <p:sp>
        <p:nvSpPr>
          <p:cNvPr id="40" name="TextBox 3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19 / 82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Governance &amp; Compliance — UC-02</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Manufacturing — Standards, audits, and compliance requirements</a:t>
            </a:r>
          </a:p>
        </p:txBody>
      </p:sp>
      <p:sp>
        <p:nvSpPr>
          <p:cNvPr id="7" name="TextBox 6"/>
          <p:cNvSpPr txBox="1"/>
          <p:nvPr/>
        </p:nvSpPr>
        <p:spPr>
          <a:xfrm>
            <a:off x="548640" y="1600200"/>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IEC 62443 industrial cybersecurity for connected inspection stations</a:t>
            </a:r>
          </a:p>
        </p:txBody>
      </p:sp>
      <p:sp>
        <p:nvSpPr>
          <p:cNvPr id="8" name="TextBox 7"/>
          <p:cNvSpPr txBox="1"/>
          <p:nvPr/>
        </p:nvSpPr>
        <p:spPr>
          <a:xfrm>
            <a:off x="548640" y="2130552"/>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Image retention: 7 years minimum, AES-256 encrypted storage (MinIO)</a:t>
            </a:r>
          </a:p>
        </p:txBody>
      </p:sp>
      <p:sp>
        <p:nvSpPr>
          <p:cNvPr id="9" name="TextBox 8"/>
          <p:cNvSpPr txBox="1"/>
          <p:nvPr/>
        </p:nvSpPr>
        <p:spPr>
          <a:xfrm>
            <a:off x="548640" y="2660904"/>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Edge device certificate rotation every 90 days (automated via PKI)</a:t>
            </a:r>
          </a:p>
        </p:txBody>
      </p:sp>
      <p:sp>
        <p:nvSpPr>
          <p:cNvPr id="10" name="TextBox 9"/>
          <p:cNvSpPr txBox="1"/>
          <p:nvPr/>
        </p:nvSpPr>
        <p:spPr>
          <a:xfrm>
            <a:off x="548640" y="3191256"/>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Model version tracking: every deployment logged with accuracy metrics</a:t>
            </a:r>
          </a:p>
        </p:txBody>
      </p:sp>
      <p:sp>
        <p:nvSpPr>
          <p:cNvPr id="11" name="TextBox 10"/>
          <p:cNvSpPr txBox="1"/>
          <p:nvPr/>
        </p:nvSpPr>
        <p:spPr>
          <a:xfrm>
            <a:off x="548640" y="3721608"/>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Operator override audit trail: all manual decisions vs AI recommendations tracked</a:t>
            </a:r>
          </a:p>
        </p:txBody>
      </p:sp>
      <p:sp>
        <p:nvSpPr>
          <p:cNvPr id="12" name="TextBox 1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20 / 82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COMPETITIVE LANDSCAPE — UC-02 | MANUFACTURING</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18488"/>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Instrumental</a:t>
            </a:r>
          </a:p>
        </p:txBody>
      </p:sp>
      <p:sp>
        <p:nvSpPr>
          <p:cNvPr id="9" name="TextBox 8"/>
          <p:cNvSpPr txBox="1"/>
          <p:nvPr/>
        </p:nvSpPr>
        <p:spPr>
          <a:xfrm>
            <a:off x="3749040" y="1618488"/>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YC W14</a:t>
            </a:r>
          </a:p>
        </p:txBody>
      </p:sp>
      <p:sp>
        <p:nvSpPr>
          <p:cNvPr id="10" name="TextBox 9"/>
          <p:cNvSpPr txBox="1"/>
          <p:nvPr/>
        </p:nvSpPr>
        <p:spPr>
          <a:xfrm>
            <a:off x="731520" y="1892808"/>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SaaS visual inspection — broad but less customizable</a:t>
            </a:r>
          </a:p>
        </p:txBody>
      </p:sp>
      <p:sp>
        <p:nvSpPr>
          <p:cNvPr id="11" name="Rounded Rectangle 10"/>
          <p:cNvSpPr/>
          <p:nvPr/>
        </p:nvSpPr>
        <p:spPr>
          <a:xfrm>
            <a:off x="548640" y="2395728"/>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05456"/>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Landing AI</a:t>
            </a:r>
          </a:p>
        </p:txBody>
      </p:sp>
      <p:sp>
        <p:nvSpPr>
          <p:cNvPr id="13" name="TextBox 12"/>
          <p:cNvSpPr txBox="1"/>
          <p:nvPr/>
        </p:nvSpPr>
        <p:spPr>
          <a:xfrm>
            <a:off x="3749040" y="2505456"/>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Andrew Ng</a:t>
            </a:r>
          </a:p>
        </p:txBody>
      </p:sp>
      <p:sp>
        <p:nvSpPr>
          <p:cNvPr id="14" name="TextBox 13"/>
          <p:cNvSpPr txBox="1"/>
          <p:nvPr/>
        </p:nvSpPr>
        <p:spPr>
          <a:xfrm>
            <a:off x="731520" y="2779776"/>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Data-centric AI for manufacturing — high-touch, expensive consulting</a:t>
            </a:r>
          </a:p>
        </p:txBody>
      </p:sp>
      <p:sp>
        <p:nvSpPr>
          <p:cNvPr id="15" name="Rounded Rectangle 14"/>
          <p:cNvSpPr/>
          <p:nvPr/>
        </p:nvSpPr>
        <p:spPr>
          <a:xfrm>
            <a:off x="548640" y="3282696"/>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392424"/>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BMW AIQX</a:t>
            </a:r>
          </a:p>
        </p:txBody>
      </p:sp>
      <p:sp>
        <p:nvSpPr>
          <p:cNvPr id="17" name="TextBox 16"/>
          <p:cNvSpPr txBox="1"/>
          <p:nvPr/>
        </p:nvSpPr>
        <p:spPr>
          <a:xfrm>
            <a:off x="3749040" y="3392424"/>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All BMW plants</a:t>
            </a:r>
          </a:p>
        </p:txBody>
      </p:sp>
      <p:sp>
        <p:nvSpPr>
          <p:cNvPr id="18" name="TextBox 17"/>
          <p:cNvSpPr txBox="1"/>
          <p:nvPr/>
        </p:nvSpPr>
        <p:spPr>
          <a:xfrm>
            <a:off x="731520" y="3666744"/>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95-99% accuracy, 50% inspection time cut, 60% defect reduction — deployed worldwide</a:t>
            </a:r>
          </a:p>
        </p:txBody>
      </p:sp>
      <p:sp>
        <p:nvSpPr>
          <p:cNvPr id="19" name="Rounded Rectangle 18"/>
          <p:cNvSpPr/>
          <p:nvPr/>
        </p:nvSpPr>
        <p:spPr>
          <a:xfrm>
            <a:off x="548640" y="4169664"/>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279392"/>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Cognex</a:t>
            </a:r>
          </a:p>
        </p:txBody>
      </p:sp>
      <p:sp>
        <p:nvSpPr>
          <p:cNvPr id="21" name="TextBox 20"/>
          <p:cNvSpPr txBox="1"/>
          <p:nvPr/>
        </p:nvSpPr>
        <p:spPr>
          <a:xfrm>
            <a:off x="3749040" y="4279392"/>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Machine vision HW</a:t>
            </a:r>
          </a:p>
        </p:txBody>
      </p:sp>
      <p:sp>
        <p:nvSpPr>
          <p:cNvPr id="22" name="TextBox 21"/>
          <p:cNvSpPr txBox="1"/>
          <p:nvPr/>
        </p:nvSpPr>
        <p:spPr>
          <a:xfrm>
            <a:off x="731520" y="4553712"/>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Hardware-first, limited AI — strong optics, weak intelligence</a:t>
            </a:r>
          </a:p>
        </p:txBody>
      </p:sp>
      <p:sp>
        <p:nvSpPr>
          <p:cNvPr id="23" name="Rounded Rectangle 22"/>
          <p:cNvSpPr/>
          <p:nvPr/>
        </p:nvSpPr>
        <p:spPr>
          <a:xfrm>
            <a:off x="548640" y="5056632"/>
            <a:ext cx="11094415" cy="7772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166360"/>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FFFFFF"/>
                </a:solidFill>
                <a:latin typeface="Calibri"/>
              </a:rPr>
              <a:t>Our approach</a:t>
            </a:r>
          </a:p>
        </p:txBody>
      </p:sp>
      <p:sp>
        <p:nvSpPr>
          <p:cNvPr id="25" name="TextBox 24"/>
          <p:cNvSpPr txBox="1"/>
          <p:nvPr/>
        </p:nvSpPr>
        <p:spPr>
          <a:xfrm>
            <a:off x="3749040" y="5166360"/>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FFB800"/>
                </a:solidFill>
                <a:latin typeface="Calibri"/>
              </a:rPr>
              <a:t>Open-source stack</a:t>
            </a:r>
          </a:p>
        </p:txBody>
      </p:sp>
      <p:sp>
        <p:nvSpPr>
          <p:cNvPr id="26" name="TextBox 25"/>
          <p:cNvSpPr txBox="1"/>
          <p:nvPr/>
        </p:nvSpPr>
        <p:spPr>
          <a:xfrm>
            <a:off x="731520" y="5440680"/>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YOLOv8 + active learning + SAP MES integration, 4-6 week deploy</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21 / 82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5B6B7C"/>
                </a:solidFill>
                <a:latin typeface="Calibri"/>
              </a:rPr>
              <a:t>THE ACTUAL INSIGHT — UC-02</a:t>
            </a:r>
          </a:p>
        </p:txBody>
      </p:sp>
      <p:sp>
        <p:nvSpPr>
          <p:cNvPr id="5" name="Rounded Rectangle 4"/>
          <p:cNvSpPr/>
          <p:nvPr/>
        </p:nvSpPr>
        <p:spPr>
          <a:xfrm>
            <a:off x="548640" y="822960"/>
            <a:ext cx="11094415" cy="256032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005840"/>
            <a:ext cx="10545775" cy="2194560"/>
          </a:xfrm>
          <a:prstGeom prst="rect">
            <a:avLst/>
          </a:prstGeom>
          <a:noFill/>
        </p:spPr>
        <p:txBody>
          <a:bodyPr wrap="square" anchor="t" lIns="0" rIns="0" tIns="0" bIns="0">
            <a:normAutofit/>
          </a:bodyPr>
          <a:lstStyle/>
          <a:p>
            <a:pPr algn="l">
              <a:lnSpc>
                <a:spcPct val="115000"/>
              </a:lnSpc>
              <a:spcBef>
                <a:spcPts val="0"/>
              </a:spcBef>
            </a:pPr>
            <a:r>
              <a:rPr sz="1400" b="0" i="0">
                <a:solidFill>
                  <a:srgbClr val="FFFFFF"/>
                </a:solidFill>
                <a:latin typeface="Calibri"/>
              </a:rPr>
              <a:t>Human inspectors get tired. The camera doesn't. But they kept humans for the 0.3% the camera wasn't sure about. Best of both. The active learning loop is the key — every operator correction makes the model better.</a:t>
            </a:r>
          </a:p>
        </p:txBody>
      </p:sp>
      <p:sp>
        <p:nvSpPr>
          <p:cNvPr id="7" name="Rounded Rectangle 6"/>
          <p:cNvSpPr/>
          <p:nvPr/>
        </p:nvSpPr>
        <p:spPr>
          <a:xfrm>
            <a:off x="548640" y="3657600"/>
            <a:ext cx="3576218" cy="10058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767328"/>
            <a:ext cx="3301898" cy="182880"/>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BUYER</a:t>
            </a:r>
          </a:p>
        </p:txBody>
      </p:sp>
      <p:sp>
        <p:nvSpPr>
          <p:cNvPr id="9" name="TextBox 8"/>
          <p:cNvSpPr txBox="1"/>
          <p:nvPr/>
        </p:nvSpPr>
        <p:spPr>
          <a:xfrm>
            <a:off x="685800" y="4005072"/>
            <a:ext cx="3301898" cy="530352"/>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VP Quality / Quality Manager</a:t>
            </a:r>
          </a:p>
        </p:txBody>
      </p:sp>
      <p:sp>
        <p:nvSpPr>
          <p:cNvPr id="10" name="Rounded Rectangle 9"/>
          <p:cNvSpPr/>
          <p:nvPr/>
        </p:nvSpPr>
        <p:spPr>
          <a:xfrm>
            <a:off x="4307738" y="3657600"/>
            <a:ext cx="3576218" cy="10058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4898" y="3767328"/>
            <a:ext cx="3301898" cy="182880"/>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REVENUE MODEL</a:t>
            </a:r>
          </a:p>
        </p:txBody>
      </p:sp>
      <p:sp>
        <p:nvSpPr>
          <p:cNvPr id="12" name="TextBox 11"/>
          <p:cNvSpPr txBox="1"/>
          <p:nvPr/>
        </p:nvSpPr>
        <p:spPr>
          <a:xfrm>
            <a:off x="4444898" y="4005072"/>
            <a:ext cx="3301898" cy="530352"/>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$5-10K/mo per plant</a:t>
            </a:r>
          </a:p>
        </p:txBody>
      </p:sp>
      <p:sp>
        <p:nvSpPr>
          <p:cNvPr id="13" name="Rounded Rectangle 12"/>
          <p:cNvSpPr/>
          <p:nvPr/>
        </p:nvSpPr>
        <p:spPr>
          <a:xfrm>
            <a:off x="8066836" y="3657600"/>
            <a:ext cx="3576218" cy="10058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3996" y="3767328"/>
            <a:ext cx="3301898" cy="182880"/>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DEPLOYMENT</a:t>
            </a:r>
          </a:p>
        </p:txBody>
      </p:sp>
      <p:sp>
        <p:nvSpPr>
          <p:cNvPr id="15" name="TextBox 14"/>
          <p:cNvSpPr txBox="1"/>
          <p:nvPr/>
        </p:nvSpPr>
        <p:spPr>
          <a:xfrm>
            <a:off x="8203996" y="4005072"/>
            <a:ext cx="3301898" cy="530352"/>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Edge: Jetson Orin NX per station</a:t>
            </a:r>
          </a:p>
        </p:txBody>
      </p:sp>
      <p:sp>
        <p:nvSpPr>
          <p:cNvPr id="16" name="TextBox 15"/>
          <p:cNvSpPr txBox="1"/>
          <p:nvPr/>
        </p:nvSpPr>
        <p:spPr>
          <a:xfrm>
            <a:off x="548640" y="4937760"/>
            <a:ext cx="11094415" cy="18288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Source: GBrain impl spec UC-MFG-02 + Hyundai framework</a:t>
            </a:r>
          </a:p>
        </p:txBody>
      </p:sp>
      <p:sp>
        <p:nvSpPr>
          <p:cNvPr id="17" name="TextBox 1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22 / 82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1094415"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02</a:t>
            </a:r>
          </a:p>
        </p:txBody>
      </p:sp>
      <p:sp>
        <p:nvSpPr>
          <p:cNvPr id="5" name="TextBox 4"/>
          <p:cNvSpPr txBox="1"/>
          <p:nvPr/>
        </p:nvSpPr>
        <p:spPr>
          <a:xfrm>
            <a:off x="548640" y="2240280"/>
            <a:ext cx="11094415" cy="822960"/>
          </a:xfrm>
          <a:prstGeom prst="rect">
            <a:avLst/>
          </a:prstGeom>
          <a:noFill/>
        </p:spPr>
        <p:txBody>
          <a:bodyPr wrap="square" anchor="t" lIns="0" rIns="0" tIns="0" bIns="0">
            <a:normAutofit/>
          </a:bodyPr>
          <a:lstStyle/>
          <a:p>
            <a:pPr algn="l">
              <a:lnSpc>
                <a:spcPct val="105000"/>
              </a:lnSpc>
              <a:spcBef>
                <a:spcPts val="0"/>
              </a:spcBef>
            </a:pPr>
            <a:r>
              <a:rPr sz="3600" b="1" i="0">
                <a:solidFill>
                  <a:srgbClr val="FFFFFF"/>
                </a:solidFill>
                <a:latin typeface="Calibri"/>
              </a:rPr>
              <a:t>Healthcare</a:t>
            </a:r>
          </a:p>
        </p:txBody>
      </p:sp>
      <p:sp>
        <p:nvSpPr>
          <p:cNvPr id="6" name="TextBox 5"/>
          <p:cNvSpPr txBox="1"/>
          <p:nvPr/>
        </p:nvSpPr>
        <p:spPr>
          <a:xfrm>
            <a:off x="548640" y="3108960"/>
            <a:ext cx="11094415" cy="274320"/>
          </a:xfrm>
          <a:prstGeom prst="rect">
            <a:avLst/>
          </a:prstGeom>
          <a:noFill/>
        </p:spPr>
        <p:txBody>
          <a:bodyPr wrap="square" anchor="t" lIns="0" rIns="0" tIns="0" bIns="0">
            <a:noAutofit/>
          </a:bodyPr>
          <a:lstStyle/>
          <a:p>
            <a:pPr algn="l">
              <a:lnSpc>
                <a:spcPct val="105000"/>
              </a:lnSpc>
              <a:spcBef>
                <a:spcPts val="0"/>
              </a:spcBef>
            </a:pPr>
            <a:r>
              <a:rPr sz="1400" b="1" i="0">
                <a:solidFill>
                  <a:srgbClr val="FFB800"/>
                </a:solidFill>
                <a:latin typeface="Calibri"/>
              </a:rPr>
              <a:t>UC-03 | UC-04</a:t>
            </a:r>
          </a:p>
        </p:txBody>
      </p:sp>
      <p:sp>
        <p:nvSpPr>
          <p:cNvPr id="7" name="Rectangle 6"/>
          <p:cNvSpPr/>
          <p:nvPr/>
        </p:nvSpPr>
        <p:spPr>
          <a:xfrm>
            <a:off x="548640" y="3566160"/>
            <a:ext cx="3657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749039"/>
            <a:ext cx="11094415" cy="365760"/>
          </a:xfrm>
          <a:prstGeom prst="rect">
            <a:avLst/>
          </a:prstGeom>
          <a:noFill/>
        </p:spPr>
        <p:txBody>
          <a:bodyPr wrap="square" anchor="t" lIns="0" rIns="0" tIns="0" bIns="0">
            <a:normAutofit/>
          </a:bodyPr>
          <a:lstStyle/>
          <a:p>
            <a:pPr algn="l">
              <a:lnSpc>
                <a:spcPct val="105000"/>
              </a:lnSpc>
              <a:spcBef>
                <a:spcPts val="0"/>
              </a:spcBef>
            </a:pPr>
            <a:r>
              <a:rPr sz="1200" b="0" i="0">
                <a:solidFill>
                  <a:srgbClr val="E0F7F1"/>
                </a:solidFill>
                <a:latin typeface="Calibri"/>
              </a:rPr>
              <a:t>Automate the paperwork, augment the clinician</a:t>
            </a:r>
          </a:p>
        </p:txBody>
      </p:sp>
      <p:sp>
        <p:nvSpPr>
          <p:cNvPr id="9" name="TextBox 8"/>
          <p:cNvSpPr txBox="1"/>
          <p:nvPr/>
        </p:nvSpPr>
        <p:spPr>
          <a:xfrm>
            <a:off x="548640" y="6217920"/>
            <a:ext cx="11094415" cy="2743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AI Market Research · AI Use Cases — Full Pipeline | 2026</a:t>
            </a:r>
          </a:p>
        </p:txBody>
      </p:sp>
      <p:sp>
        <p:nvSpPr>
          <p:cNvPr id="10" name="TextBox 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23 / 82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UC-03 | HEALTHCARE</a:t>
            </a:r>
          </a:p>
        </p:txBody>
      </p:sp>
      <p:sp>
        <p:nvSpPr>
          <p:cNvPr id="5" name="TextBox 4"/>
          <p:cNvSpPr txBox="1"/>
          <p:nvPr/>
        </p:nvSpPr>
        <p:spPr>
          <a:xfrm>
            <a:off x="548640" y="1691640"/>
            <a:ext cx="11094415" cy="731520"/>
          </a:xfrm>
          <a:prstGeom prst="rect">
            <a:avLst/>
          </a:prstGeom>
          <a:noFill/>
        </p:spPr>
        <p:txBody>
          <a:bodyPr wrap="square" anchor="t" lIns="0" rIns="0" tIns="0" bIns="0">
            <a:normAutofit/>
          </a:bodyPr>
          <a:lstStyle/>
          <a:p>
            <a:pPr algn="l">
              <a:lnSpc>
                <a:spcPct val="105000"/>
              </a:lnSpc>
              <a:spcBef>
                <a:spcPts val="0"/>
              </a:spcBef>
            </a:pPr>
            <a:r>
              <a:rPr sz="2800" b="1" i="0">
                <a:solidFill>
                  <a:srgbClr val="FFFFFF"/>
                </a:solidFill>
                <a:latin typeface="Calibri"/>
              </a:rPr>
              <a:t>Patient Intake Automation — Form → EHR → Insurance → Booking</a:t>
            </a:r>
          </a:p>
        </p:txBody>
      </p:sp>
      <p:sp>
        <p:nvSpPr>
          <p:cNvPr id="6" name="TextBox 5"/>
          <p:cNvSpPr txBox="1"/>
          <p:nvPr/>
        </p:nvSpPr>
        <p:spPr>
          <a:xfrm>
            <a:off x="548640" y="2514600"/>
            <a:ext cx="11094415" cy="274320"/>
          </a:xfrm>
          <a:prstGeom prst="rect">
            <a:avLst/>
          </a:prstGeom>
          <a:noFill/>
        </p:spPr>
        <p:txBody>
          <a:bodyPr wrap="square" anchor="t" lIns="0" rIns="0" tIns="0" bIns="0">
            <a:normAutofit/>
          </a:bodyPr>
          <a:lstStyle/>
          <a:p>
            <a:pPr algn="l">
              <a:lnSpc>
                <a:spcPct val="105000"/>
              </a:lnSpc>
              <a:spcBef>
                <a:spcPts val="0"/>
              </a:spcBef>
            </a:pPr>
            <a:r>
              <a:rPr sz="1400" b="1" i="0">
                <a:solidFill>
                  <a:srgbClr val="FFB800"/>
                </a:solidFill>
                <a:latin typeface="Calibri"/>
              </a:rPr>
              <a:t>3-agent pipeline: 80% staff time saved, &lt;30 sec insurance verification</a:t>
            </a:r>
          </a:p>
        </p:txBody>
      </p:sp>
      <p:sp>
        <p:nvSpPr>
          <p:cNvPr id="7" name="TextBox 6"/>
          <p:cNvSpPr txBox="1"/>
          <p:nvPr/>
        </p:nvSpPr>
        <p:spPr>
          <a:xfrm>
            <a:off x="548640" y="2926080"/>
            <a:ext cx="11094415" cy="274320"/>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Reference Architecture (FHIR + Twilio + Calendly)  |  Implementation-ready, HIPAA-compliant</a:t>
            </a:r>
          </a:p>
        </p:txBody>
      </p:sp>
      <p:sp>
        <p:nvSpPr>
          <p:cNvPr id="8" name="Rounded Rectangle 7"/>
          <p:cNvSpPr/>
          <p:nvPr/>
        </p:nvSpPr>
        <p:spPr>
          <a:xfrm>
            <a:off x="548640" y="3383280"/>
            <a:ext cx="2011680" cy="29260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383280"/>
            <a:ext cx="1737360" cy="292608"/>
          </a:xfrm>
          <a:prstGeom prst="rect">
            <a:avLst/>
          </a:prstGeom>
          <a:noFill/>
        </p:spPr>
        <p:txBody>
          <a:bodyPr wrap="square" anchor="ctr" lIns="0" rIns="0" tIns="0" bIns="0">
            <a:noAutofit/>
          </a:bodyPr>
          <a:lstStyle/>
          <a:p>
            <a:pPr algn="l">
              <a:lnSpc>
                <a:spcPct val="105000"/>
              </a:lnSpc>
              <a:spcBef>
                <a:spcPts val="0"/>
              </a:spcBef>
            </a:pPr>
            <a:r>
              <a:rPr sz="1000" b="1" i="0">
                <a:solidFill>
                  <a:srgbClr val="FFFFFF"/>
                </a:solidFill>
                <a:latin typeface="Calibri"/>
              </a:rPr>
              <a:t>VERTICAL SCORE: Viable</a:t>
            </a:r>
          </a:p>
        </p:txBody>
      </p:sp>
      <p:sp>
        <p:nvSpPr>
          <p:cNvPr id="10" name="TextBox 9"/>
          <p:cNvSpPr txBox="1"/>
          <p:nvPr/>
        </p:nvSpPr>
        <p:spPr>
          <a:xfrm>
            <a:off x="548640" y="3931920"/>
            <a:ext cx="11094415" cy="2743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Source: GBrain impl spec + AI Engineering Framework</a:t>
            </a:r>
          </a:p>
        </p:txBody>
      </p:sp>
      <p:sp>
        <p:nvSpPr>
          <p:cNvPr id="11" name="TextBox 1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24 / 82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40% of Staff Time Consumed by Paperwork</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UC-03 | HEALTHCARE — The Problem</a:t>
            </a:r>
          </a:p>
        </p:txBody>
      </p:sp>
      <p:sp>
        <p:nvSpPr>
          <p:cNvPr id="7" name="Rounded Rectangle 6"/>
          <p:cNvSpPr/>
          <p:nvPr/>
        </p:nvSpPr>
        <p:spPr>
          <a:xfrm>
            <a:off x="548640" y="160020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160020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01</a:t>
            </a:r>
          </a:p>
        </p:txBody>
      </p:sp>
      <p:sp>
        <p:nvSpPr>
          <p:cNvPr id="9" name="TextBox 8"/>
          <p:cNvSpPr txBox="1"/>
          <p:nvPr/>
        </p:nvSpPr>
        <p:spPr>
          <a:xfrm>
            <a:off x="1060704" y="165506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Manual intake: 12-15 minutes per patient, 40% of staff time consumed by paperwork</a:t>
            </a:r>
          </a:p>
        </p:txBody>
      </p:sp>
      <p:sp>
        <p:nvSpPr>
          <p:cNvPr id="10" name="Rounded Rectangle 9"/>
          <p:cNvSpPr/>
          <p:nvPr/>
        </p:nvSpPr>
        <p:spPr>
          <a:xfrm>
            <a:off x="548640" y="2258568"/>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58568"/>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02</a:t>
            </a:r>
          </a:p>
        </p:txBody>
      </p:sp>
      <p:sp>
        <p:nvSpPr>
          <p:cNvPr id="12" name="TextBox 11"/>
          <p:cNvSpPr txBox="1"/>
          <p:nvPr/>
        </p:nvSpPr>
        <p:spPr>
          <a:xfrm>
            <a:off x="1060704" y="2313432"/>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Insurance verification: 270/271 EDI calls take 3-8 minutes per patient manually</a:t>
            </a:r>
          </a:p>
        </p:txBody>
      </p:sp>
      <p:sp>
        <p:nvSpPr>
          <p:cNvPr id="13" name="Rounded Rectangle 12"/>
          <p:cNvSpPr/>
          <p:nvPr/>
        </p:nvSpPr>
        <p:spPr>
          <a:xfrm>
            <a:off x="548640" y="2916936"/>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 y="2916936"/>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03</a:t>
            </a:r>
          </a:p>
        </p:txBody>
      </p:sp>
      <p:sp>
        <p:nvSpPr>
          <p:cNvPr id="15" name="TextBox 14"/>
          <p:cNvSpPr txBox="1"/>
          <p:nvPr/>
        </p:nvSpPr>
        <p:spPr>
          <a:xfrm>
            <a:off x="1060704" y="2971800"/>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No-show rate 18-25% due to lack of automated reminders and cost transparency</a:t>
            </a:r>
          </a:p>
        </p:txBody>
      </p:sp>
      <p:sp>
        <p:nvSpPr>
          <p:cNvPr id="16" name="Rounded Rectangle 15"/>
          <p:cNvSpPr/>
          <p:nvPr/>
        </p:nvSpPr>
        <p:spPr>
          <a:xfrm>
            <a:off x="548640" y="3575304"/>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3575304"/>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04</a:t>
            </a:r>
          </a:p>
        </p:txBody>
      </p:sp>
      <p:sp>
        <p:nvSpPr>
          <p:cNvPr id="18" name="TextBox 17"/>
          <p:cNvSpPr txBox="1"/>
          <p:nvPr/>
        </p:nvSpPr>
        <p:spPr>
          <a:xfrm>
            <a:off x="1060704" y="3630168"/>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HIPAA compliance burden: every PHI access must be logged and audited</a:t>
            </a:r>
          </a:p>
        </p:txBody>
      </p:sp>
      <p:sp>
        <p:nvSpPr>
          <p:cNvPr id="19" name="Rounded Rectangle 18"/>
          <p:cNvSpPr/>
          <p:nvPr/>
        </p:nvSpPr>
        <p:spPr>
          <a:xfrm>
            <a:off x="548640" y="4233672"/>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 y="4233672"/>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05</a:t>
            </a:r>
          </a:p>
        </p:txBody>
      </p:sp>
      <p:sp>
        <p:nvSpPr>
          <p:cNvPr id="21" name="TextBox 20"/>
          <p:cNvSpPr txBox="1"/>
          <p:nvPr/>
        </p:nvSpPr>
        <p:spPr>
          <a:xfrm>
            <a:off x="1060704" y="4288536"/>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Fragmented workflow: EHR, insurance portal, scheduling tool, SMS — all separate</a:t>
            </a:r>
          </a:p>
        </p:txBody>
      </p:sp>
      <p:sp>
        <p:nvSpPr>
          <p:cNvPr id="22" name="Rounded Rectangle 21"/>
          <p:cNvSpPr/>
          <p:nvPr/>
        </p:nvSpPr>
        <p:spPr>
          <a:xfrm>
            <a:off x="548640" y="489204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489204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06</a:t>
            </a:r>
          </a:p>
        </p:txBody>
      </p:sp>
      <p:sp>
        <p:nvSpPr>
          <p:cNvPr id="24" name="TextBox 23"/>
          <p:cNvSpPr txBox="1"/>
          <p:nvPr/>
        </p:nvSpPr>
        <p:spPr>
          <a:xfrm>
            <a:off x="1060704" y="494690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Prior authorization is bureaucratic, not clinical — most requests meet standard criteria</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25 / 82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3 Agents + 3 MCP Servers = End-to-End Automation</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UC-03 | HEALTHCARE — How It's Realized</a:t>
            </a:r>
          </a:p>
        </p:txBody>
      </p:sp>
      <p:sp>
        <p:nvSpPr>
          <p:cNvPr id="7" name="Rounded Rectangle 6"/>
          <p:cNvSpPr/>
          <p:nvPr/>
        </p:nvSpPr>
        <p:spPr>
          <a:xfrm>
            <a:off x="548640" y="1600200"/>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160020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01</a:t>
            </a:r>
          </a:p>
        </p:txBody>
      </p:sp>
      <p:sp>
        <p:nvSpPr>
          <p:cNvPr id="9" name="TextBox 8"/>
          <p:cNvSpPr txBox="1"/>
          <p:nvPr/>
        </p:nvSpPr>
        <p:spPr>
          <a:xfrm>
            <a:off x="1060704" y="165506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3-agent pipeline: intake-agent → insurance-verification-agent → scheduling-agent</a:t>
            </a:r>
          </a:p>
        </p:txBody>
      </p:sp>
      <p:sp>
        <p:nvSpPr>
          <p:cNvPr id="10" name="Rounded Rectangle 9"/>
          <p:cNvSpPr/>
          <p:nvPr/>
        </p:nvSpPr>
        <p:spPr>
          <a:xfrm>
            <a:off x="548640" y="2258568"/>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58568"/>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02</a:t>
            </a:r>
          </a:p>
        </p:txBody>
      </p:sp>
      <p:sp>
        <p:nvSpPr>
          <p:cNvPr id="12" name="TextBox 11"/>
          <p:cNvSpPr txBox="1"/>
          <p:nvPr/>
        </p:nvSpPr>
        <p:spPr>
          <a:xfrm>
            <a:off x="1060704" y="2313432"/>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FHIR R4 MCP server: create_patient, get_insurance_eligibility, submit_claim</a:t>
            </a:r>
          </a:p>
        </p:txBody>
      </p:sp>
      <p:sp>
        <p:nvSpPr>
          <p:cNvPr id="13" name="Rounded Rectangle 12"/>
          <p:cNvSpPr/>
          <p:nvPr/>
        </p:nvSpPr>
        <p:spPr>
          <a:xfrm>
            <a:off x="548640" y="2916936"/>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 y="2916936"/>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03</a:t>
            </a:r>
          </a:p>
        </p:txBody>
      </p:sp>
      <p:sp>
        <p:nvSpPr>
          <p:cNvPr id="15" name="TextBox 14"/>
          <p:cNvSpPr txBox="1"/>
          <p:nvPr/>
        </p:nvSpPr>
        <p:spPr>
          <a:xfrm>
            <a:off x="1060704" y="2971800"/>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Automated SMS reminders via Twilio MCP: confirmation, cost estimate, 24h reminder</a:t>
            </a:r>
          </a:p>
        </p:txBody>
      </p:sp>
      <p:sp>
        <p:nvSpPr>
          <p:cNvPr id="16" name="Rounded Rectangle 15"/>
          <p:cNvSpPr/>
          <p:nvPr/>
        </p:nvSpPr>
        <p:spPr>
          <a:xfrm>
            <a:off x="548640" y="3575304"/>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3575304"/>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04</a:t>
            </a:r>
          </a:p>
        </p:txBody>
      </p:sp>
      <p:sp>
        <p:nvSpPr>
          <p:cNvPr id="18" name="TextBox 17"/>
          <p:cNvSpPr txBox="1"/>
          <p:nvPr/>
        </p:nvSpPr>
        <p:spPr>
          <a:xfrm>
            <a:off x="1060704" y="3630168"/>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OpenHands Docker sandbox isolates PHI — never leaves infrastructure perimeter</a:t>
            </a:r>
          </a:p>
        </p:txBody>
      </p:sp>
      <p:sp>
        <p:nvSpPr>
          <p:cNvPr id="19" name="Rounded Rectangle 18"/>
          <p:cNvSpPr/>
          <p:nvPr/>
        </p:nvSpPr>
        <p:spPr>
          <a:xfrm>
            <a:off x="548640" y="4233672"/>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 y="4233672"/>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05</a:t>
            </a:r>
          </a:p>
        </p:txBody>
      </p:sp>
      <p:sp>
        <p:nvSpPr>
          <p:cNvPr id="21" name="TextBox 20"/>
          <p:cNvSpPr txBox="1"/>
          <p:nvPr/>
        </p:nvSpPr>
        <p:spPr>
          <a:xfrm>
            <a:off x="1060704" y="4288536"/>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Confidence routing: standard cases automated, edge cases to nurse review</a:t>
            </a:r>
          </a:p>
        </p:txBody>
      </p:sp>
      <p:sp>
        <p:nvSpPr>
          <p:cNvPr id="22" name="Rounded Rectangle 21"/>
          <p:cNvSpPr/>
          <p:nvPr/>
        </p:nvSpPr>
        <p:spPr>
          <a:xfrm>
            <a:off x="548640" y="4892040"/>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489204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06</a:t>
            </a:r>
          </a:p>
        </p:txBody>
      </p:sp>
      <p:sp>
        <p:nvSpPr>
          <p:cNvPr id="24" name="TextBox 23"/>
          <p:cNvSpPr txBox="1"/>
          <p:nvPr/>
        </p:nvSpPr>
        <p:spPr>
          <a:xfrm>
            <a:off x="1060704" y="494690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Post-visit: update_patient + submit_claim (837 EDI) — closes the loop</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26 / 82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KEY METRICS — UC-03 | HEALTHCARE</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80%</a:t>
            </a:r>
          </a:p>
        </p:txBody>
      </p:sp>
      <p:sp>
        <p:nvSpPr>
          <p:cNvPr id="9" name="TextBox 8"/>
          <p:cNvSpPr txBox="1"/>
          <p:nvPr/>
        </p:nvSpPr>
        <p:spPr>
          <a:xfrm>
            <a:off x="685800"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Staff Time Saved</a:t>
            </a:r>
          </a:p>
        </p:txBody>
      </p:sp>
      <p:sp>
        <p:nvSpPr>
          <p:cNvPr id="10" name="TextBox 9"/>
          <p:cNvSpPr txBox="1"/>
          <p:nvPr/>
        </p:nvSpPr>
        <p:spPr>
          <a:xfrm>
            <a:off x="685800"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Intake + verification + scheduling automated</a:t>
            </a:r>
          </a:p>
        </p:txBody>
      </p:sp>
      <p:sp>
        <p:nvSpPr>
          <p:cNvPr id="11" name="Rounded Rectangle 10"/>
          <p:cNvSpPr/>
          <p:nvPr/>
        </p:nvSpPr>
        <p:spPr>
          <a:xfrm>
            <a:off x="4313834"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50994"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&lt;30 sec</a:t>
            </a:r>
          </a:p>
        </p:txBody>
      </p:sp>
      <p:sp>
        <p:nvSpPr>
          <p:cNvPr id="13" name="TextBox 12"/>
          <p:cNvSpPr txBox="1"/>
          <p:nvPr/>
        </p:nvSpPr>
        <p:spPr>
          <a:xfrm>
            <a:off x="4450994"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Insurance Check</a:t>
            </a:r>
          </a:p>
        </p:txBody>
      </p:sp>
      <p:sp>
        <p:nvSpPr>
          <p:cNvPr id="14" name="TextBox 13"/>
          <p:cNvSpPr txBox="1"/>
          <p:nvPr/>
        </p:nvSpPr>
        <p:spPr>
          <a:xfrm>
            <a:off x="4450994"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vs 3-8 min manual 270/271 EDI</a:t>
            </a:r>
          </a:p>
        </p:txBody>
      </p:sp>
      <p:sp>
        <p:nvSpPr>
          <p:cNvPr id="15" name="Rounded Rectangle 14"/>
          <p:cNvSpPr/>
          <p:nvPr/>
        </p:nvSpPr>
        <p:spPr>
          <a:xfrm>
            <a:off x="8079028"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6188"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40%</a:t>
            </a:r>
          </a:p>
        </p:txBody>
      </p:sp>
      <p:sp>
        <p:nvSpPr>
          <p:cNvPr id="17" name="TextBox 16"/>
          <p:cNvSpPr txBox="1"/>
          <p:nvPr/>
        </p:nvSpPr>
        <p:spPr>
          <a:xfrm>
            <a:off x="8216188"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No-Show Reduction</a:t>
            </a:r>
          </a:p>
        </p:txBody>
      </p:sp>
      <p:sp>
        <p:nvSpPr>
          <p:cNvPr id="18" name="TextBox 17"/>
          <p:cNvSpPr txBox="1"/>
          <p:nvPr/>
        </p:nvSpPr>
        <p:spPr>
          <a:xfrm>
            <a:off x="8216188"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SMS reminders + cost transparency</a:t>
            </a:r>
          </a:p>
        </p:txBody>
      </p:sp>
      <p:sp>
        <p:nvSpPr>
          <p:cNvPr id="19" name="Rounded Rectangle 18"/>
          <p:cNvSpPr/>
          <p:nvPr/>
        </p:nvSpPr>
        <p:spPr>
          <a:xfrm>
            <a:off x="548640"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HIPAA</a:t>
            </a:r>
          </a:p>
        </p:txBody>
      </p:sp>
      <p:sp>
        <p:nvSpPr>
          <p:cNvPr id="21" name="TextBox 20"/>
          <p:cNvSpPr txBox="1"/>
          <p:nvPr/>
        </p:nvSpPr>
        <p:spPr>
          <a:xfrm>
            <a:off x="685800"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Compliant by Design</a:t>
            </a:r>
          </a:p>
        </p:txBody>
      </p:sp>
      <p:sp>
        <p:nvSpPr>
          <p:cNvPr id="22" name="TextBox 21"/>
          <p:cNvSpPr txBox="1"/>
          <p:nvPr/>
        </p:nvSpPr>
        <p:spPr>
          <a:xfrm>
            <a:off x="685800"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AES-256, TLS 1.3, Docker sandbox, BAA</a:t>
            </a:r>
          </a:p>
        </p:txBody>
      </p:sp>
      <p:sp>
        <p:nvSpPr>
          <p:cNvPr id="23" name="Rounded Rectangle 22"/>
          <p:cNvSpPr/>
          <p:nvPr/>
        </p:nvSpPr>
        <p:spPr>
          <a:xfrm>
            <a:off x="4313834"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50994"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3</a:t>
            </a:r>
          </a:p>
        </p:txBody>
      </p:sp>
      <p:sp>
        <p:nvSpPr>
          <p:cNvPr id="25" name="TextBox 24"/>
          <p:cNvSpPr txBox="1"/>
          <p:nvPr/>
        </p:nvSpPr>
        <p:spPr>
          <a:xfrm>
            <a:off x="4450994"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MCP Integrations</a:t>
            </a:r>
          </a:p>
        </p:txBody>
      </p:sp>
      <p:sp>
        <p:nvSpPr>
          <p:cNvPr id="26" name="TextBox 25"/>
          <p:cNvSpPr txBox="1"/>
          <p:nvPr/>
        </p:nvSpPr>
        <p:spPr>
          <a:xfrm>
            <a:off x="4450994"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FHIR R4 + Twilio + Calendly</a:t>
            </a:r>
          </a:p>
        </p:txBody>
      </p:sp>
      <p:sp>
        <p:nvSpPr>
          <p:cNvPr id="27" name="Rounded Rectangle 26"/>
          <p:cNvSpPr/>
          <p:nvPr/>
        </p:nvSpPr>
        <p:spPr>
          <a:xfrm>
            <a:off x="8079028"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6188"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$3-5K/mo</a:t>
            </a:r>
          </a:p>
        </p:txBody>
      </p:sp>
      <p:sp>
        <p:nvSpPr>
          <p:cNvPr id="29" name="TextBox 28"/>
          <p:cNvSpPr txBox="1"/>
          <p:nvPr/>
        </p:nvSpPr>
        <p:spPr>
          <a:xfrm>
            <a:off x="8216188"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Revenue Per Practice</a:t>
            </a:r>
          </a:p>
        </p:txBody>
      </p:sp>
      <p:sp>
        <p:nvSpPr>
          <p:cNvPr id="30" name="TextBox 29"/>
          <p:cNvSpPr txBox="1"/>
          <p:nvPr/>
        </p:nvSpPr>
        <p:spPr>
          <a:xfrm>
            <a:off x="8216188"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Per-practice subscription model</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27 / 82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HOW IT WORKS — UC-03 | HEALTHCARE</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11094415" cy="530352"/>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63624"/>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1</a:t>
            </a:r>
          </a:p>
        </p:txBody>
      </p:sp>
      <p:sp>
        <p:nvSpPr>
          <p:cNvPr id="9" name="TextBox 8"/>
          <p:cNvSpPr txBox="1"/>
          <p:nvPr/>
        </p:nvSpPr>
        <p:spPr>
          <a:xfrm>
            <a:off x="685800" y="1746504"/>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Patient submits online intake form → validate fields (name, DOB, insurance ID)</a:t>
            </a:r>
          </a:p>
        </p:txBody>
      </p:sp>
      <p:sp>
        <p:nvSpPr>
          <p:cNvPr id="10" name="TextBox 9"/>
          <p:cNvSpPr txBox="1"/>
          <p:nvPr/>
        </p:nvSpPr>
        <p:spPr>
          <a:xfrm>
            <a:off x="6004407" y="2039112"/>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11" name="Rounded Rectangle 10"/>
          <p:cNvSpPr/>
          <p:nvPr/>
        </p:nvSpPr>
        <p:spPr>
          <a:xfrm>
            <a:off x="548640" y="2167128"/>
            <a:ext cx="11094415" cy="530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21992"/>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2</a:t>
            </a:r>
          </a:p>
        </p:txBody>
      </p:sp>
      <p:sp>
        <p:nvSpPr>
          <p:cNvPr id="13" name="TextBox 12"/>
          <p:cNvSpPr txBox="1"/>
          <p:nvPr/>
        </p:nvSpPr>
        <p:spPr>
          <a:xfrm>
            <a:off x="685800" y="2404872"/>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create_patient (FHIR R4) → demographics + medical history stored in EHR</a:t>
            </a:r>
          </a:p>
        </p:txBody>
      </p:sp>
      <p:sp>
        <p:nvSpPr>
          <p:cNvPr id="14" name="TextBox 13"/>
          <p:cNvSpPr txBox="1"/>
          <p:nvPr/>
        </p:nvSpPr>
        <p:spPr>
          <a:xfrm>
            <a:off x="6004407" y="2697480"/>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15" name="Rounded Rectangle 14"/>
          <p:cNvSpPr/>
          <p:nvPr/>
        </p:nvSpPr>
        <p:spPr>
          <a:xfrm>
            <a:off x="548640" y="2825496"/>
            <a:ext cx="11094415" cy="530352"/>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880360"/>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3</a:t>
            </a:r>
          </a:p>
        </p:txBody>
      </p:sp>
      <p:sp>
        <p:nvSpPr>
          <p:cNvPr id="17" name="TextBox 16"/>
          <p:cNvSpPr txBox="1"/>
          <p:nvPr/>
        </p:nvSpPr>
        <p:spPr>
          <a:xfrm>
            <a:off x="685800" y="3063240"/>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get_insurance_eligibility (270/271 EDI) → IF eligible: calculate copay/deductible</a:t>
            </a:r>
          </a:p>
        </p:txBody>
      </p:sp>
      <p:sp>
        <p:nvSpPr>
          <p:cNvPr id="18" name="TextBox 17"/>
          <p:cNvSpPr txBox="1"/>
          <p:nvPr/>
        </p:nvSpPr>
        <p:spPr>
          <a:xfrm>
            <a:off x="6004407" y="3355848"/>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19" name="Rounded Rectangle 18"/>
          <p:cNvSpPr/>
          <p:nvPr/>
        </p:nvSpPr>
        <p:spPr>
          <a:xfrm>
            <a:off x="548640" y="3483864"/>
            <a:ext cx="11094415" cy="530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538728"/>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4</a:t>
            </a:r>
          </a:p>
        </p:txBody>
      </p:sp>
      <p:sp>
        <p:nvSpPr>
          <p:cNvPr id="21" name="TextBox 20"/>
          <p:cNvSpPr txBox="1"/>
          <p:nvPr/>
        </p:nvSpPr>
        <p:spPr>
          <a:xfrm>
            <a:off x="685800" y="3721608"/>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send_sms via Twilio (appointment confirmation + cost estimate)</a:t>
            </a:r>
          </a:p>
        </p:txBody>
      </p:sp>
      <p:sp>
        <p:nvSpPr>
          <p:cNvPr id="22" name="TextBox 21"/>
          <p:cNvSpPr txBox="1"/>
          <p:nvPr/>
        </p:nvSpPr>
        <p:spPr>
          <a:xfrm>
            <a:off x="6004407" y="4014216"/>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23" name="Rounded Rectangle 22"/>
          <p:cNvSpPr/>
          <p:nvPr/>
        </p:nvSpPr>
        <p:spPr>
          <a:xfrm>
            <a:off x="548640" y="4142232"/>
            <a:ext cx="11094415" cy="530352"/>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197096"/>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5</a:t>
            </a:r>
          </a:p>
        </p:txBody>
      </p:sp>
      <p:sp>
        <p:nvSpPr>
          <p:cNvPr id="25" name="TextBox 24"/>
          <p:cNvSpPr txBox="1"/>
          <p:nvPr/>
        </p:nvSpPr>
        <p:spPr>
          <a:xfrm>
            <a:off x="685800" y="4379976"/>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create_booking via Calendly (get_available_slots → create_booking)</a:t>
            </a:r>
          </a:p>
        </p:txBody>
      </p:sp>
      <p:sp>
        <p:nvSpPr>
          <p:cNvPr id="26" name="TextBox 25"/>
          <p:cNvSpPr txBox="1"/>
          <p:nvPr/>
        </p:nvSpPr>
        <p:spPr>
          <a:xfrm>
            <a:off x="6004407" y="4672584"/>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27" name="Rounded Rectangle 26"/>
          <p:cNvSpPr/>
          <p:nvPr/>
        </p:nvSpPr>
        <p:spPr>
          <a:xfrm>
            <a:off x="548640" y="4800600"/>
            <a:ext cx="11094415" cy="530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855464"/>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6</a:t>
            </a:r>
          </a:p>
        </p:txBody>
      </p:sp>
      <p:sp>
        <p:nvSpPr>
          <p:cNvPr id="29" name="TextBox 28"/>
          <p:cNvSpPr txBox="1"/>
          <p:nvPr/>
        </p:nvSpPr>
        <p:spPr>
          <a:xfrm>
            <a:off x="685800" y="5038344"/>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24h before: send_reminder → reduces no-show rate by 40%</a:t>
            </a:r>
          </a:p>
        </p:txBody>
      </p:sp>
      <p:sp>
        <p:nvSpPr>
          <p:cNvPr id="30" name="TextBox 29"/>
          <p:cNvSpPr txBox="1"/>
          <p:nvPr/>
        </p:nvSpPr>
        <p:spPr>
          <a:xfrm>
            <a:off x="6004407" y="5330952"/>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31" name="Rounded Rectangle 30"/>
          <p:cNvSpPr/>
          <p:nvPr/>
        </p:nvSpPr>
        <p:spPr>
          <a:xfrm>
            <a:off x="548640" y="5458968"/>
            <a:ext cx="11094415" cy="530352"/>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513832"/>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7</a:t>
            </a:r>
          </a:p>
        </p:txBody>
      </p:sp>
      <p:sp>
        <p:nvSpPr>
          <p:cNvPr id="33" name="TextBox 32"/>
          <p:cNvSpPr txBox="1"/>
          <p:nvPr/>
        </p:nvSpPr>
        <p:spPr>
          <a:xfrm>
            <a:off x="685800" y="5696712"/>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Post-visit: update_patient (FHIR) + submit_claim (837 EDI)</a:t>
            </a:r>
          </a:p>
        </p:txBody>
      </p:sp>
      <p:sp>
        <p:nvSpPr>
          <p:cNvPr id="34" name="TextBox 3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28 / 82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5B6B7C"/>
                </a:solidFill>
                <a:latin typeface="Calibri"/>
              </a:rPr>
              <a:t>ARCHITECTURE — UC-03 | HEALTHCARE</a:t>
            </a:r>
          </a:p>
        </p:txBody>
      </p:sp>
      <p:sp>
        <p:nvSpPr>
          <p:cNvPr id="5" name="TextBox 4"/>
          <p:cNvSpPr txBox="1"/>
          <p:nvPr/>
        </p:nvSpPr>
        <p:spPr>
          <a:xfrm>
            <a:off x="548640" y="548640"/>
            <a:ext cx="11094415" cy="457200"/>
          </a:xfrm>
          <a:prstGeom prst="rect">
            <a:avLst/>
          </a:prstGeom>
          <a:noFill/>
        </p:spPr>
        <p:txBody>
          <a:bodyPr wrap="square" anchor="t" lIns="0" rIns="0" tIns="0" bIns="0">
            <a:normAutofit/>
          </a:bodyPr>
          <a:lstStyle/>
          <a:p>
            <a:pPr algn="l">
              <a:lnSpc>
                <a:spcPct val="105000"/>
              </a:lnSpc>
              <a:spcBef>
                <a:spcPts val="0"/>
              </a:spcBef>
            </a:pPr>
            <a:r>
              <a:rPr sz="2000" b="1" i="0">
                <a:solidFill>
                  <a:srgbClr val="0A1628"/>
                </a:solidFill>
                <a:latin typeface="Calibri"/>
              </a:rPr>
              <a:t>Patient Intake Automation Agent Architecture</a:t>
            </a:r>
          </a:p>
        </p:txBody>
      </p:sp>
      <p:sp>
        <p:nvSpPr>
          <p:cNvPr id="6" name="Rounded Rectangle 5"/>
          <p:cNvSpPr/>
          <p:nvPr/>
        </p:nvSpPr>
        <p:spPr>
          <a:xfrm>
            <a:off x="548640" y="1143000"/>
            <a:ext cx="5029200" cy="256032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828800" cy="201168"/>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AGENT STACK</a:t>
            </a:r>
          </a:p>
        </p:txBody>
      </p:sp>
      <p:sp>
        <p:nvSpPr>
          <p:cNvPr id="8" name="TextBox 7"/>
          <p:cNvSpPr txBox="1"/>
          <p:nvPr/>
        </p:nvSpPr>
        <p:spPr>
          <a:xfrm>
            <a:off x="731520" y="1554480"/>
            <a:ext cx="4663440" cy="201168"/>
          </a:xfrm>
          <a:prstGeom prst="rect">
            <a:avLst/>
          </a:prstGeom>
          <a:noFill/>
        </p:spPr>
        <p:txBody>
          <a:bodyPr wrap="square" anchor="t" lIns="0" rIns="0" tIns="0" bIns="0">
            <a:normAutofit/>
          </a:bodyPr>
          <a:lstStyle/>
          <a:p>
            <a:pPr algn="l">
              <a:lnSpc>
                <a:spcPct val="105000"/>
              </a:lnSpc>
              <a:spcBef>
                <a:spcPts val="0"/>
              </a:spcBef>
            </a:pPr>
            <a:r>
              <a:rPr sz="1050" b="1" i="0">
                <a:solidFill>
                  <a:srgbClr val="00C9A7"/>
                </a:solidFill>
                <a:latin typeface="Calibri"/>
              </a:rPr>
              <a:t>intake-agent</a:t>
            </a:r>
          </a:p>
        </p:txBody>
      </p:sp>
      <p:sp>
        <p:nvSpPr>
          <p:cNvPr id="9" name="TextBox 8"/>
          <p:cNvSpPr txBox="1"/>
          <p:nvPr/>
        </p:nvSpPr>
        <p:spPr>
          <a:xfrm>
            <a:off x="731520" y="1737360"/>
            <a:ext cx="4663440" cy="320040"/>
          </a:xfrm>
          <a:prstGeom prst="rect">
            <a:avLst/>
          </a:prstGeom>
          <a:noFill/>
        </p:spPr>
        <p:txBody>
          <a:bodyPr wrap="square" anchor="t" lIns="0" rIns="0" tIns="0" bIns="0">
            <a:normAutofit/>
          </a:bodyPr>
          <a:lstStyle/>
          <a:p>
            <a:pPr algn="l">
              <a:lnSpc>
                <a:spcPct val="100000"/>
              </a:lnSpc>
              <a:spcBef>
                <a:spcPts val="0"/>
              </a:spcBef>
            </a:pPr>
            <a:r>
              <a:rPr sz="850" b="0" i="0">
                <a:solidFill>
                  <a:srgbClr val="FFFFFF"/>
                </a:solidFill>
                <a:latin typeface="Calibri"/>
              </a:rPr>
              <a:t>Validates form data, creates FHIR patient resource, populates demographics</a:t>
            </a:r>
          </a:p>
        </p:txBody>
      </p:sp>
      <p:sp>
        <p:nvSpPr>
          <p:cNvPr id="10" name="TextBox 9"/>
          <p:cNvSpPr txBox="1"/>
          <p:nvPr/>
        </p:nvSpPr>
        <p:spPr>
          <a:xfrm>
            <a:off x="731520" y="2103120"/>
            <a:ext cx="4663440" cy="201168"/>
          </a:xfrm>
          <a:prstGeom prst="rect">
            <a:avLst/>
          </a:prstGeom>
          <a:noFill/>
        </p:spPr>
        <p:txBody>
          <a:bodyPr wrap="square" anchor="t" lIns="0" rIns="0" tIns="0" bIns="0">
            <a:normAutofit/>
          </a:bodyPr>
          <a:lstStyle/>
          <a:p>
            <a:pPr algn="l">
              <a:lnSpc>
                <a:spcPct val="105000"/>
              </a:lnSpc>
              <a:spcBef>
                <a:spcPts val="0"/>
              </a:spcBef>
            </a:pPr>
            <a:r>
              <a:rPr sz="1050" b="1" i="0">
                <a:solidFill>
                  <a:srgbClr val="00C9A7"/>
                </a:solidFill>
                <a:latin typeface="Calibri"/>
              </a:rPr>
              <a:t>insurance-verification-agent</a:t>
            </a:r>
          </a:p>
        </p:txBody>
      </p:sp>
      <p:sp>
        <p:nvSpPr>
          <p:cNvPr id="11" name="TextBox 10"/>
          <p:cNvSpPr txBox="1"/>
          <p:nvPr/>
        </p:nvSpPr>
        <p:spPr>
          <a:xfrm>
            <a:off x="731520" y="2286000"/>
            <a:ext cx="4663440" cy="320040"/>
          </a:xfrm>
          <a:prstGeom prst="rect">
            <a:avLst/>
          </a:prstGeom>
          <a:noFill/>
        </p:spPr>
        <p:txBody>
          <a:bodyPr wrap="square" anchor="t" lIns="0" rIns="0" tIns="0" bIns="0">
            <a:normAutofit/>
          </a:bodyPr>
          <a:lstStyle/>
          <a:p>
            <a:pPr algn="l">
              <a:lnSpc>
                <a:spcPct val="100000"/>
              </a:lnSpc>
              <a:spcBef>
                <a:spcPts val="0"/>
              </a:spcBef>
            </a:pPr>
            <a:r>
              <a:rPr sz="850" b="0" i="0">
                <a:solidFill>
                  <a:srgbClr val="FFFFFF"/>
                </a:solidFill>
                <a:latin typeface="Calibri"/>
              </a:rPr>
              <a:t>270/271 EDI eligibility → copay/deductible calculation</a:t>
            </a:r>
          </a:p>
        </p:txBody>
      </p:sp>
      <p:sp>
        <p:nvSpPr>
          <p:cNvPr id="12" name="TextBox 11"/>
          <p:cNvSpPr txBox="1"/>
          <p:nvPr/>
        </p:nvSpPr>
        <p:spPr>
          <a:xfrm>
            <a:off x="731520" y="2651760"/>
            <a:ext cx="4663440" cy="201168"/>
          </a:xfrm>
          <a:prstGeom prst="rect">
            <a:avLst/>
          </a:prstGeom>
          <a:noFill/>
        </p:spPr>
        <p:txBody>
          <a:bodyPr wrap="square" anchor="t" lIns="0" rIns="0" tIns="0" bIns="0">
            <a:normAutofit/>
          </a:bodyPr>
          <a:lstStyle/>
          <a:p>
            <a:pPr algn="l">
              <a:lnSpc>
                <a:spcPct val="105000"/>
              </a:lnSpc>
              <a:spcBef>
                <a:spcPts val="0"/>
              </a:spcBef>
            </a:pPr>
            <a:r>
              <a:rPr sz="1050" b="1" i="0">
                <a:solidFill>
                  <a:srgbClr val="00C9A7"/>
                </a:solidFill>
                <a:latin typeface="Calibri"/>
              </a:rPr>
              <a:t>scheduling-agent</a:t>
            </a:r>
          </a:p>
        </p:txBody>
      </p:sp>
      <p:sp>
        <p:nvSpPr>
          <p:cNvPr id="13" name="TextBox 12"/>
          <p:cNvSpPr txBox="1"/>
          <p:nvPr/>
        </p:nvSpPr>
        <p:spPr>
          <a:xfrm>
            <a:off x="731520" y="2834640"/>
            <a:ext cx="4663440" cy="320040"/>
          </a:xfrm>
          <a:prstGeom prst="rect">
            <a:avLst/>
          </a:prstGeom>
          <a:noFill/>
        </p:spPr>
        <p:txBody>
          <a:bodyPr wrap="square" anchor="t" lIns="0" rIns="0" tIns="0" bIns="0">
            <a:normAutofit/>
          </a:bodyPr>
          <a:lstStyle/>
          <a:p>
            <a:pPr algn="l">
              <a:lnSpc>
                <a:spcPct val="100000"/>
              </a:lnSpc>
              <a:spcBef>
                <a:spcPts val="0"/>
              </a:spcBef>
            </a:pPr>
            <a:r>
              <a:rPr sz="850" b="0" i="0">
                <a:solidFill>
                  <a:srgbClr val="FFFFFF"/>
                </a:solidFill>
                <a:latin typeface="Calibri"/>
              </a:rPr>
              <a:t>Calendly slot lookup → booking → SMS confirmation via Twilio</a:t>
            </a:r>
          </a:p>
        </p:txBody>
      </p:sp>
      <p:sp>
        <p:nvSpPr>
          <p:cNvPr id="14" name="Rounded Rectangle 13"/>
          <p:cNvSpPr/>
          <p:nvPr/>
        </p:nvSpPr>
        <p:spPr>
          <a:xfrm>
            <a:off x="5806440" y="1143000"/>
            <a:ext cx="5836615" cy="2560320"/>
          </a:xfrm>
          <a:prstGeom prst="roundRect">
            <a:avLst>
              <a:gd name="adj" fmla="val 6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89320" y="1280160"/>
            <a:ext cx="5470855" cy="201168"/>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MCP SERVERS</a:t>
            </a:r>
          </a:p>
        </p:txBody>
      </p:sp>
      <p:sp>
        <p:nvSpPr>
          <p:cNvPr id="16" name="TextBox 15"/>
          <p:cNvSpPr txBox="1"/>
          <p:nvPr/>
        </p:nvSpPr>
        <p:spPr>
          <a:xfrm>
            <a:off x="5989320" y="1554480"/>
            <a:ext cx="5470855" cy="182880"/>
          </a:xfrm>
          <a:prstGeom prst="rect">
            <a:avLst/>
          </a:prstGeom>
          <a:noFill/>
        </p:spPr>
        <p:txBody>
          <a:bodyPr wrap="square" anchor="t" lIns="0" rIns="0" tIns="0" bIns="0">
            <a:normAutofit/>
          </a:bodyPr>
          <a:lstStyle/>
          <a:p>
            <a:pPr algn="l">
              <a:lnSpc>
                <a:spcPct val="105000"/>
              </a:lnSpc>
              <a:spcBef>
                <a:spcPts val="0"/>
              </a:spcBef>
            </a:pPr>
            <a:r>
              <a:rPr sz="950" b="1" i="0">
                <a:solidFill>
                  <a:srgbClr val="F2A83B"/>
                </a:solidFill>
                <a:latin typeface="Calibri"/>
              </a:rPr>
              <a:t>FHIR R4 MCP (5 endpoints)  [TO BUILD]</a:t>
            </a:r>
          </a:p>
        </p:txBody>
      </p:sp>
      <p:sp>
        <p:nvSpPr>
          <p:cNvPr id="17" name="TextBox 16"/>
          <p:cNvSpPr txBox="1"/>
          <p:nvPr/>
        </p:nvSpPr>
        <p:spPr>
          <a:xfrm>
            <a:off x="5989320" y="1719072"/>
            <a:ext cx="5470855" cy="292608"/>
          </a:xfrm>
          <a:prstGeom prst="rect">
            <a:avLst/>
          </a:prstGeom>
          <a:noFill/>
        </p:spPr>
        <p:txBody>
          <a:bodyPr wrap="square" anchor="t" lIns="0" rIns="0" tIns="0" bIns="0">
            <a:normAutofit/>
          </a:bodyPr>
          <a:lstStyle/>
          <a:p>
            <a:pPr algn="l">
              <a:lnSpc>
                <a:spcPct val="100000"/>
              </a:lnSpc>
              <a:spcBef>
                <a:spcPts val="0"/>
              </a:spcBef>
            </a:pPr>
            <a:r>
              <a:rPr sz="800" b="0" i="0">
                <a:solidFill>
                  <a:srgbClr val="1B2B3C"/>
                </a:solidFill>
                <a:latin typeface="Calibri"/>
              </a:rPr>
              <a:t>create_patient, update_patient, search_patient, get_insurance_eligibility, submit_claim</a:t>
            </a:r>
          </a:p>
        </p:txBody>
      </p:sp>
      <p:sp>
        <p:nvSpPr>
          <p:cNvPr id="18" name="TextBox 17"/>
          <p:cNvSpPr txBox="1"/>
          <p:nvPr/>
        </p:nvSpPr>
        <p:spPr>
          <a:xfrm>
            <a:off x="5989320" y="2057400"/>
            <a:ext cx="5470855" cy="182880"/>
          </a:xfrm>
          <a:prstGeom prst="rect">
            <a:avLst/>
          </a:prstGeom>
          <a:noFill/>
        </p:spPr>
        <p:txBody>
          <a:bodyPr wrap="square" anchor="t" lIns="0" rIns="0" tIns="0" bIns="0">
            <a:normAutofit/>
          </a:bodyPr>
          <a:lstStyle/>
          <a:p>
            <a:pPr algn="l">
              <a:lnSpc>
                <a:spcPct val="105000"/>
              </a:lnSpc>
              <a:spcBef>
                <a:spcPts val="0"/>
              </a:spcBef>
            </a:pPr>
            <a:r>
              <a:rPr sz="950" b="1" i="0">
                <a:solidFill>
                  <a:srgbClr val="F2A83B"/>
                </a:solidFill>
                <a:latin typeface="Calibri"/>
              </a:rPr>
              <a:t>Twilio MCP (3 endpoints)  [TO BUILD]</a:t>
            </a:r>
          </a:p>
        </p:txBody>
      </p:sp>
      <p:sp>
        <p:nvSpPr>
          <p:cNvPr id="19" name="TextBox 18"/>
          <p:cNvSpPr txBox="1"/>
          <p:nvPr/>
        </p:nvSpPr>
        <p:spPr>
          <a:xfrm>
            <a:off x="5989320" y="2221992"/>
            <a:ext cx="5470855" cy="292608"/>
          </a:xfrm>
          <a:prstGeom prst="rect">
            <a:avLst/>
          </a:prstGeom>
          <a:noFill/>
        </p:spPr>
        <p:txBody>
          <a:bodyPr wrap="square" anchor="t" lIns="0" rIns="0" tIns="0" bIns="0">
            <a:normAutofit/>
          </a:bodyPr>
          <a:lstStyle/>
          <a:p>
            <a:pPr algn="l">
              <a:lnSpc>
                <a:spcPct val="100000"/>
              </a:lnSpc>
              <a:spcBef>
                <a:spcPts val="0"/>
              </a:spcBef>
            </a:pPr>
            <a:r>
              <a:rPr sz="800" b="0" i="0">
                <a:solidFill>
                  <a:srgbClr val="1B2B3C"/>
                </a:solidFill>
                <a:latin typeface="Calibri"/>
              </a:rPr>
              <a:t>send_sms, send_reminder, get_message_status</a:t>
            </a:r>
          </a:p>
        </p:txBody>
      </p:sp>
      <p:sp>
        <p:nvSpPr>
          <p:cNvPr id="20" name="TextBox 19"/>
          <p:cNvSpPr txBox="1"/>
          <p:nvPr/>
        </p:nvSpPr>
        <p:spPr>
          <a:xfrm>
            <a:off x="5989320" y="2560320"/>
            <a:ext cx="5470855" cy="182880"/>
          </a:xfrm>
          <a:prstGeom prst="rect">
            <a:avLst/>
          </a:prstGeom>
          <a:noFill/>
        </p:spPr>
        <p:txBody>
          <a:bodyPr wrap="square" anchor="t" lIns="0" rIns="0" tIns="0" bIns="0">
            <a:normAutofit/>
          </a:bodyPr>
          <a:lstStyle/>
          <a:p>
            <a:pPr algn="l">
              <a:lnSpc>
                <a:spcPct val="105000"/>
              </a:lnSpc>
              <a:spcBef>
                <a:spcPts val="0"/>
              </a:spcBef>
            </a:pPr>
            <a:r>
              <a:rPr sz="950" b="1" i="0">
                <a:solidFill>
                  <a:srgbClr val="F2A83B"/>
                </a:solidFill>
                <a:latin typeface="Calibri"/>
              </a:rPr>
              <a:t>Calendly MCP (3 endpoints)  [TO BUILD]</a:t>
            </a:r>
          </a:p>
        </p:txBody>
      </p:sp>
      <p:sp>
        <p:nvSpPr>
          <p:cNvPr id="21" name="TextBox 20"/>
          <p:cNvSpPr txBox="1"/>
          <p:nvPr/>
        </p:nvSpPr>
        <p:spPr>
          <a:xfrm>
            <a:off x="5989320" y="2724912"/>
            <a:ext cx="5470855" cy="292608"/>
          </a:xfrm>
          <a:prstGeom prst="rect">
            <a:avLst/>
          </a:prstGeom>
          <a:noFill/>
        </p:spPr>
        <p:txBody>
          <a:bodyPr wrap="square" anchor="t" lIns="0" rIns="0" tIns="0" bIns="0">
            <a:normAutofit/>
          </a:bodyPr>
          <a:lstStyle/>
          <a:p>
            <a:pPr algn="l">
              <a:lnSpc>
                <a:spcPct val="100000"/>
              </a:lnSpc>
              <a:spcBef>
                <a:spcPts val="0"/>
              </a:spcBef>
            </a:pPr>
            <a:r>
              <a:rPr sz="800" b="0" i="0">
                <a:solidFill>
                  <a:srgbClr val="1B2B3C"/>
                </a:solidFill>
                <a:latin typeface="Calibri"/>
              </a:rPr>
              <a:t>get_available_slots, create_booking, cancel_booking</a:t>
            </a:r>
          </a:p>
        </p:txBody>
      </p:sp>
      <p:sp>
        <p:nvSpPr>
          <p:cNvPr id="22" name="Rounded Rectangle 21"/>
          <p:cNvSpPr/>
          <p:nvPr/>
        </p:nvSpPr>
        <p:spPr>
          <a:xfrm>
            <a:off x="548640" y="3840480"/>
            <a:ext cx="11094415" cy="68580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931920"/>
            <a:ext cx="1371600"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DEPLOYMENT</a:t>
            </a:r>
          </a:p>
        </p:txBody>
      </p:sp>
      <p:sp>
        <p:nvSpPr>
          <p:cNvPr id="24" name="TextBox 23"/>
          <p:cNvSpPr txBox="1"/>
          <p:nvPr/>
        </p:nvSpPr>
        <p:spPr>
          <a:xfrm>
            <a:off x="2194560" y="3931920"/>
            <a:ext cx="9265615" cy="182880"/>
          </a:xfrm>
          <a:prstGeom prst="rect">
            <a:avLst/>
          </a:prstGeom>
          <a:noFill/>
        </p:spPr>
        <p:txBody>
          <a:bodyPr wrap="square" anchor="t" lIns="0" rIns="0" tIns="0" bIns="0">
            <a:normAutofit/>
          </a:bodyPr>
          <a:lstStyle/>
          <a:p>
            <a:pPr algn="l">
              <a:lnSpc>
                <a:spcPct val="105000"/>
              </a:lnSpc>
              <a:spcBef>
                <a:spcPts val="0"/>
              </a:spcBef>
            </a:pPr>
            <a:r>
              <a:rPr sz="900" b="0" i="0">
                <a:solidFill>
                  <a:srgbClr val="FFFFFF"/>
                </a:solidFill>
                <a:latin typeface="Calibri"/>
              </a:rPr>
              <a:t>Docker sandbox (PHI isolation) | BAA with 3rd parties | Confirmation mode</a:t>
            </a:r>
          </a:p>
        </p:txBody>
      </p:sp>
      <p:sp>
        <p:nvSpPr>
          <p:cNvPr id="25" name="TextBox 24"/>
          <p:cNvSpPr txBox="1"/>
          <p:nvPr/>
        </p:nvSpPr>
        <p:spPr>
          <a:xfrm>
            <a:off x="731520" y="4206240"/>
            <a:ext cx="10728655" cy="182880"/>
          </a:xfrm>
          <a:prstGeom prst="rect">
            <a:avLst/>
          </a:prstGeom>
          <a:noFill/>
        </p:spPr>
        <p:txBody>
          <a:bodyPr wrap="square" anchor="t" lIns="0" rIns="0" tIns="0" bIns="0">
            <a:normAutofit/>
          </a:bodyPr>
          <a:lstStyle/>
          <a:p>
            <a:pPr algn="l">
              <a:lnSpc>
                <a:spcPct val="105000"/>
              </a:lnSpc>
              <a:spcBef>
                <a:spcPts val="0"/>
              </a:spcBef>
            </a:pPr>
            <a:r>
              <a:rPr sz="850" b="1" i="0">
                <a:solidFill>
                  <a:srgbClr val="0A1628"/>
                </a:solidFill>
                <a:latin typeface="Calibri"/>
              </a:rPr>
              <a:t>Pattern: Agent(llm, tools) → Conversation(agent, workspace, plugins) | MCP config at platform level (config.toml)</a:t>
            </a:r>
          </a:p>
        </p:txBody>
      </p:sp>
      <p:sp>
        <p:nvSpPr>
          <p:cNvPr id="26" name="Rounded Rectangle 25"/>
          <p:cNvSpPr/>
          <p:nvPr/>
        </p:nvSpPr>
        <p:spPr>
          <a:xfrm>
            <a:off x="548640" y="4663440"/>
            <a:ext cx="11094415" cy="128016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75488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TECH STACK &amp; GITHUB</a:t>
            </a:r>
          </a:p>
        </p:txBody>
      </p:sp>
      <p:sp>
        <p:nvSpPr>
          <p:cNvPr id="28" name="TextBox 27"/>
          <p:cNvSpPr txBox="1"/>
          <p:nvPr/>
        </p:nvSpPr>
        <p:spPr>
          <a:xfrm>
            <a:off x="731520" y="4983480"/>
            <a:ext cx="3362858" cy="164592"/>
          </a:xfrm>
          <a:prstGeom prst="rect">
            <a:avLst/>
          </a:prstGeom>
          <a:noFill/>
        </p:spPr>
        <p:txBody>
          <a:bodyPr wrap="square" anchor="t" lIns="0" rIns="0" tIns="0" bIns="0">
            <a:normAutofit/>
          </a:bodyPr>
          <a:lstStyle/>
          <a:p>
            <a:pPr algn="l">
              <a:lnSpc>
                <a:spcPct val="105000"/>
              </a:lnSpc>
              <a:spcBef>
                <a:spcPts val="0"/>
              </a:spcBef>
            </a:pPr>
            <a:r>
              <a:rPr sz="850" b="1" i="0">
                <a:solidFill>
                  <a:srgbClr val="00C9A7"/>
                </a:solidFill>
                <a:latin typeface="Calibri"/>
              </a:rPr>
              <a:t>medplum/medplum</a:t>
            </a:r>
          </a:p>
        </p:txBody>
      </p:sp>
      <p:sp>
        <p:nvSpPr>
          <p:cNvPr id="29" name="TextBox 28"/>
          <p:cNvSpPr txBox="1"/>
          <p:nvPr/>
        </p:nvSpPr>
        <p:spPr>
          <a:xfrm>
            <a:off x="731520" y="5129784"/>
            <a:ext cx="3362858" cy="219456"/>
          </a:xfrm>
          <a:prstGeom prst="rect">
            <a:avLst/>
          </a:prstGeom>
          <a:noFill/>
        </p:spPr>
        <p:txBody>
          <a:bodyPr wrap="square" anchor="t" lIns="0" rIns="0" tIns="0" bIns="0">
            <a:normAutofit/>
          </a:bodyPr>
          <a:lstStyle/>
          <a:p>
            <a:pPr algn="l">
              <a:lnSpc>
                <a:spcPct val="105000"/>
              </a:lnSpc>
              <a:spcBef>
                <a:spcPts val="0"/>
              </a:spcBef>
            </a:pPr>
            <a:r>
              <a:rPr sz="750" b="0" i="0">
                <a:solidFill>
                  <a:srgbClr val="FFFFFF"/>
                </a:solidFill>
                <a:latin typeface="Calibri"/>
              </a:rPr>
              <a:t>Open-source FHIR server + EHR platform</a:t>
            </a:r>
          </a:p>
        </p:txBody>
      </p:sp>
      <p:sp>
        <p:nvSpPr>
          <p:cNvPr id="30" name="TextBox 29"/>
          <p:cNvSpPr txBox="1"/>
          <p:nvPr/>
        </p:nvSpPr>
        <p:spPr>
          <a:xfrm>
            <a:off x="4185818" y="4983480"/>
            <a:ext cx="3362858" cy="164592"/>
          </a:xfrm>
          <a:prstGeom prst="rect">
            <a:avLst/>
          </a:prstGeom>
          <a:noFill/>
        </p:spPr>
        <p:txBody>
          <a:bodyPr wrap="square" anchor="t" lIns="0" rIns="0" tIns="0" bIns="0">
            <a:normAutofit/>
          </a:bodyPr>
          <a:lstStyle/>
          <a:p>
            <a:pPr algn="l">
              <a:lnSpc>
                <a:spcPct val="105000"/>
              </a:lnSpc>
              <a:spcBef>
                <a:spcPts val="0"/>
              </a:spcBef>
            </a:pPr>
            <a:r>
              <a:rPr sz="850" b="1" i="0">
                <a:solidFill>
                  <a:srgbClr val="00C9A7"/>
                </a:solidFill>
                <a:latin typeface="Calibri"/>
              </a:rPr>
              <a:t>smart-on-fhir/client-js</a:t>
            </a:r>
          </a:p>
        </p:txBody>
      </p:sp>
      <p:sp>
        <p:nvSpPr>
          <p:cNvPr id="31" name="TextBox 30"/>
          <p:cNvSpPr txBox="1"/>
          <p:nvPr/>
        </p:nvSpPr>
        <p:spPr>
          <a:xfrm>
            <a:off x="4185818" y="5129784"/>
            <a:ext cx="3362858" cy="219456"/>
          </a:xfrm>
          <a:prstGeom prst="rect">
            <a:avLst/>
          </a:prstGeom>
          <a:noFill/>
        </p:spPr>
        <p:txBody>
          <a:bodyPr wrap="square" anchor="t" lIns="0" rIns="0" tIns="0" bIns="0">
            <a:normAutofit/>
          </a:bodyPr>
          <a:lstStyle/>
          <a:p>
            <a:pPr algn="l">
              <a:lnSpc>
                <a:spcPct val="105000"/>
              </a:lnSpc>
              <a:spcBef>
                <a:spcPts val="0"/>
              </a:spcBef>
            </a:pPr>
            <a:r>
              <a:rPr sz="750" b="0" i="0">
                <a:solidFill>
                  <a:srgbClr val="FFFFFF"/>
                </a:solidFill>
                <a:latin typeface="Calibri"/>
              </a:rPr>
              <a:t>SMART on FHIR authorization</a:t>
            </a:r>
          </a:p>
        </p:txBody>
      </p:sp>
      <p:sp>
        <p:nvSpPr>
          <p:cNvPr id="32" name="TextBox 31"/>
          <p:cNvSpPr txBox="1"/>
          <p:nvPr/>
        </p:nvSpPr>
        <p:spPr>
          <a:xfrm>
            <a:off x="7640116" y="4983480"/>
            <a:ext cx="3362858" cy="164592"/>
          </a:xfrm>
          <a:prstGeom prst="rect">
            <a:avLst/>
          </a:prstGeom>
          <a:noFill/>
        </p:spPr>
        <p:txBody>
          <a:bodyPr wrap="square" anchor="t" lIns="0" rIns="0" tIns="0" bIns="0">
            <a:normAutofit/>
          </a:bodyPr>
          <a:lstStyle/>
          <a:p>
            <a:pPr algn="l">
              <a:lnSpc>
                <a:spcPct val="105000"/>
              </a:lnSpc>
              <a:spcBef>
                <a:spcPts val="0"/>
              </a:spcBef>
            </a:pPr>
            <a:r>
              <a:rPr sz="850" b="1" i="0">
                <a:solidFill>
                  <a:srgbClr val="00C9A7"/>
                </a:solidFill>
                <a:latin typeface="Calibri"/>
              </a:rPr>
              <a:t>twilio/twilio-node</a:t>
            </a:r>
          </a:p>
        </p:txBody>
      </p:sp>
      <p:sp>
        <p:nvSpPr>
          <p:cNvPr id="33" name="TextBox 32"/>
          <p:cNvSpPr txBox="1"/>
          <p:nvPr/>
        </p:nvSpPr>
        <p:spPr>
          <a:xfrm>
            <a:off x="7640116" y="5129784"/>
            <a:ext cx="3362858" cy="219456"/>
          </a:xfrm>
          <a:prstGeom prst="rect">
            <a:avLst/>
          </a:prstGeom>
          <a:noFill/>
        </p:spPr>
        <p:txBody>
          <a:bodyPr wrap="square" anchor="t" lIns="0" rIns="0" tIns="0" bIns="0">
            <a:normAutofit/>
          </a:bodyPr>
          <a:lstStyle/>
          <a:p>
            <a:pPr algn="l">
              <a:lnSpc>
                <a:spcPct val="105000"/>
              </a:lnSpc>
              <a:spcBef>
                <a:spcPts val="0"/>
              </a:spcBef>
            </a:pPr>
            <a:r>
              <a:rPr sz="750" b="0" i="0">
                <a:solidFill>
                  <a:srgbClr val="FFFFFF"/>
                </a:solidFill>
                <a:latin typeface="Calibri"/>
              </a:rPr>
              <a:t>Twilio SDK for SMS/voice</a:t>
            </a:r>
          </a:p>
        </p:txBody>
      </p:sp>
      <p:sp>
        <p:nvSpPr>
          <p:cNvPr id="34" name="TextBox 33"/>
          <p:cNvSpPr txBox="1"/>
          <p:nvPr/>
        </p:nvSpPr>
        <p:spPr>
          <a:xfrm>
            <a:off x="731520" y="5422392"/>
            <a:ext cx="3362858" cy="164592"/>
          </a:xfrm>
          <a:prstGeom prst="rect">
            <a:avLst/>
          </a:prstGeom>
          <a:noFill/>
        </p:spPr>
        <p:txBody>
          <a:bodyPr wrap="square" anchor="t" lIns="0" rIns="0" tIns="0" bIns="0">
            <a:normAutofit/>
          </a:bodyPr>
          <a:lstStyle/>
          <a:p>
            <a:pPr algn="l">
              <a:lnSpc>
                <a:spcPct val="105000"/>
              </a:lnSpc>
              <a:spcBef>
                <a:spcPts val="0"/>
              </a:spcBef>
            </a:pPr>
            <a:r>
              <a:rPr sz="850" b="1" i="0">
                <a:solidFill>
                  <a:srgbClr val="00C9A7"/>
                </a:solidFill>
                <a:latin typeface="Calibri"/>
              </a:rPr>
              <a:t>microsoft/presidio</a:t>
            </a:r>
          </a:p>
        </p:txBody>
      </p:sp>
      <p:sp>
        <p:nvSpPr>
          <p:cNvPr id="35" name="TextBox 34"/>
          <p:cNvSpPr txBox="1"/>
          <p:nvPr/>
        </p:nvSpPr>
        <p:spPr>
          <a:xfrm>
            <a:off x="731520" y="5568696"/>
            <a:ext cx="3362858" cy="219456"/>
          </a:xfrm>
          <a:prstGeom prst="rect">
            <a:avLst/>
          </a:prstGeom>
          <a:noFill/>
        </p:spPr>
        <p:txBody>
          <a:bodyPr wrap="square" anchor="t" lIns="0" rIns="0" tIns="0" bIns="0">
            <a:normAutofit/>
          </a:bodyPr>
          <a:lstStyle/>
          <a:p>
            <a:pPr algn="l">
              <a:lnSpc>
                <a:spcPct val="105000"/>
              </a:lnSpc>
              <a:spcBef>
                <a:spcPts val="0"/>
              </a:spcBef>
            </a:pPr>
            <a:r>
              <a:rPr sz="750" b="0" i="0">
                <a:solidFill>
                  <a:srgbClr val="FFFFFF"/>
                </a:solidFill>
                <a:latin typeface="Calibri"/>
              </a:rPr>
              <a:t>PII detection for HIPAA compliance</a:t>
            </a:r>
          </a:p>
        </p:txBody>
      </p:sp>
      <p:sp>
        <p:nvSpPr>
          <p:cNvPr id="36" name="TextBox 35"/>
          <p:cNvSpPr txBox="1"/>
          <p:nvPr/>
        </p:nvSpPr>
        <p:spPr>
          <a:xfrm>
            <a:off x="4185818" y="5422392"/>
            <a:ext cx="3362858" cy="164592"/>
          </a:xfrm>
          <a:prstGeom prst="rect">
            <a:avLst/>
          </a:prstGeom>
          <a:noFill/>
        </p:spPr>
        <p:txBody>
          <a:bodyPr wrap="square" anchor="t" lIns="0" rIns="0" tIns="0" bIns="0">
            <a:normAutofit/>
          </a:bodyPr>
          <a:lstStyle/>
          <a:p>
            <a:pPr algn="l">
              <a:lnSpc>
                <a:spcPct val="105000"/>
              </a:lnSpc>
              <a:spcBef>
                <a:spcPts val="0"/>
              </a:spcBef>
            </a:pPr>
            <a:r>
              <a:rPr sz="850" b="1" i="0">
                <a:solidFill>
                  <a:srgbClr val="00C9A7"/>
                </a:solidFill>
                <a:latin typeface="Calibri"/>
              </a:rPr>
              <a:t>All-Hands-AI/OpenHands</a:t>
            </a:r>
          </a:p>
        </p:txBody>
      </p:sp>
      <p:sp>
        <p:nvSpPr>
          <p:cNvPr id="37" name="TextBox 36"/>
          <p:cNvSpPr txBox="1"/>
          <p:nvPr/>
        </p:nvSpPr>
        <p:spPr>
          <a:xfrm>
            <a:off x="4185818" y="5568696"/>
            <a:ext cx="3362858" cy="219456"/>
          </a:xfrm>
          <a:prstGeom prst="rect">
            <a:avLst/>
          </a:prstGeom>
          <a:noFill/>
        </p:spPr>
        <p:txBody>
          <a:bodyPr wrap="square" anchor="t" lIns="0" rIns="0" tIns="0" bIns="0">
            <a:normAutofit/>
          </a:bodyPr>
          <a:lstStyle/>
          <a:p>
            <a:pPr algn="l">
              <a:lnSpc>
                <a:spcPct val="105000"/>
              </a:lnSpc>
              <a:spcBef>
                <a:spcPts val="0"/>
              </a:spcBef>
            </a:pPr>
            <a:r>
              <a:rPr sz="750" b="0" i="0">
                <a:solidFill>
                  <a:srgbClr val="FFFFFF"/>
                </a:solidFill>
                <a:latin typeface="Calibri"/>
              </a:rPr>
              <a:t>Docker sandbox + confirmation mode</a:t>
            </a:r>
          </a:p>
        </p:txBody>
      </p:sp>
      <p:sp>
        <p:nvSpPr>
          <p:cNvPr id="38" name="Rounded Rectangle 37"/>
          <p:cNvSpPr/>
          <p:nvPr/>
        </p:nvSpPr>
        <p:spPr>
          <a:xfrm>
            <a:off x="548640" y="6080760"/>
            <a:ext cx="5455767" cy="274320"/>
          </a:xfrm>
          <a:prstGeom prst="roundRect">
            <a:avLst>
              <a:gd name="adj" fmla="val 3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6080760"/>
            <a:ext cx="5272887" cy="274320"/>
          </a:xfrm>
          <a:prstGeom prst="rect">
            <a:avLst/>
          </a:prstGeom>
          <a:noFill/>
        </p:spPr>
        <p:txBody>
          <a:bodyPr wrap="square" anchor="ctr" lIns="0" rIns="0" tIns="0" bIns="0">
            <a:normAutofit/>
          </a:bodyPr>
          <a:lstStyle/>
          <a:p>
            <a:pPr algn="l">
              <a:lnSpc>
                <a:spcPct val="105000"/>
              </a:lnSpc>
              <a:spcBef>
                <a:spcPts val="0"/>
              </a:spcBef>
            </a:pPr>
            <a:r>
              <a:rPr sz="700" b="1" i="0">
                <a:solidFill>
                  <a:srgbClr val="FFFFFF"/>
                </a:solidFill>
                <a:latin typeface="Calibri"/>
              </a:rPr>
              <a:t>SYSTEMS: EHR (FHIR) | Insurance EDI | Twilio | Calendly</a:t>
            </a:r>
          </a:p>
        </p:txBody>
      </p:sp>
      <p:sp>
        <p:nvSpPr>
          <p:cNvPr id="40" name="Rounded Rectangle 39"/>
          <p:cNvSpPr/>
          <p:nvPr/>
        </p:nvSpPr>
        <p:spPr>
          <a:xfrm>
            <a:off x="6187287" y="6080760"/>
            <a:ext cx="5455767" cy="274320"/>
          </a:xfrm>
          <a:prstGeom prst="roundRect">
            <a:avLst>
              <a:gd name="adj" fmla="val 3000"/>
            </a:avLst>
          </a:prstGeom>
          <a:solidFill>
            <a:srgbClr val="008F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78727" y="6080760"/>
            <a:ext cx="5272887" cy="274320"/>
          </a:xfrm>
          <a:prstGeom prst="rect">
            <a:avLst/>
          </a:prstGeom>
          <a:noFill/>
        </p:spPr>
        <p:txBody>
          <a:bodyPr wrap="square" anchor="ctr" lIns="0" rIns="0" tIns="0" bIns="0">
            <a:normAutofit/>
          </a:bodyPr>
          <a:lstStyle/>
          <a:p>
            <a:pPr algn="l">
              <a:lnSpc>
                <a:spcPct val="105000"/>
              </a:lnSpc>
              <a:spcBef>
                <a:spcPts val="0"/>
              </a:spcBef>
            </a:pPr>
            <a:r>
              <a:rPr sz="700" b="1" i="0">
                <a:solidFill>
                  <a:srgbClr val="FFFFFF"/>
                </a:solidFill>
                <a:latin typeface="Calibri"/>
              </a:rPr>
              <a:t>USERS: Front desk staff | Practice managers | Billing coordinators</a:t>
            </a:r>
          </a:p>
        </p:txBody>
      </p:sp>
      <p:sp>
        <p:nvSpPr>
          <p:cNvPr id="42" name="TextBox 4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29 / 82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Governance &amp; Compliance — UC-03</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Healthcare — Standards, audits, and compliance requirements</a:t>
            </a:r>
          </a:p>
        </p:txBody>
      </p:sp>
      <p:sp>
        <p:nvSpPr>
          <p:cNvPr id="7" name="TextBox 6"/>
          <p:cNvSpPr txBox="1"/>
          <p:nvPr/>
        </p:nvSpPr>
        <p:spPr>
          <a:xfrm>
            <a:off x="548640" y="1600200"/>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HIPAA: AES-256 encryption at rest, TLS 1.3 in transit for all PHI</a:t>
            </a:r>
          </a:p>
        </p:txBody>
      </p:sp>
      <p:sp>
        <p:nvSpPr>
          <p:cNvPr id="8" name="TextBox 7"/>
          <p:cNvSpPr txBox="1"/>
          <p:nvPr/>
        </p:nvSpPr>
        <p:spPr>
          <a:xfrm>
            <a:off x="548640" y="2130552"/>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BAA (Business Associate Agreement) required with Twilio, Calendly, FHIR provider</a:t>
            </a:r>
          </a:p>
        </p:txBody>
      </p:sp>
      <p:sp>
        <p:nvSpPr>
          <p:cNvPr id="9" name="TextBox 8"/>
          <p:cNvSpPr txBox="1"/>
          <p:nvPr/>
        </p:nvSpPr>
        <p:spPr>
          <a:xfrm>
            <a:off x="548640" y="2660904"/>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Minimum necessary principle: agents access only required PHI fields per operation</a:t>
            </a:r>
          </a:p>
        </p:txBody>
      </p:sp>
      <p:sp>
        <p:nvSpPr>
          <p:cNvPr id="10" name="TextBox 9"/>
          <p:cNvSpPr txBox="1"/>
          <p:nvPr/>
        </p:nvSpPr>
        <p:spPr>
          <a:xfrm>
            <a:off x="548640" y="3191256"/>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Audit logging: every PHI access logged with timestamp, agent, operation</a:t>
            </a:r>
          </a:p>
        </p:txBody>
      </p:sp>
      <p:sp>
        <p:nvSpPr>
          <p:cNvPr id="11" name="TextBox 10"/>
          <p:cNvSpPr txBox="1"/>
          <p:nvPr/>
        </p:nvSpPr>
        <p:spPr>
          <a:xfrm>
            <a:off x="548640" y="3721608"/>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OpenHands Docker sandbox: PHI never leaves infrastructure perimeter</a:t>
            </a:r>
          </a:p>
        </p:txBody>
      </p:sp>
      <p:sp>
        <p:nvSpPr>
          <p:cNvPr id="12" name="TextBox 1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30 / 82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COMPETITIVE LANDSCAPE — UC-03 | HEALTHCARE</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18488"/>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Phreesia</a:t>
            </a:r>
          </a:p>
        </p:txBody>
      </p:sp>
      <p:sp>
        <p:nvSpPr>
          <p:cNvPr id="9" name="TextBox 8"/>
          <p:cNvSpPr txBox="1"/>
          <p:nvPr/>
        </p:nvSpPr>
        <p:spPr>
          <a:xfrm>
            <a:off x="3749040" y="1618488"/>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$250M revenue</a:t>
            </a:r>
          </a:p>
        </p:txBody>
      </p:sp>
      <p:sp>
        <p:nvSpPr>
          <p:cNvPr id="10" name="TextBox 9"/>
          <p:cNvSpPr txBox="1"/>
          <p:nvPr/>
        </p:nvSpPr>
        <p:spPr>
          <a:xfrm>
            <a:off x="731520" y="1892808"/>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Patient intake market leader — no AI agent orchestration</a:t>
            </a:r>
          </a:p>
        </p:txBody>
      </p:sp>
      <p:sp>
        <p:nvSpPr>
          <p:cNvPr id="11" name="Rounded Rectangle 10"/>
          <p:cNvSpPr/>
          <p:nvPr/>
        </p:nvSpPr>
        <p:spPr>
          <a:xfrm>
            <a:off x="548640" y="2395728"/>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05456"/>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Zocdoc</a:t>
            </a:r>
          </a:p>
        </p:txBody>
      </p:sp>
      <p:sp>
        <p:nvSpPr>
          <p:cNvPr id="13" name="TextBox 12"/>
          <p:cNvSpPr txBox="1"/>
          <p:nvPr/>
        </p:nvSpPr>
        <p:spPr>
          <a:xfrm>
            <a:off x="3749040" y="2505456"/>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Scheduling leader</a:t>
            </a:r>
          </a:p>
        </p:txBody>
      </p:sp>
      <p:sp>
        <p:nvSpPr>
          <p:cNvPr id="14" name="TextBox 13"/>
          <p:cNvSpPr txBox="1"/>
          <p:nvPr/>
        </p:nvSpPr>
        <p:spPr>
          <a:xfrm>
            <a:off x="731520" y="2779776"/>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Scheduling but no insurance verification or EHR intake</a:t>
            </a:r>
          </a:p>
        </p:txBody>
      </p:sp>
      <p:sp>
        <p:nvSpPr>
          <p:cNvPr id="15" name="Rounded Rectangle 14"/>
          <p:cNvSpPr/>
          <p:nvPr/>
        </p:nvSpPr>
        <p:spPr>
          <a:xfrm>
            <a:off x="548640" y="3282696"/>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392424"/>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Notable Health</a:t>
            </a:r>
          </a:p>
        </p:txBody>
      </p:sp>
      <p:sp>
        <p:nvSpPr>
          <p:cNvPr id="17" name="TextBox 16"/>
          <p:cNvSpPr txBox="1"/>
          <p:nvPr/>
        </p:nvSpPr>
        <p:spPr>
          <a:xfrm>
            <a:off x="3749040" y="3392424"/>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AI intake</a:t>
            </a:r>
          </a:p>
        </p:txBody>
      </p:sp>
      <p:sp>
        <p:nvSpPr>
          <p:cNvPr id="18" name="TextBox 17"/>
          <p:cNvSpPr txBox="1"/>
          <p:nvPr/>
        </p:nvSpPr>
        <p:spPr>
          <a:xfrm>
            <a:off x="731520" y="3666744"/>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AI-powered intake but no MCP integration or agent architecture</a:t>
            </a:r>
          </a:p>
        </p:txBody>
      </p:sp>
      <p:sp>
        <p:nvSpPr>
          <p:cNvPr id="19" name="Rounded Rectangle 18"/>
          <p:cNvSpPr/>
          <p:nvPr/>
        </p:nvSpPr>
        <p:spPr>
          <a:xfrm>
            <a:off x="548640" y="4169664"/>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279392"/>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Gap</a:t>
            </a:r>
          </a:p>
        </p:txBody>
      </p:sp>
      <p:sp>
        <p:nvSpPr>
          <p:cNvPr id="21" name="TextBox 20"/>
          <p:cNvSpPr txBox="1"/>
          <p:nvPr/>
        </p:nvSpPr>
        <p:spPr>
          <a:xfrm>
            <a:off x="3749040" y="4279392"/>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No integrated agent</a:t>
            </a:r>
          </a:p>
        </p:txBody>
      </p:sp>
      <p:sp>
        <p:nvSpPr>
          <p:cNvPr id="22" name="TextBox 21"/>
          <p:cNvSpPr txBox="1"/>
          <p:nvPr/>
        </p:nvSpPr>
        <p:spPr>
          <a:xfrm>
            <a:off x="731520" y="4553712"/>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Nobody offers integrated intake + verify + schedule as agent pipeline</a:t>
            </a:r>
          </a:p>
        </p:txBody>
      </p:sp>
      <p:sp>
        <p:nvSpPr>
          <p:cNvPr id="23" name="Rounded Rectangle 22"/>
          <p:cNvSpPr/>
          <p:nvPr/>
        </p:nvSpPr>
        <p:spPr>
          <a:xfrm>
            <a:off x="548640" y="5056632"/>
            <a:ext cx="11094415" cy="7772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166360"/>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FFFFFF"/>
                </a:solidFill>
                <a:latin typeface="Calibri"/>
              </a:rPr>
              <a:t>Our approach</a:t>
            </a:r>
          </a:p>
        </p:txBody>
      </p:sp>
      <p:sp>
        <p:nvSpPr>
          <p:cNvPr id="25" name="TextBox 24"/>
          <p:cNvSpPr txBox="1"/>
          <p:nvPr/>
        </p:nvSpPr>
        <p:spPr>
          <a:xfrm>
            <a:off x="3749040" y="5166360"/>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FFB800"/>
                </a:solidFill>
                <a:latin typeface="Calibri"/>
              </a:rPr>
              <a:t>3 agents + 3 MCPs</a:t>
            </a:r>
          </a:p>
        </p:txBody>
      </p:sp>
      <p:sp>
        <p:nvSpPr>
          <p:cNvPr id="26" name="TextBox 25"/>
          <p:cNvSpPr txBox="1"/>
          <p:nvPr/>
        </p:nvSpPr>
        <p:spPr>
          <a:xfrm>
            <a:off x="731520" y="5440680"/>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Full pipeline, HIPAA by design, $3-5K/mo per practice</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31 / 82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5B6B7C"/>
                </a:solidFill>
                <a:latin typeface="Calibri"/>
              </a:rPr>
              <a:t>THE ACTUAL INSIGHT — UC-03</a:t>
            </a:r>
          </a:p>
        </p:txBody>
      </p:sp>
      <p:sp>
        <p:nvSpPr>
          <p:cNvPr id="5" name="Rounded Rectangle 4"/>
          <p:cNvSpPr/>
          <p:nvPr/>
        </p:nvSpPr>
        <p:spPr>
          <a:xfrm>
            <a:off x="548640" y="822960"/>
            <a:ext cx="11094415" cy="256032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005840"/>
            <a:ext cx="10545775" cy="2194560"/>
          </a:xfrm>
          <a:prstGeom prst="rect">
            <a:avLst/>
          </a:prstGeom>
          <a:noFill/>
        </p:spPr>
        <p:txBody>
          <a:bodyPr wrap="square" anchor="t" lIns="0" rIns="0" tIns="0" bIns="0">
            <a:normAutofit/>
          </a:bodyPr>
          <a:lstStyle/>
          <a:p>
            <a:pPr algn="l">
              <a:lnSpc>
                <a:spcPct val="115000"/>
              </a:lnSpc>
              <a:spcBef>
                <a:spcPts val="0"/>
              </a:spcBef>
            </a:pPr>
            <a:r>
              <a:rPr sz="1400" b="0" i="0">
                <a:solidFill>
                  <a:srgbClr val="FFFFFF"/>
                </a:solidFill>
                <a:latin typeface="Calibri"/>
              </a:rPr>
              <a:t>Prior auth is bureaucratic, not clinical. Most requests meet criteria — someone just needs to check the boxes. The AI checks the boxes. Edge cases still go to a nurse. The 270/271 EDI call is the perfect automation target — deterministic, structured, zero clinical judgment.</a:t>
            </a:r>
          </a:p>
        </p:txBody>
      </p:sp>
      <p:sp>
        <p:nvSpPr>
          <p:cNvPr id="7" name="Rounded Rectangle 6"/>
          <p:cNvSpPr/>
          <p:nvPr/>
        </p:nvSpPr>
        <p:spPr>
          <a:xfrm>
            <a:off x="548640" y="3657600"/>
            <a:ext cx="3576218" cy="10058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767328"/>
            <a:ext cx="3301898" cy="182880"/>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BUYER</a:t>
            </a:r>
          </a:p>
        </p:txBody>
      </p:sp>
      <p:sp>
        <p:nvSpPr>
          <p:cNvPr id="9" name="TextBox 8"/>
          <p:cNvSpPr txBox="1"/>
          <p:nvPr/>
        </p:nvSpPr>
        <p:spPr>
          <a:xfrm>
            <a:off x="685800" y="4005072"/>
            <a:ext cx="3301898" cy="530352"/>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Practice Manager / VP Operations</a:t>
            </a:r>
          </a:p>
        </p:txBody>
      </p:sp>
      <p:sp>
        <p:nvSpPr>
          <p:cNvPr id="10" name="Rounded Rectangle 9"/>
          <p:cNvSpPr/>
          <p:nvPr/>
        </p:nvSpPr>
        <p:spPr>
          <a:xfrm>
            <a:off x="4307738" y="3657600"/>
            <a:ext cx="3576218" cy="10058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4898" y="3767328"/>
            <a:ext cx="3301898" cy="182880"/>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REVENUE MODEL</a:t>
            </a:r>
          </a:p>
        </p:txBody>
      </p:sp>
      <p:sp>
        <p:nvSpPr>
          <p:cNvPr id="12" name="TextBox 11"/>
          <p:cNvSpPr txBox="1"/>
          <p:nvPr/>
        </p:nvSpPr>
        <p:spPr>
          <a:xfrm>
            <a:off x="4444898" y="4005072"/>
            <a:ext cx="3301898" cy="530352"/>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$3-5K/mo per practice</a:t>
            </a:r>
          </a:p>
        </p:txBody>
      </p:sp>
      <p:sp>
        <p:nvSpPr>
          <p:cNvPr id="13" name="Rounded Rectangle 12"/>
          <p:cNvSpPr/>
          <p:nvPr/>
        </p:nvSpPr>
        <p:spPr>
          <a:xfrm>
            <a:off x="8066836" y="3657600"/>
            <a:ext cx="3576218" cy="10058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3996" y="3767328"/>
            <a:ext cx="3301898" cy="182880"/>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DEPLOYMENT</a:t>
            </a:r>
          </a:p>
        </p:txBody>
      </p:sp>
      <p:sp>
        <p:nvSpPr>
          <p:cNvPr id="15" name="TextBox 14"/>
          <p:cNvSpPr txBox="1"/>
          <p:nvPr/>
        </p:nvSpPr>
        <p:spPr>
          <a:xfrm>
            <a:off x="8203996" y="4005072"/>
            <a:ext cx="3301898" cy="530352"/>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Docker sandbox (PHI isolation)</a:t>
            </a:r>
          </a:p>
        </p:txBody>
      </p:sp>
      <p:sp>
        <p:nvSpPr>
          <p:cNvPr id="16" name="TextBox 15"/>
          <p:cNvSpPr txBox="1"/>
          <p:nvPr/>
        </p:nvSpPr>
        <p:spPr>
          <a:xfrm>
            <a:off x="548640" y="4937760"/>
            <a:ext cx="11094415" cy="18288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Source: GBrain impl spec + AI Engineering Framework</a:t>
            </a:r>
          </a:p>
        </p:txBody>
      </p:sp>
      <p:sp>
        <p:nvSpPr>
          <p:cNvPr id="17" name="TextBox 1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32 / 82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UC-04 | HEALTHCARE</a:t>
            </a:r>
          </a:p>
        </p:txBody>
      </p:sp>
      <p:sp>
        <p:nvSpPr>
          <p:cNvPr id="5" name="TextBox 4"/>
          <p:cNvSpPr txBox="1"/>
          <p:nvPr/>
        </p:nvSpPr>
        <p:spPr>
          <a:xfrm>
            <a:off x="548640" y="1691640"/>
            <a:ext cx="11094415" cy="731520"/>
          </a:xfrm>
          <a:prstGeom prst="rect">
            <a:avLst/>
          </a:prstGeom>
          <a:noFill/>
        </p:spPr>
        <p:txBody>
          <a:bodyPr wrap="square" anchor="t" lIns="0" rIns="0" tIns="0" bIns="0">
            <a:normAutofit/>
          </a:bodyPr>
          <a:lstStyle/>
          <a:p>
            <a:pPr algn="l">
              <a:lnSpc>
                <a:spcPct val="105000"/>
              </a:lnSpc>
              <a:spcBef>
                <a:spcPts val="0"/>
              </a:spcBef>
            </a:pPr>
            <a:r>
              <a:rPr sz="2800" b="1" i="0">
                <a:solidFill>
                  <a:srgbClr val="FFFFFF"/>
                </a:solidFill>
                <a:latin typeface="Calibri"/>
              </a:rPr>
              <a:t>Clinical AI — Sepsis Detection + Care Gap Closure</a:t>
            </a:r>
          </a:p>
        </p:txBody>
      </p:sp>
      <p:sp>
        <p:nvSpPr>
          <p:cNvPr id="6" name="TextBox 5"/>
          <p:cNvSpPr txBox="1"/>
          <p:nvPr/>
        </p:nvSpPr>
        <p:spPr>
          <a:xfrm>
            <a:off x="548640" y="2514600"/>
            <a:ext cx="11094415" cy="274320"/>
          </a:xfrm>
          <a:prstGeom prst="rect">
            <a:avLst/>
          </a:prstGeom>
          <a:noFill/>
        </p:spPr>
        <p:txBody>
          <a:bodyPr wrap="square" anchor="t" lIns="0" rIns="0" tIns="0" bIns="0">
            <a:normAutofit/>
          </a:bodyPr>
          <a:lstStyle/>
          <a:p>
            <a:pPr algn="l">
              <a:lnSpc>
                <a:spcPct val="105000"/>
              </a:lnSpc>
              <a:spcBef>
                <a:spcPts val="0"/>
              </a:spcBef>
            </a:pPr>
            <a:r>
              <a:rPr sz="1400" b="1" i="0">
                <a:solidFill>
                  <a:srgbClr val="FFB800"/>
                </a:solidFill>
                <a:latin typeface="Calibri"/>
              </a:rPr>
              <a:t>Tampa General: 700+ lives saved | CommonSpirit: 61K care gap orders</a:t>
            </a:r>
          </a:p>
        </p:txBody>
      </p:sp>
      <p:sp>
        <p:nvSpPr>
          <p:cNvPr id="7" name="TextBox 6"/>
          <p:cNvSpPr txBox="1"/>
          <p:nvPr/>
        </p:nvSpPr>
        <p:spPr>
          <a:xfrm>
            <a:off x="548640" y="2926080"/>
            <a:ext cx="11094415" cy="274320"/>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Tampa General Hospital + CommonSpirit Health  |  Production 2025 (both)</a:t>
            </a:r>
          </a:p>
        </p:txBody>
      </p:sp>
      <p:sp>
        <p:nvSpPr>
          <p:cNvPr id="8" name="Rounded Rectangle 7"/>
          <p:cNvSpPr/>
          <p:nvPr/>
        </p:nvSpPr>
        <p:spPr>
          <a:xfrm>
            <a:off x="548640" y="3383280"/>
            <a:ext cx="2011680" cy="29260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383280"/>
            <a:ext cx="1737360" cy="292608"/>
          </a:xfrm>
          <a:prstGeom prst="rect">
            <a:avLst/>
          </a:prstGeom>
          <a:noFill/>
        </p:spPr>
        <p:txBody>
          <a:bodyPr wrap="square" anchor="ctr" lIns="0" rIns="0" tIns="0" bIns="0">
            <a:noAutofit/>
          </a:bodyPr>
          <a:lstStyle/>
          <a:p>
            <a:pPr algn="l">
              <a:lnSpc>
                <a:spcPct val="105000"/>
              </a:lnSpc>
              <a:spcBef>
                <a:spcPts val="0"/>
              </a:spcBef>
            </a:pPr>
            <a:r>
              <a:rPr sz="1000" b="1" i="0">
                <a:solidFill>
                  <a:srgbClr val="FFFFFF"/>
                </a:solidFill>
                <a:latin typeface="Calibri"/>
              </a:rPr>
              <a:t>VERTICAL SCORE: Viable</a:t>
            </a:r>
          </a:p>
        </p:txBody>
      </p:sp>
      <p:sp>
        <p:nvSpPr>
          <p:cNvPr id="10" name="TextBox 9"/>
          <p:cNvSpPr txBox="1"/>
          <p:nvPr/>
        </p:nvSpPr>
        <p:spPr>
          <a:xfrm>
            <a:off x="548640" y="3931920"/>
            <a:ext cx="11094415" cy="2743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Source: Becker's Hospital Review Dec 2025</a:t>
            </a:r>
          </a:p>
        </p:txBody>
      </p:sp>
      <p:sp>
        <p:nvSpPr>
          <p:cNvPr id="11" name="TextBox 1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33 / 82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Clinical Signals Missed at Scale</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UC-04 | HEALTHCARE — The Problem</a:t>
            </a:r>
          </a:p>
        </p:txBody>
      </p:sp>
      <p:sp>
        <p:nvSpPr>
          <p:cNvPr id="7" name="Rounded Rectangle 6"/>
          <p:cNvSpPr/>
          <p:nvPr/>
        </p:nvSpPr>
        <p:spPr>
          <a:xfrm>
            <a:off x="548640" y="160020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160020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01</a:t>
            </a:r>
          </a:p>
        </p:txBody>
      </p:sp>
      <p:sp>
        <p:nvSpPr>
          <p:cNvPr id="9" name="TextBox 8"/>
          <p:cNvSpPr txBox="1"/>
          <p:nvPr/>
        </p:nvSpPr>
        <p:spPr>
          <a:xfrm>
            <a:off x="1060704" y="165506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Sepsis: early indicators missed in high-volume EDs — catastrophic if delayed</a:t>
            </a:r>
          </a:p>
        </p:txBody>
      </p:sp>
      <p:sp>
        <p:nvSpPr>
          <p:cNvPr id="10" name="Rounded Rectangle 9"/>
          <p:cNvSpPr/>
          <p:nvPr/>
        </p:nvSpPr>
        <p:spPr>
          <a:xfrm>
            <a:off x="548640" y="2258568"/>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58568"/>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02</a:t>
            </a:r>
          </a:p>
        </p:txBody>
      </p:sp>
      <p:sp>
        <p:nvSpPr>
          <p:cNvPr id="12" name="TextBox 11"/>
          <p:cNvSpPr txBox="1"/>
          <p:nvPr/>
        </p:nvSpPr>
        <p:spPr>
          <a:xfrm>
            <a:off x="1060704" y="2313432"/>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Tampa General needed real-time vitals monitoring + care coordination across units</a:t>
            </a:r>
          </a:p>
        </p:txBody>
      </p:sp>
      <p:sp>
        <p:nvSpPr>
          <p:cNvPr id="13" name="Rounded Rectangle 12"/>
          <p:cNvSpPr/>
          <p:nvPr/>
        </p:nvSpPr>
        <p:spPr>
          <a:xfrm>
            <a:off x="548640" y="2916936"/>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 y="2916936"/>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03</a:t>
            </a:r>
          </a:p>
        </p:txBody>
      </p:sp>
      <p:sp>
        <p:nvSpPr>
          <p:cNvPr id="15" name="TextBox 14"/>
          <p:cNvSpPr txBox="1"/>
          <p:nvPr/>
        </p:nvSpPr>
        <p:spPr>
          <a:xfrm>
            <a:off x="1060704" y="2971800"/>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CommonSpirit: 140+ hospitals, screening compliance inconsistent across sites</a:t>
            </a:r>
          </a:p>
        </p:txBody>
      </p:sp>
      <p:sp>
        <p:nvSpPr>
          <p:cNvPr id="16" name="Rounded Rectangle 15"/>
          <p:cNvSpPr/>
          <p:nvPr/>
        </p:nvSpPr>
        <p:spPr>
          <a:xfrm>
            <a:off x="548640" y="3575304"/>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3575304"/>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04</a:t>
            </a:r>
          </a:p>
        </p:txBody>
      </p:sp>
      <p:sp>
        <p:nvSpPr>
          <p:cNvPr id="18" name="TextBox 17"/>
          <p:cNvSpPr txBox="1"/>
          <p:nvPr/>
        </p:nvSpPr>
        <p:spPr>
          <a:xfrm>
            <a:off x="1060704" y="3630168"/>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Manual risk stratification cannot scale across 200+ AI-assisted clinical workflows</a:t>
            </a:r>
          </a:p>
        </p:txBody>
      </p:sp>
      <p:sp>
        <p:nvSpPr>
          <p:cNvPr id="19" name="Rounded Rectangle 18"/>
          <p:cNvSpPr/>
          <p:nvPr/>
        </p:nvSpPr>
        <p:spPr>
          <a:xfrm>
            <a:off x="548640" y="4233672"/>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 y="4233672"/>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05</a:t>
            </a:r>
          </a:p>
        </p:txBody>
      </p:sp>
      <p:sp>
        <p:nvSpPr>
          <p:cNvPr id="21" name="TextBox 20"/>
          <p:cNvSpPr txBox="1"/>
          <p:nvPr/>
        </p:nvSpPr>
        <p:spPr>
          <a:xfrm>
            <a:off x="1060704" y="4288536"/>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Outcome verification: need binary, measurable results to prove clinical AI works</a:t>
            </a:r>
          </a:p>
        </p:txBody>
      </p:sp>
      <p:sp>
        <p:nvSpPr>
          <p:cNvPr id="22" name="Rounded Rectangle 21"/>
          <p:cNvSpPr/>
          <p:nvPr/>
        </p:nvSpPr>
        <p:spPr>
          <a:xfrm>
            <a:off x="548640" y="489204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489204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06</a:t>
            </a:r>
          </a:p>
        </p:txBody>
      </p:sp>
      <p:sp>
        <p:nvSpPr>
          <p:cNvPr id="24" name="TextBox 23"/>
          <p:cNvSpPr txBox="1"/>
          <p:nvPr/>
        </p:nvSpPr>
        <p:spPr>
          <a:xfrm>
            <a:off x="1060704" y="494690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Physician adoption barrier: clinicians won't use tools that add clicks without value</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34 / 82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Predictive ML Integrated into Clinical Workflow</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UC-04 | HEALTHCARE — How They Solved It</a:t>
            </a:r>
          </a:p>
        </p:txBody>
      </p:sp>
      <p:sp>
        <p:nvSpPr>
          <p:cNvPr id="7" name="Rounded Rectangle 6"/>
          <p:cNvSpPr/>
          <p:nvPr/>
        </p:nvSpPr>
        <p:spPr>
          <a:xfrm>
            <a:off x="548640" y="1463040"/>
            <a:ext cx="1645920" cy="256032"/>
          </a:xfrm>
          <a:prstGeom prst="roundRect">
            <a:avLst>
              <a:gd name="adj" fmla="val 4000"/>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1371600" cy="256032"/>
          </a:xfrm>
          <a:prstGeom prst="rect">
            <a:avLst/>
          </a:prstGeom>
          <a:noFill/>
        </p:spPr>
        <p:txBody>
          <a:bodyPr wrap="square" anchor="ctr" lIns="0" rIns="0" tIns="0" bIns="0">
            <a:noAutofit/>
          </a:bodyPr>
          <a:lstStyle/>
          <a:p>
            <a:pPr algn="l">
              <a:lnSpc>
                <a:spcPct val="105000"/>
              </a:lnSpc>
              <a:spcBef>
                <a:spcPts val="0"/>
              </a:spcBef>
            </a:pPr>
            <a:r>
              <a:rPr sz="850" b="1" i="0">
                <a:solidFill>
                  <a:srgbClr val="FFFFFF"/>
                </a:solidFill>
                <a:latin typeface="Calibri"/>
              </a:rPr>
              <a:t>THEIR PROPRIETARY STACK</a:t>
            </a:r>
          </a:p>
        </p:txBody>
      </p:sp>
      <p:sp>
        <p:nvSpPr>
          <p:cNvPr id="9" name="Rounded Rectangle 8"/>
          <p:cNvSpPr/>
          <p:nvPr/>
        </p:nvSpPr>
        <p:spPr>
          <a:xfrm>
            <a:off x="548640" y="1874519"/>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 y="1874519"/>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01</a:t>
            </a:r>
          </a:p>
        </p:txBody>
      </p:sp>
      <p:sp>
        <p:nvSpPr>
          <p:cNvPr id="11" name="TextBox 10"/>
          <p:cNvSpPr txBox="1"/>
          <p:nvPr/>
        </p:nvSpPr>
        <p:spPr>
          <a:xfrm>
            <a:off x="1060704" y="1929383"/>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TGH + Palantir: proprietary AI-driven care coordination center integrates EHR signals</a:t>
            </a:r>
          </a:p>
        </p:txBody>
      </p:sp>
      <p:sp>
        <p:nvSpPr>
          <p:cNvPr id="12" name="Rounded Rectangle 11"/>
          <p:cNvSpPr/>
          <p:nvPr/>
        </p:nvSpPr>
        <p:spPr>
          <a:xfrm>
            <a:off x="548640" y="2532887"/>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504" y="2532887"/>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02</a:t>
            </a:r>
          </a:p>
        </p:txBody>
      </p:sp>
      <p:sp>
        <p:nvSpPr>
          <p:cNvPr id="14" name="TextBox 13"/>
          <p:cNvSpPr txBox="1"/>
          <p:nvPr/>
        </p:nvSpPr>
        <p:spPr>
          <a:xfrm>
            <a:off x="1060704" y="2587751"/>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Predictive ML detects sepsis indicators → automated intervention triggers (proprietary)</a:t>
            </a:r>
          </a:p>
        </p:txBody>
      </p:sp>
      <p:sp>
        <p:nvSpPr>
          <p:cNvPr id="15" name="Rounded Rectangle 14"/>
          <p:cNvSpPr/>
          <p:nvPr/>
        </p:nvSpPr>
        <p:spPr>
          <a:xfrm>
            <a:off x="548640" y="3191255"/>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 y="3191255"/>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03</a:t>
            </a:r>
          </a:p>
        </p:txBody>
      </p:sp>
      <p:sp>
        <p:nvSpPr>
          <p:cNvPr id="17" name="TextBox 16"/>
          <p:cNvSpPr txBox="1"/>
          <p:nvPr/>
        </p:nvSpPr>
        <p:spPr>
          <a:xfrm>
            <a:off x="1060704" y="3246119"/>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Nebraska Medicine extension: 5% shorter stays = 37 additional beds without construction</a:t>
            </a:r>
          </a:p>
        </p:txBody>
      </p:sp>
      <p:sp>
        <p:nvSpPr>
          <p:cNvPr id="18" name="Rounded Rectangle 17"/>
          <p:cNvSpPr/>
          <p:nvPr/>
        </p:nvSpPr>
        <p:spPr>
          <a:xfrm>
            <a:off x="548640" y="3849623"/>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 y="3849623"/>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04</a:t>
            </a:r>
          </a:p>
        </p:txBody>
      </p:sp>
      <p:sp>
        <p:nvSpPr>
          <p:cNvPr id="20" name="TextBox 19"/>
          <p:cNvSpPr txBox="1"/>
          <p:nvPr/>
        </p:nvSpPr>
        <p:spPr>
          <a:xfrm>
            <a:off x="1060704" y="3904487"/>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CSH: Proprietary AI ingests EHR data → personalized cancer screening timelines</a:t>
            </a:r>
          </a:p>
        </p:txBody>
      </p:sp>
      <p:sp>
        <p:nvSpPr>
          <p:cNvPr id="21" name="Rounded Rectangle 20"/>
          <p:cNvSpPr/>
          <p:nvPr/>
        </p:nvSpPr>
        <p:spPr>
          <a:xfrm>
            <a:off x="548640" y="4507991"/>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 y="4507991"/>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05</a:t>
            </a:r>
          </a:p>
        </p:txBody>
      </p:sp>
      <p:sp>
        <p:nvSpPr>
          <p:cNvPr id="23" name="TextBox 22"/>
          <p:cNvSpPr txBox="1"/>
          <p:nvPr/>
        </p:nvSpPr>
        <p:spPr>
          <a:xfrm>
            <a:off x="1060704" y="4562855"/>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200+ AI tools active across 140+ hospital system — proprietary platform approach</a:t>
            </a:r>
          </a:p>
        </p:txBody>
      </p:sp>
      <p:sp>
        <p:nvSpPr>
          <p:cNvPr id="24" name="Rounded Rectangle 23"/>
          <p:cNvSpPr/>
          <p:nvPr/>
        </p:nvSpPr>
        <p:spPr>
          <a:xfrm>
            <a:off x="548640" y="5166359"/>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 y="5166359"/>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06</a:t>
            </a:r>
          </a:p>
        </p:txBody>
      </p:sp>
      <p:sp>
        <p:nvSpPr>
          <p:cNvPr id="26" name="TextBox 25"/>
          <p:cNvSpPr txBox="1"/>
          <p:nvPr/>
        </p:nvSpPr>
        <p:spPr>
          <a:xfrm>
            <a:off x="1060704" y="5221223"/>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Clinician-in-the-loop: AI recommends, clinician reviews and acts — not bypass</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35 / 82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KEY METRICS — UC-04 | HEALTHCARE</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700+</a:t>
            </a:r>
          </a:p>
        </p:txBody>
      </p:sp>
      <p:sp>
        <p:nvSpPr>
          <p:cNvPr id="9" name="TextBox 8"/>
          <p:cNvSpPr txBox="1"/>
          <p:nvPr/>
        </p:nvSpPr>
        <p:spPr>
          <a:xfrm>
            <a:off x="685800"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Lives Saved</a:t>
            </a:r>
          </a:p>
        </p:txBody>
      </p:sp>
      <p:sp>
        <p:nvSpPr>
          <p:cNvPr id="10" name="TextBox 9"/>
          <p:cNvSpPr txBox="1"/>
          <p:nvPr/>
        </p:nvSpPr>
        <p:spPr>
          <a:xfrm>
            <a:off x="685800"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Tampa General — sepsis detection program</a:t>
            </a:r>
          </a:p>
        </p:txBody>
      </p:sp>
      <p:sp>
        <p:nvSpPr>
          <p:cNvPr id="11" name="Rounded Rectangle 10"/>
          <p:cNvSpPr/>
          <p:nvPr/>
        </p:nvSpPr>
        <p:spPr>
          <a:xfrm>
            <a:off x="4313834"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50994"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5%</a:t>
            </a:r>
          </a:p>
        </p:txBody>
      </p:sp>
      <p:sp>
        <p:nvSpPr>
          <p:cNvPr id="13" name="TextBox 12"/>
          <p:cNvSpPr txBox="1"/>
          <p:nvPr/>
        </p:nvSpPr>
        <p:spPr>
          <a:xfrm>
            <a:off x="4450994"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LOS Reduction</a:t>
            </a:r>
          </a:p>
        </p:txBody>
      </p:sp>
      <p:sp>
        <p:nvSpPr>
          <p:cNvPr id="14" name="TextBox 13"/>
          <p:cNvSpPr txBox="1"/>
          <p:nvPr/>
        </p:nvSpPr>
        <p:spPr>
          <a:xfrm>
            <a:off x="4450994"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Nebraska Medicine — equivalent to 37 beds</a:t>
            </a:r>
          </a:p>
        </p:txBody>
      </p:sp>
      <p:sp>
        <p:nvSpPr>
          <p:cNvPr id="15" name="Rounded Rectangle 14"/>
          <p:cNvSpPr/>
          <p:nvPr/>
        </p:nvSpPr>
        <p:spPr>
          <a:xfrm>
            <a:off x="8079028"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6188"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61K</a:t>
            </a:r>
          </a:p>
        </p:txBody>
      </p:sp>
      <p:sp>
        <p:nvSpPr>
          <p:cNvPr id="17" name="TextBox 16"/>
          <p:cNvSpPr txBox="1"/>
          <p:nvPr/>
        </p:nvSpPr>
        <p:spPr>
          <a:xfrm>
            <a:off x="8216188"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Care Gap Orders</a:t>
            </a:r>
          </a:p>
        </p:txBody>
      </p:sp>
      <p:sp>
        <p:nvSpPr>
          <p:cNvPr id="18" name="TextBox 17"/>
          <p:cNvSpPr txBox="1"/>
          <p:nvPr/>
        </p:nvSpPr>
        <p:spPr>
          <a:xfrm>
            <a:off x="8216188"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CommonSpirit FY2025 — 5x YoY increase</a:t>
            </a:r>
          </a:p>
        </p:txBody>
      </p:sp>
      <p:sp>
        <p:nvSpPr>
          <p:cNvPr id="19" name="Rounded Rectangle 18"/>
          <p:cNvSpPr/>
          <p:nvPr/>
        </p:nvSpPr>
        <p:spPr>
          <a:xfrm>
            <a:off x="548640"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140+</a:t>
            </a:r>
          </a:p>
        </p:txBody>
      </p:sp>
      <p:sp>
        <p:nvSpPr>
          <p:cNvPr id="21" name="TextBox 20"/>
          <p:cNvSpPr txBox="1"/>
          <p:nvPr/>
        </p:nvSpPr>
        <p:spPr>
          <a:xfrm>
            <a:off x="685800"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Hospitals</a:t>
            </a:r>
          </a:p>
        </p:txBody>
      </p:sp>
      <p:sp>
        <p:nvSpPr>
          <p:cNvPr id="22" name="TextBox 21"/>
          <p:cNvSpPr txBox="1"/>
          <p:nvPr/>
        </p:nvSpPr>
        <p:spPr>
          <a:xfrm>
            <a:off x="685800"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CommonSpirit deployment scale</a:t>
            </a:r>
          </a:p>
        </p:txBody>
      </p:sp>
      <p:sp>
        <p:nvSpPr>
          <p:cNvPr id="23" name="Rounded Rectangle 22"/>
          <p:cNvSpPr/>
          <p:nvPr/>
        </p:nvSpPr>
        <p:spPr>
          <a:xfrm>
            <a:off x="4313834"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50994"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200+</a:t>
            </a:r>
          </a:p>
        </p:txBody>
      </p:sp>
      <p:sp>
        <p:nvSpPr>
          <p:cNvPr id="25" name="TextBox 24"/>
          <p:cNvSpPr txBox="1"/>
          <p:nvPr/>
        </p:nvSpPr>
        <p:spPr>
          <a:xfrm>
            <a:off x="4450994"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AI Tools Active</a:t>
            </a:r>
          </a:p>
        </p:txBody>
      </p:sp>
      <p:sp>
        <p:nvSpPr>
          <p:cNvPr id="26" name="TextBox 25"/>
          <p:cNvSpPr txBox="1"/>
          <p:nvPr/>
        </p:nvSpPr>
        <p:spPr>
          <a:xfrm>
            <a:off x="4450994"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Across CommonSpirit health system</a:t>
            </a:r>
          </a:p>
        </p:txBody>
      </p:sp>
      <p:sp>
        <p:nvSpPr>
          <p:cNvPr id="27" name="Rounded Rectangle 26"/>
          <p:cNvSpPr/>
          <p:nvPr/>
        </p:nvSpPr>
        <p:spPr>
          <a:xfrm>
            <a:off x="8079028"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6188"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37</a:t>
            </a:r>
          </a:p>
        </p:txBody>
      </p:sp>
      <p:sp>
        <p:nvSpPr>
          <p:cNvPr id="29" name="TextBox 28"/>
          <p:cNvSpPr txBox="1"/>
          <p:nvPr/>
        </p:nvSpPr>
        <p:spPr>
          <a:xfrm>
            <a:off x="8216188"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Virtual Beds</a:t>
            </a:r>
          </a:p>
        </p:txBody>
      </p:sp>
      <p:sp>
        <p:nvSpPr>
          <p:cNvPr id="30" name="TextBox 29"/>
          <p:cNvSpPr txBox="1"/>
          <p:nvPr/>
        </p:nvSpPr>
        <p:spPr>
          <a:xfrm>
            <a:off x="8216188"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Capacity gained without construction</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36 / 82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How We'd Build It — UC-04 | HEALTHCARE</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Our OpenHands + MCP replication of the same outcome</a:t>
            </a:r>
          </a:p>
        </p:txBody>
      </p:sp>
      <p:sp>
        <p:nvSpPr>
          <p:cNvPr id="7" name="Rounded Rectangle 6"/>
          <p:cNvSpPr/>
          <p:nvPr/>
        </p:nvSpPr>
        <p:spPr>
          <a:xfrm>
            <a:off x="548640" y="1463040"/>
            <a:ext cx="2011680" cy="256032"/>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1737360" cy="256032"/>
          </a:xfrm>
          <a:prstGeom prst="rect">
            <a:avLst/>
          </a:prstGeom>
          <a:noFill/>
        </p:spPr>
        <p:txBody>
          <a:bodyPr wrap="square" anchor="ctr" lIns="0" rIns="0" tIns="0" bIns="0">
            <a:noAutofit/>
          </a:bodyPr>
          <a:lstStyle/>
          <a:p>
            <a:pPr algn="l">
              <a:lnSpc>
                <a:spcPct val="105000"/>
              </a:lnSpc>
              <a:spcBef>
                <a:spcPts val="0"/>
              </a:spcBef>
            </a:pPr>
            <a:r>
              <a:rPr sz="850" b="1" i="0">
                <a:solidFill>
                  <a:srgbClr val="FFFFFF"/>
                </a:solidFill>
                <a:latin typeface="Calibri"/>
              </a:rPr>
              <a:t>OUR OPEN ARCHITECTURE</a:t>
            </a:r>
          </a:p>
        </p:txBody>
      </p:sp>
      <p:sp>
        <p:nvSpPr>
          <p:cNvPr id="9" name="TextBox 8"/>
          <p:cNvSpPr txBox="1"/>
          <p:nvPr/>
        </p:nvSpPr>
        <p:spPr>
          <a:xfrm>
            <a:off x="548640" y="1874519"/>
            <a:ext cx="1828800"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AGENT STACK</a:t>
            </a:r>
          </a:p>
        </p:txBody>
      </p:sp>
      <p:sp>
        <p:nvSpPr>
          <p:cNvPr id="10" name="TextBox 9"/>
          <p:cNvSpPr txBox="1"/>
          <p:nvPr/>
        </p:nvSpPr>
        <p:spPr>
          <a:xfrm>
            <a:off x="548640" y="210311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vitals-monitoring-agent</a:t>
            </a:r>
          </a:p>
        </p:txBody>
      </p:sp>
      <p:sp>
        <p:nvSpPr>
          <p:cNvPr id="11" name="TextBox 10"/>
          <p:cNvSpPr txBox="1"/>
          <p:nvPr/>
        </p:nvSpPr>
        <p:spPr>
          <a:xfrm>
            <a:off x="548640" y="224942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Real-time EHR vitals stream → sepsis risk scoring → early warning</a:t>
            </a:r>
          </a:p>
        </p:txBody>
      </p:sp>
      <p:sp>
        <p:nvSpPr>
          <p:cNvPr id="12" name="TextBox 11"/>
          <p:cNvSpPr txBox="1"/>
          <p:nvPr/>
        </p:nvSpPr>
        <p:spPr>
          <a:xfrm>
            <a:off x="548640" y="246887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care-coordination-agent</a:t>
            </a:r>
          </a:p>
        </p:txBody>
      </p:sp>
      <p:sp>
        <p:nvSpPr>
          <p:cNvPr id="13" name="TextBox 12"/>
          <p:cNvSpPr txBox="1"/>
          <p:nvPr/>
        </p:nvSpPr>
        <p:spPr>
          <a:xfrm>
            <a:off x="548640" y="261518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Discharge timing + bed allocation + intervention triggers</a:t>
            </a:r>
          </a:p>
        </p:txBody>
      </p:sp>
      <p:sp>
        <p:nvSpPr>
          <p:cNvPr id="14" name="TextBox 13"/>
          <p:cNvSpPr txBox="1"/>
          <p:nvPr/>
        </p:nvSpPr>
        <p:spPr>
          <a:xfrm>
            <a:off x="548640" y="283463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screening-agent</a:t>
            </a:r>
          </a:p>
        </p:txBody>
      </p:sp>
      <p:sp>
        <p:nvSpPr>
          <p:cNvPr id="15" name="TextBox 14"/>
          <p:cNvSpPr txBox="1"/>
          <p:nvPr/>
        </p:nvSpPr>
        <p:spPr>
          <a:xfrm>
            <a:off x="548640" y="298094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Patient risk factors → personalized screening timelines → order recommendation</a:t>
            </a:r>
          </a:p>
        </p:txBody>
      </p:sp>
      <p:sp>
        <p:nvSpPr>
          <p:cNvPr id="16" name="TextBox 15"/>
          <p:cNvSpPr txBox="1"/>
          <p:nvPr/>
        </p:nvSpPr>
        <p:spPr>
          <a:xfrm>
            <a:off x="6278727" y="1874519"/>
            <a:ext cx="5364327"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MCP SERVERS</a:t>
            </a:r>
          </a:p>
        </p:txBody>
      </p:sp>
      <p:sp>
        <p:nvSpPr>
          <p:cNvPr id="17" name="TextBox 16"/>
          <p:cNvSpPr txBox="1"/>
          <p:nvPr/>
        </p:nvSpPr>
        <p:spPr>
          <a:xfrm>
            <a:off x="6278727" y="2103119"/>
            <a:ext cx="5364327" cy="182880"/>
          </a:xfrm>
          <a:prstGeom prst="rect">
            <a:avLst/>
          </a:prstGeom>
          <a:noFill/>
        </p:spPr>
        <p:txBody>
          <a:bodyPr wrap="square" anchor="t" lIns="0" rIns="0" tIns="0" bIns="0">
            <a:normAutofit/>
          </a:bodyPr>
          <a:lstStyle/>
          <a:p>
            <a:pPr algn="l">
              <a:lnSpc>
                <a:spcPct val="105000"/>
              </a:lnSpc>
              <a:spcBef>
                <a:spcPts val="0"/>
              </a:spcBef>
            </a:pPr>
            <a:r>
              <a:rPr sz="900" b="1" i="0">
                <a:solidFill>
                  <a:srgbClr val="F2A83B"/>
                </a:solidFill>
                <a:latin typeface="Calibri"/>
              </a:rPr>
              <a:t>  FHIR R4 MCP (bidirectional EHR)  [TO BUILD]</a:t>
            </a:r>
          </a:p>
        </p:txBody>
      </p:sp>
      <p:sp>
        <p:nvSpPr>
          <p:cNvPr id="18" name="TextBox 17"/>
          <p:cNvSpPr txBox="1"/>
          <p:nvPr/>
        </p:nvSpPr>
        <p:spPr>
          <a:xfrm>
            <a:off x="6278727" y="2331719"/>
            <a:ext cx="5364327" cy="182880"/>
          </a:xfrm>
          <a:prstGeom prst="rect">
            <a:avLst/>
          </a:prstGeom>
          <a:noFill/>
        </p:spPr>
        <p:txBody>
          <a:bodyPr wrap="square" anchor="t" lIns="0" rIns="0" tIns="0" bIns="0">
            <a:normAutofit/>
          </a:bodyPr>
          <a:lstStyle/>
          <a:p>
            <a:pPr algn="l">
              <a:lnSpc>
                <a:spcPct val="105000"/>
              </a:lnSpc>
              <a:spcBef>
                <a:spcPts val="0"/>
              </a:spcBef>
            </a:pPr>
            <a:r>
              <a:rPr sz="900" b="1" i="0">
                <a:solidFill>
                  <a:srgbClr val="F2A83B"/>
                </a:solidFill>
                <a:latin typeface="Calibri"/>
              </a:rPr>
              <a:t>  Vitals streaming MCP  [TO BUILD]</a:t>
            </a:r>
          </a:p>
        </p:txBody>
      </p:sp>
      <p:sp>
        <p:nvSpPr>
          <p:cNvPr id="19" name="TextBox 18"/>
          <p:cNvSpPr txBox="1"/>
          <p:nvPr/>
        </p:nvSpPr>
        <p:spPr>
          <a:xfrm>
            <a:off x="6278727" y="2560319"/>
            <a:ext cx="5364327" cy="182880"/>
          </a:xfrm>
          <a:prstGeom prst="rect">
            <a:avLst/>
          </a:prstGeom>
          <a:noFill/>
        </p:spPr>
        <p:txBody>
          <a:bodyPr wrap="square" anchor="t" lIns="0" rIns="0" tIns="0" bIns="0">
            <a:normAutofit/>
          </a:bodyPr>
          <a:lstStyle/>
          <a:p>
            <a:pPr algn="l">
              <a:lnSpc>
                <a:spcPct val="105000"/>
              </a:lnSpc>
              <a:spcBef>
                <a:spcPts val="0"/>
              </a:spcBef>
            </a:pPr>
            <a:r>
              <a:rPr sz="900" b="1" i="0">
                <a:solidFill>
                  <a:srgbClr val="F2A83B"/>
                </a:solidFill>
                <a:latin typeface="Calibri"/>
              </a:rPr>
              <a:t>  Clinical decision support MCP  [TO BUILD]</a:t>
            </a:r>
          </a:p>
        </p:txBody>
      </p:sp>
      <p:sp>
        <p:nvSpPr>
          <p:cNvPr id="20" name="Rounded Rectangle 19"/>
          <p:cNvSpPr/>
          <p:nvPr/>
        </p:nvSpPr>
        <p:spPr>
          <a:xfrm>
            <a:off x="548640" y="4389120"/>
            <a:ext cx="11094415" cy="777240"/>
          </a:xfrm>
          <a:prstGeom prst="roundRect">
            <a:avLst>
              <a:gd name="adj" fmla="val 5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480560"/>
            <a:ext cx="18288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KEY DIFFERENCE</a:t>
            </a:r>
          </a:p>
        </p:txBody>
      </p:sp>
      <p:sp>
        <p:nvSpPr>
          <p:cNvPr id="22" name="TextBox 21"/>
          <p:cNvSpPr txBox="1"/>
          <p:nvPr/>
        </p:nvSpPr>
        <p:spPr>
          <a:xfrm>
            <a:off x="731520" y="4709160"/>
            <a:ext cx="10728655" cy="320040"/>
          </a:xfrm>
          <a:prstGeom prst="rect">
            <a:avLst/>
          </a:prstGeom>
          <a:noFill/>
        </p:spPr>
        <p:txBody>
          <a:bodyPr wrap="square" anchor="t" lIns="0" rIns="0" tIns="0" bIns="0">
            <a:normAutofit/>
          </a:bodyPr>
          <a:lstStyle/>
          <a:p>
            <a:pPr algn="l">
              <a:lnSpc>
                <a:spcPct val="105000"/>
              </a:lnSpc>
              <a:spcBef>
                <a:spcPts val="0"/>
              </a:spcBef>
            </a:pPr>
            <a:r>
              <a:rPr sz="1000" b="0" i="0">
                <a:solidFill>
                  <a:srgbClr val="0A1628"/>
                </a:solidFill>
                <a:latin typeface="Calibri"/>
              </a:rPr>
              <a:t>Palantir built this as a proprietary platform. We'd replicate with OpenHands agents + FHIR R4 MCP wrappers + clinician confirmation mode — open, composable, not locked to one vendor.</a:t>
            </a:r>
          </a:p>
        </p:txBody>
      </p:sp>
      <p:sp>
        <p:nvSpPr>
          <p:cNvPr id="23" name="TextBox 22"/>
          <p:cNvSpPr txBox="1"/>
          <p:nvPr/>
        </p:nvSpPr>
        <p:spPr>
          <a:xfrm>
            <a:off x="548640" y="5349240"/>
            <a:ext cx="11094415" cy="182880"/>
          </a:xfrm>
          <a:prstGeom prst="rect">
            <a:avLst/>
          </a:prstGeom>
          <a:noFill/>
        </p:spPr>
        <p:txBody>
          <a:bodyPr wrap="square" anchor="t" lIns="0" rIns="0" tIns="0" bIns="0">
            <a:normAutofit/>
          </a:bodyPr>
          <a:lstStyle/>
          <a:p>
            <a:pPr algn="l">
              <a:lnSpc>
                <a:spcPct val="105000"/>
              </a:lnSpc>
              <a:spcBef>
                <a:spcPts val="0"/>
              </a:spcBef>
            </a:pPr>
            <a:r>
              <a:rPr sz="850" b="0" i="0">
                <a:solidFill>
                  <a:srgbClr val="5B6B7C"/>
                </a:solidFill>
                <a:latin typeface="Calibri"/>
              </a:rPr>
              <a:t>Pattern: Agent(llm, tools) → Conversation(agent, workspace, plugins) | MCP config at platform level</a:t>
            </a:r>
          </a:p>
        </p:txBody>
      </p:sp>
      <p:sp>
        <p:nvSpPr>
          <p:cNvPr id="24" name="TextBox 2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37 / 82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COMPETITIVE LANDSCAPE — UC-04 | HEALTHCARE</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18488"/>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Palantir Foundry</a:t>
            </a:r>
          </a:p>
        </p:txBody>
      </p:sp>
      <p:sp>
        <p:nvSpPr>
          <p:cNvPr id="9" name="TextBox 8"/>
          <p:cNvSpPr txBox="1"/>
          <p:nvPr/>
        </p:nvSpPr>
        <p:spPr>
          <a:xfrm>
            <a:off x="3749040" y="1618488"/>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TGH partner</a:t>
            </a:r>
          </a:p>
        </p:txBody>
      </p:sp>
      <p:sp>
        <p:nvSpPr>
          <p:cNvPr id="10" name="TextBox 9"/>
          <p:cNvSpPr txBox="1"/>
          <p:nvPr/>
        </p:nvSpPr>
        <p:spPr>
          <a:xfrm>
            <a:off x="731520" y="1892808"/>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Care coordination platform — strong but expensive, enterprise-only</a:t>
            </a:r>
          </a:p>
        </p:txBody>
      </p:sp>
      <p:sp>
        <p:nvSpPr>
          <p:cNvPr id="11" name="Rounded Rectangle 10"/>
          <p:cNvSpPr/>
          <p:nvPr/>
        </p:nvSpPr>
        <p:spPr>
          <a:xfrm>
            <a:off x="548640" y="2395728"/>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05456"/>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Epic Sepsis Model</a:t>
            </a:r>
          </a:p>
        </p:txBody>
      </p:sp>
      <p:sp>
        <p:nvSpPr>
          <p:cNvPr id="13" name="TextBox 12"/>
          <p:cNvSpPr txBox="1"/>
          <p:nvPr/>
        </p:nvSpPr>
        <p:spPr>
          <a:xfrm>
            <a:off x="3749040" y="2505456"/>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Built-in EHR</a:t>
            </a:r>
          </a:p>
        </p:txBody>
      </p:sp>
      <p:sp>
        <p:nvSpPr>
          <p:cNvPr id="14" name="TextBox 13"/>
          <p:cNvSpPr txBox="1"/>
          <p:nvPr/>
        </p:nvSpPr>
        <p:spPr>
          <a:xfrm>
            <a:off x="731520" y="2779776"/>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High false positive rate historically — improved in recent versions</a:t>
            </a:r>
          </a:p>
        </p:txBody>
      </p:sp>
      <p:sp>
        <p:nvSpPr>
          <p:cNvPr id="15" name="Rounded Rectangle 14"/>
          <p:cNvSpPr/>
          <p:nvPr/>
        </p:nvSpPr>
        <p:spPr>
          <a:xfrm>
            <a:off x="548640" y="3282696"/>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392424"/>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Viz.ai</a:t>
            </a:r>
          </a:p>
        </p:txBody>
      </p:sp>
      <p:sp>
        <p:nvSpPr>
          <p:cNvPr id="17" name="TextBox 16"/>
          <p:cNvSpPr txBox="1"/>
          <p:nvPr/>
        </p:nvSpPr>
        <p:spPr>
          <a:xfrm>
            <a:off x="3749040" y="3392424"/>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Stroke/PE detection</a:t>
            </a:r>
          </a:p>
        </p:txBody>
      </p:sp>
      <p:sp>
        <p:nvSpPr>
          <p:cNvPr id="18" name="TextBox 17"/>
          <p:cNvSpPr txBox="1"/>
          <p:nvPr/>
        </p:nvSpPr>
        <p:spPr>
          <a:xfrm>
            <a:off x="731520" y="3666744"/>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Narrow use case — strong for radiology, not general clinical AI</a:t>
            </a:r>
          </a:p>
        </p:txBody>
      </p:sp>
      <p:sp>
        <p:nvSpPr>
          <p:cNvPr id="19" name="Rounded Rectangle 18"/>
          <p:cNvSpPr/>
          <p:nvPr/>
        </p:nvSpPr>
        <p:spPr>
          <a:xfrm>
            <a:off x="548640" y="4169664"/>
            <a:ext cx="11094415" cy="7772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279392"/>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FFFFFF"/>
                </a:solidFill>
                <a:latin typeface="Calibri"/>
              </a:rPr>
              <a:t>Our positioning</a:t>
            </a:r>
          </a:p>
        </p:txBody>
      </p:sp>
      <p:sp>
        <p:nvSpPr>
          <p:cNvPr id="21" name="TextBox 20"/>
          <p:cNvSpPr txBox="1"/>
          <p:nvPr/>
        </p:nvSpPr>
        <p:spPr>
          <a:xfrm>
            <a:off x="3749040" y="4279392"/>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FFB800"/>
                </a:solidFill>
                <a:latin typeface="Calibri"/>
              </a:rPr>
              <a:t>Agent architecture</a:t>
            </a:r>
          </a:p>
        </p:txBody>
      </p:sp>
      <p:sp>
        <p:nvSpPr>
          <p:cNvPr id="22" name="TextBox 21"/>
          <p:cNvSpPr txBox="1"/>
          <p:nvPr/>
        </p:nvSpPr>
        <p:spPr>
          <a:xfrm>
            <a:off x="731520" y="4553712"/>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Composable agents via FHIR — not locked to one platform</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38 / 82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1094415"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03</a:t>
            </a:r>
          </a:p>
        </p:txBody>
      </p:sp>
      <p:sp>
        <p:nvSpPr>
          <p:cNvPr id="5" name="TextBox 4"/>
          <p:cNvSpPr txBox="1"/>
          <p:nvPr/>
        </p:nvSpPr>
        <p:spPr>
          <a:xfrm>
            <a:off x="548640" y="2240280"/>
            <a:ext cx="11094415" cy="822960"/>
          </a:xfrm>
          <a:prstGeom prst="rect">
            <a:avLst/>
          </a:prstGeom>
          <a:noFill/>
        </p:spPr>
        <p:txBody>
          <a:bodyPr wrap="square" anchor="t" lIns="0" rIns="0" tIns="0" bIns="0">
            <a:normAutofit/>
          </a:bodyPr>
          <a:lstStyle/>
          <a:p>
            <a:pPr algn="l">
              <a:lnSpc>
                <a:spcPct val="105000"/>
              </a:lnSpc>
              <a:spcBef>
                <a:spcPts val="0"/>
              </a:spcBef>
            </a:pPr>
            <a:r>
              <a:rPr sz="3600" b="1" i="0">
                <a:solidFill>
                  <a:srgbClr val="FFFFFF"/>
                </a:solidFill>
                <a:latin typeface="Calibri"/>
              </a:rPr>
              <a:t>Legal</a:t>
            </a:r>
          </a:p>
        </p:txBody>
      </p:sp>
      <p:sp>
        <p:nvSpPr>
          <p:cNvPr id="6" name="TextBox 5"/>
          <p:cNvSpPr txBox="1"/>
          <p:nvPr/>
        </p:nvSpPr>
        <p:spPr>
          <a:xfrm>
            <a:off x="548640" y="3108960"/>
            <a:ext cx="11094415" cy="274320"/>
          </a:xfrm>
          <a:prstGeom prst="rect">
            <a:avLst/>
          </a:prstGeom>
          <a:noFill/>
        </p:spPr>
        <p:txBody>
          <a:bodyPr wrap="square" anchor="t" lIns="0" rIns="0" tIns="0" bIns="0">
            <a:noAutofit/>
          </a:bodyPr>
          <a:lstStyle/>
          <a:p>
            <a:pPr algn="l">
              <a:lnSpc>
                <a:spcPct val="105000"/>
              </a:lnSpc>
              <a:spcBef>
                <a:spcPts val="0"/>
              </a:spcBef>
            </a:pPr>
            <a:r>
              <a:rPr sz="1400" b="1" i="0">
                <a:solidFill>
                  <a:srgbClr val="FFB800"/>
                </a:solidFill>
                <a:latin typeface="Calibri"/>
              </a:rPr>
              <a:t>UC-05 | UC-10</a:t>
            </a:r>
          </a:p>
        </p:txBody>
      </p:sp>
      <p:sp>
        <p:nvSpPr>
          <p:cNvPr id="7" name="Rectangle 6"/>
          <p:cNvSpPr/>
          <p:nvPr/>
        </p:nvSpPr>
        <p:spPr>
          <a:xfrm>
            <a:off x="548640" y="3566160"/>
            <a:ext cx="3657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749039"/>
            <a:ext cx="11094415" cy="365760"/>
          </a:xfrm>
          <a:prstGeom prst="rect">
            <a:avLst/>
          </a:prstGeom>
          <a:noFill/>
        </p:spPr>
        <p:txBody>
          <a:bodyPr wrap="square" anchor="t" lIns="0" rIns="0" tIns="0" bIns="0">
            <a:normAutofit/>
          </a:bodyPr>
          <a:lstStyle/>
          <a:p>
            <a:pPr algn="l">
              <a:lnSpc>
                <a:spcPct val="105000"/>
              </a:lnSpc>
              <a:spcBef>
                <a:spcPts val="0"/>
              </a:spcBef>
            </a:pPr>
            <a:r>
              <a:rPr sz="1200" b="0" i="0">
                <a:solidFill>
                  <a:srgbClr val="E0F7F1"/>
                </a:solidFill>
                <a:latin typeface="Calibri"/>
              </a:rPr>
              <a:t>67 agents debating so lawyers can judge</a:t>
            </a:r>
          </a:p>
        </p:txBody>
      </p:sp>
      <p:sp>
        <p:nvSpPr>
          <p:cNvPr id="9" name="TextBox 8"/>
          <p:cNvSpPr txBox="1"/>
          <p:nvPr/>
        </p:nvSpPr>
        <p:spPr>
          <a:xfrm>
            <a:off x="548640" y="6217920"/>
            <a:ext cx="11094415" cy="2743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AI Market Research · AI Use Cases — Full Pipeline | 2026</a:t>
            </a:r>
          </a:p>
        </p:txBody>
      </p:sp>
      <p:sp>
        <p:nvSpPr>
          <p:cNvPr id="10" name="TextBox 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39 / 82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UC-05 | LEGAL</a:t>
            </a:r>
          </a:p>
        </p:txBody>
      </p:sp>
      <p:sp>
        <p:nvSpPr>
          <p:cNvPr id="5" name="TextBox 4"/>
          <p:cNvSpPr txBox="1"/>
          <p:nvPr/>
        </p:nvSpPr>
        <p:spPr>
          <a:xfrm>
            <a:off x="548640" y="1691640"/>
            <a:ext cx="11094415" cy="731520"/>
          </a:xfrm>
          <a:prstGeom prst="rect">
            <a:avLst/>
          </a:prstGeom>
          <a:noFill/>
        </p:spPr>
        <p:txBody>
          <a:bodyPr wrap="square" anchor="t" lIns="0" rIns="0" tIns="0" bIns="0">
            <a:normAutofit/>
          </a:bodyPr>
          <a:lstStyle/>
          <a:p>
            <a:pPr algn="l">
              <a:lnSpc>
                <a:spcPct val="105000"/>
              </a:lnSpc>
              <a:spcBef>
                <a:spcPts val="0"/>
              </a:spcBef>
            </a:pPr>
            <a:r>
              <a:rPr sz="2800" b="1" i="0">
                <a:solidFill>
                  <a:srgbClr val="FFFFFF"/>
                </a:solidFill>
                <a:latin typeface="Calibri"/>
              </a:rPr>
              <a:t>Contract Generation &amp; Review — 67-Agent Debate Protocol</a:t>
            </a:r>
          </a:p>
        </p:txBody>
      </p:sp>
      <p:sp>
        <p:nvSpPr>
          <p:cNvPr id="6" name="TextBox 5"/>
          <p:cNvSpPr txBox="1"/>
          <p:nvPr/>
        </p:nvSpPr>
        <p:spPr>
          <a:xfrm>
            <a:off x="548640" y="2514600"/>
            <a:ext cx="11094415" cy="274320"/>
          </a:xfrm>
          <a:prstGeom prst="rect">
            <a:avLst/>
          </a:prstGeom>
          <a:noFill/>
        </p:spPr>
        <p:txBody>
          <a:bodyPr wrap="square" anchor="t" lIns="0" rIns="0" tIns="0" bIns="0">
            <a:normAutofit/>
          </a:bodyPr>
          <a:lstStyle/>
          <a:p>
            <a:pPr algn="l">
              <a:lnSpc>
                <a:spcPct val="105000"/>
              </a:lnSpc>
              <a:spcBef>
                <a:spcPts val="0"/>
              </a:spcBef>
            </a:pPr>
            <a:r>
              <a:rPr sz="1400" b="1" i="0">
                <a:solidFill>
                  <a:srgbClr val="FFB800"/>
                </a:solidFill>
                <a:latin typeface="Calibri"/>
              </a:rPr>
              <a:t>Projected: 70% review time reduction, 99.1% clause accuracy (industry estimate)</a:t>
            </a:r>
          </a:p>
        </p:txBody>
      </p:sp>
      <p:sp>
        <p:nvSpPr>
          <p:cNvPr id="7" name="TextBox 6"/>
          <p:cNvSpPr txBox="1"/>
          <p:nvPr/>
        </p:nvSpPr>
        <p:spPr>
          <a:xfrm>
            <a:off x="548640" y="2926080"/>
            <a:ext cx="11094415" cy="274320"/>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Top-100 Global Law Firm  |  22-week build, production by week 10</a:t>
            </a:r>
          </a:p>
        </p:txBody>
      </p:sp>
      <p:sp>
        <p:nvSpPr>
          <p:cNvPr id="8" name="Rounded Rectangle 7"/>
          <p:cNvSpPr/>
          <p:nvPr/>
        </p:nvSpPr>
        <p:spPr>
          <a:xfrm>
            <a:off x="548640" y="3383280"/>
            <a:ext cx="2011680" cy="29260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383280"/>
            <a:ext cx="1737360" cy="292608"/>
          </a:xfrm>
          <a:prstGeom prst="rect">
            <a:avLst/>
          </a:prstGeom>
          <a:noFill/>
        </p:spPr>
        <p:txBody>
          <a:bodyPr wrap="square" anchor="ctr" lIns="0" rIns="0" tIns="0" bIns="0">
            <a:noAutofit/>
          </a:bodyPr>
          <a:lstStyle/>
          <a:p>
            <a:pPr algn="l">
              <a:lnSpc>
                <a:spcPct val="105000"/>
              </a:lnSpc>
              <a:spcBef>
                <a:spcPts val="0"/>
              </a:spcBef>
            </a:pPr>
            <a:r>
              <a:rPr sz="1000" b="1" i="0">
                <a:solidFill>
                  <a:srgbClr val="FFFFFF"/>
                </a:solidFill>
                <a:latin typeface="Calibri"/>
              </a:rPr>
              <a:t>VERTICAL SCORE: 30/35 GO</a:t>
            </a:r>
          </a:p>
        </p:txBody>
      </p:sp>
      <p:sp>
        <p:nvSpPr>
          <p:cNvPr id="10" name="TextBox 9"/>
          <p:cNvSpPr txBox="1"/>
          <p:nvPr/>
        </p:nvSpPr>
        <p:spPr>
          <a:xfrm>
            <a:off x="548640" y="3931920"/>
            <a:ext cx="11094415" cy="2743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Source: DreamzTech Apr 2026 (industry estimate) + verified repos</a:t>
            </a:r>
          </a:p>
        </p:txBody>
      </p:sp>
      <p:sp>
        <p:nvSpPr>
          <p:cNvPr id="11" name="TextBox 1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40 / 82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60% of Billable Time on Contract Drafting &amp; Review</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UC-05 | LEGAL — The Problem</a:t>
            </a:r>
          </a:p>
        </p:txBody>
      </p:sp>
      <p:sp>
        <p:nvSpPr>
          <p:cNvPr id="7" name="Rounded Rectangle 6"/>
          <p:cNvSpPr/>
          <p:nvPr/>
        </p:nvSpPr>
        <p:spPr>
          <a:xfrm>
            <a:off x="548640" y="160020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160020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01</a:t>
            </a:r>
          </a:p>
        </p:txBody>
      </p:sp>
      <p:sp>
        <p:nvSpPr>
          <p:cNvPr id="9" name="TextBox 8"/>
          <p:cNvSpPr txBox="1"/>
          <p:nvPr/>
        </p:nvSpPr>
        <p:spPr>
          <a:xfrm>
            <a:off x="1060704" y="165506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Paralegal review: 40 hours per contract across 90+ clause types</a:t>
            </a:r>
          </a:p>
        </p:txBody>
      </p:sp>
      <p:sp>
        <p:nvSpPr>
          <p:cNvPr id="10" name="Rounded Rectangle 9"/>
          <p:cNvSpPr/>
          <p:nvPr/>
        </p:nvSpPr>
        <p:spPr>
          <a:xfrm>
            <a:off x="548640" y="2258568"/>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58568"/>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02</a:t>
            </a:r>
          </a:p>
        </p:txBody>
      </p:sp>
      <p:sp>
        <p:nvSpPr>
          <p:cNvPr id="12" name="TextBox 11"/>
          <p:cNvSpPr txBox="1"/>
          <p:nvPr/>
        </p:nvSpPr>
        <p:spPr>
          <a:xfrm>
            <a:off x="1060704" y="2313432"/>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Outside counsel spend growing 15% annually — firms need to shift work internal</a:t>
            </a:r>
          </a:p>
        </p:txBody>
      </p:sp>
      <p:sp>
        <p:nvSpPr>
          <p:cNvPr id="13" name="Rounded Rectangle 12"/>
          <p:cNvSpPr/>
          <p:nvPr/>
        </p:nvSpPr>
        <p:spPr>
          <a:xfrm>
            <a:off x="548640" y="2916936"/>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 y="2916936"/>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03</a:t>
            </a:r>
          </a:p>
        </p:txBody>
      </p:sp>
      <p:sp>
        <p:nvSpPr>
          <p:cNvPr id="15" name="TextBox 14"/>
          <p:cNvSpPr txBox="1"/>
          <p:nvPr/>
        </p:nvSpPr>
        <p:spPr>
          <a:xfrm>
            <a:off x="1060704" y="2971800"/>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Mid-market firms (&lt;50 attorneys) priced out of Harvey AI ($11B valuation, $300M ARR)</a:t>
            </a:r>
          </a:p>
        </p:txBody>
      </p:sp>
      <p:sp>
        <p:nvSpPr>
          <p:cNvPr id="16" name="Rounded Rectangle 15"/>
          <p:cNvSpPr/>
          <p:nvPr/>
        </p:nvSpPr>
        <p:spPr>
          <a:xfrm>
            <a:off x="548640" y="3575304"/>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3575304"/>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04</a:t>
            </a:r>
          </a:p>
        </p:txBody>
      </p:sp>
      <p:sp>
        <p:nvSpPr>
          <p:cNvPr id="18" name="TextBox 17"/>
          <p:cNvSpPr txBox="1"/>
          <p:nvPr/>
        </p:nvSpPr>
        <p:spPr>
          <a:xfrm>
            <a:off x="1060704" y="3630168"/>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Clause extraction breaks when documents exceed LLM context windows</a:t>
            </a:r>
          </a:p>
        </p:txBody>
      </p:sp>
      <p:sp>
        <p:nvSpPr>
          <p:cNvPr id="19" name="Rounded Rectangle 18"/>
          <p:cNvSpPr/>
          <p:nvPr/>
        </p:nvSpPr>
        <p:spPr>
          <a:xfrm>
            <a:off x="548640" y="4233672"/>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 y="4233672"/>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05</a:t>
            </a:r>
          </a:p>
        </p:txBody>
      </p:sp>
      <p:sp>
        <p:nvSpPr>
          <p:cNvPr id="21" name="TextBox 20"/>
          <p:cNvSpPr txBox="1"/>
          <p:nvPr/>
        </p:nvSpPr>
        <p:spPr>
          <a:xfrm>
            <a:off x="1060704" y="4288536"/>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Jurisdiction-specific customization: 19 jurisdictions, different rules per state/country</a:t>
            </a:r>
          </a:p>
        </p:txBody>
      </p:sp>
      <p:sp>
        <p:nvSpPr>
          <p:cNvPr id="22" name="Rounded Rectangle 21"/>
          <p:cNvSpPr/>
          <p:nvPr/>
        </p:nvSpPr>
        <p:spPr>
          <a:xfrm>
            <a:off x="548640" y="489204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489204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06</a:t>
            </a:r>
          </a:p>
        </p:txBody>
      </p:sp>
      <p:sp>
        <p:nvSpPr>
          <p:cNvPr id="24" name="TextBox 23"/>
          <p:cNvSpPr txBox="1"/>
          <p:nvPr/>
        </p:nvSpPr>
        <p:spPr>
          <a:xfrm>
            <a:off x="1060704" y="494690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Lawyers spent 28 hours finding clauses and only 12 on actual judgment</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41 / 82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3 Agents + 5 MCP Servers + Debate Protocol</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UC-05 | LEGAL — How It's Realized</a:t>
            </a:r>
          </a:p>
        </p:txBody>
      </p:sp>
      <p:sp>
        <p:nvSpPr>
          <p:cNvPr id="7" name="Rounded Rectangle 6"/>
          <p:cNvSpPr/>
          <p:nvPr/>
        </p:nvSpPr>
        <p:spPr>
          <a:xfrm>
            <a:off x="548640" y="1600200"/>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160020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01</a:t>
            </a:r>
          </a:p>
        </p:txBody>
      </p:sp>
      <p:sp>
        <p:nvSpPr>
          <p:cNvPr id="9" name="TextBox 8"/>
          <p:cNvSpPr txBox="1"/>
          <p:nvPr/>
        </p:nvSpPr>
        <p:spPr>
          <a:xfrm>
            <a:off x="1060704" y="165506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3 agents: contract-generation + contract-review (67-agent debate) + legal-research</a:t>
            </a:r>
          </a:p>
        </p:txBody>
      </p:sp>
      <p:sp>
        <p:nvSpPr>
          <p:cNvPr id="10" name="Rounded Rectangle 9"/>
          <p:cNvSpPr/>
          <p:nvPr/>
        </p:nvSpPr>
        <p:spPr>
          <a:xfrm>
            <a:off x="548640" y="2258568"/>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58568"/>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02</a:t>
            </a:r>
          </a:p>
        </p:txBody>
      </p:sp>
      <p:sp>
        <p:nvSpPr>
          <p:cNvPr id="12" name="TextBox 11"/>
          <p:cNvSpPr txBox="1"/>
          <p:nvPr/>
        </p:nvSpPr>
        <p:spPr>
          <a:xfrm>
            <a:off x="1060704" y="2313432"/>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open-agreements MCP: 25+ templates (NDA, MSA, SaaS, SAFE, NVCA, employment, DPA)</a:t>
            </a:r>
          </a:p>
        </p:txBody>
      </p:sp>
      <p:sp>
        <p:nvSpPr>
          <p:cNvPr id="13" name="Rounded Rectangle 12"/>
          <p:cNvSpPr/>
          <p:nvPr/>
        </p:nvSpPr>
        <p:spPr>
          <a:xfrm>
            <a:off x="548640" y="2916936"/>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 y="2916936"/>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03</a:t>
            </a:r>
          </a:p>
        </p:txBody>
      </p:sp>
      <p:sp>
        <p:nvSpPr>
          <p:cNvPr id="15" name="TextBox 14"/>
          <p:cNvSpPr txBox="1"/>
          <p:nvPr/>
        </p:nvSpPr>
        <p:spPr>
          <a:xfrm>
            <a:off x="1060704" y="2971800"/>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lavern MCP: 3-layer verification — evaluator gate → adversarial debate → 10-pass consensus</a:t>
            </a:r>
          </a:p>
        </p:txBody>
      </p:sp>
      <p:sp>
        <p:nvSpPr>
          <p:cNvPr id="16" name="Rounded Rectangle 15"/>
          <p:cNvSpPr/>
          <p:nvPr/>
        </p:nvSpPr>
        <p:spPr>
          <a:xfrm>
            <a:off x="548640" y="3575304"/>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3575304"/>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04</a:t>
            </a:r>
          </a:p>
        </p:txBody>
      </p:sp>
      <p:sp>
        <p:nvSpPr>
          <p:cNvPr id="18" name="TextBox 17"/>
          <p:cNvSpPr txBox="1"/>
          <p:nvPr/>
        </p:nvSpPr>
        <p:spPr>
          <a:xfrm>
            <a:off x="1060704" y="3630168"/>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suzielaw MCP: 22 legal providers across 19 jurisdictions — CourtListener, EUR-Lex</a:t>
            </a:r>
          </a:p>
        </p:txBody>
      </p:sp>
      <p:sp>
        <p:nvSpPr>
          <p:cNvPr id="19" name="Rounded Rectangle 18"/>
          <p:cNvSpPr/>
          <p:nvPr/>
        </p:nvSpPr>
        <p:spPr>
          <a:xfrm>
            <a:off x="548640" y="4233672"/>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 y="4233672"/>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05</a:t>
            </a:r>
          </a:p>
        </p:txBody>
      </p:sp>
      <p:sp>
        <p:nvSpPr>
          <p:cNvPr id="21" name="TextBox 20"/>
          <p:cNvSpPr txBox="1"/>
          <p:nvPr/>
        </p:nvSpPr>
        <p:spPr>
          <a:xfrm>
            <a:off x="1060704" y="4288536"/>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Claude 200K context handles 300-page agreements in single pass — no chunking</a:t>
            </a:r>
          </a:p>
        </p:txBody>
      </p:sp>
      <p:sp>
        <p:nvSpPr>
          <p:cNvPr id="22" name="Rounded Rectangle 21"/>
          <p:cNvSpPr/>
          <p:nvPr/>
        </p:nvSpPr>
        <p:spPr>
          <a:xfrm>
            <a:off x="548640" y="4892040"/>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489204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06</a:t>
            </a:r>
          </a:p>
        </p:txBody>
      </p:sp>
      <p:sp>
        <p:nvSpPr>
          <p:cNvPr id="24" name="TextBox 23"/>
          <p:cNvSpPr txBox="1"/>
          <p:nvPr/>
        </p:nvSpPr>
        <p:spPr>
          <a:xfrm>
            <a:off x="1060704" y="494690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A2I confidence gating: &lt;0.85 confidence → human review queue, not autonomous decision</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42 / 82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KEY METRICS — UC-05 | LEGAL</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~70%</a:t>
            </a:r>
          </a:p>
        </p:txBody>
      </p:sp>
      <p:sp>
        <p:nvSpPr>
          <p:cNvPr id="9" name="TextBox 8"/>
          <p:cNvSpPr txBox="1"/>
          <p:nvPr/>
        </p:nvSpPr>
        <p:spPr>
          <a:xfrm>
            <a:off x="685800"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Review Time ↓ (proj.)</a:t>
            </a:r>
          </a:p>
        </p:txBody>
      </p:sp>
      <p:sp>
        <p:nvSpPr>
          <p:cNvPr id="10" name="TextBox 9"/>
          <p:cNvSpPr txBox="1"/>
          <p:nvPr/>
        </p:nvSpPr>
        <p:spPr>
          <a:xfrm>
            <a:off x="685800"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Industry estimate: 40 hrs → ~12 hrs per contract</a:t>
            </a:r>
          </a:p>
        </p:txBody>
      </p:sp>
      <p:sp>
        <p:nvSpPr>
          <p:cNvPr id="11" name="Rounded Rectangle 10"/>
          <p:cNvSpPr/>
          <p:nvPr/>
        </p:nvSpPr>
        <p:spPr>
          <a:xfrm>
            <a:off x="4313834"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50994"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$2.4M</a:t>
            </a:r>
          </a:p>
        </p:txBody>
      </p:sp>
      <p:sp>
        <p:nvSpPr>
          <p:cNvPr id="13" name="TextBox 12"/>
          <p:cNvSpPr txBox="1"/>
          <p:nvPr/>
        </p:nvSpPr>
        <p:spPr>
          <a:xfrm>
            <a:off x="4450994"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Billable Hrs Recaptured</a:t>
            </a:r>
          </a:p>
        </p:txBody>
      </p:sp>
      <p:sp>
        <p:nvSpPr>
          <p:cNvPr id="14" name="TextBox 13"/>
          <p:cNvSpPr txBox="1"/>
          <p:nvPr/>
        </p:nvSpPr>
        <p:spPr>
          <a:xfrm>
            <a:off x="4450994"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Projected annual value (industry estimate)</a:t>
            </a:r>
          </a:p>
        </p:txBody>
      </p:sp>
      <p:sp>
        <p:nvSpPr>
          <p:cNvPr id="15" name="Rounded Rectangle 14"/>
          <p:cNvSpPr/>
          <p:nvPr/>
        </p:nvSpPr>
        <p:spPr>
          <a:xfrm>
            <a:off x="8079028"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6188"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99.1%</a:t>
            </a:r>
          </a:p>
        </p:txBody>
      </p:sp>
      <p:sp>
        <p:nvSpPr>
          <p:cNvPr id="17" name="TextBox 16"/>
          <p:cNvSpPr txBox="1"/>
          <p:nvPr/>
        </p:nvSpPr>
        <p:spPr>
          <a:xfrm>
            <a:off x="8216188"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Clause Accuracy (est.)</a:t>
            </a:r>
          </a:p>
        </p:txBody>
      </p:sp>
      <p:sp>
        <p:nvSpPr>
          <p:cNvPr id="18" name="TextBox 17"/>
          <p:cNvSpPr txBox="1"/>
          <p:nvPr/>
        </p:nvSpPr>
        <p:spPr>
          <a:xfrm>
            <a:off x="8216188"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Across 90+ clause types per DreamzTech</a:t>
            </a:r>
          </a:p>
        </p:txBody>
      </p:sp>
      <p:sp>
        <p:nvSpPr>
          <p:cNvPr id="19" name="Rounded Rectangle 18"/>
          <p:cNvSpPr/>
          <p:nvPr/>
        </p:nvSpPr>
        <p:spPr>
          <a:xfrm>
            <a:off x="548640"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22 wk</a:t>
            </a:r>
          </a:p>
        </p:txBody>
      </p:sp>
      <p:sp>
        <p:nvSpPr>
          <p:cNvPr id="21" name="TextBox 20"/>
          <p:cNvSpPr txBox="1"/>
          <p:nvPr/>
        </p:nvSpPr>
        <p:spPr>
          <a:xfrm>
            <a:off x="685800"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Full Build</a:t>
            </a:r>
          </a:p>
        </p:txBody>
      </p:sp>
      <p:sp>
        <p:nvSpPr>
          <p:cNvPr id="22" name="TextBox 21"/>
          <p:cNvSpPr txBox="1"/>
          <p:nvPr/>
        </p:nvSpPr>
        <p:spPr>
          <a:xfrm>
            <a:off x="685800"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10 weeks to first production capability</a:t>
            </a:r>
          </a:p>
        </p:txBody>
      </p:sp>
      <p:sp>
        <p:nvSpPr>
          <p:cNvPr id="23" name="Rounded Rectangle 22"/>
          <p:cNvSpPr/>
          <p:nvPr/>
        </p:nvSpPr>
        <p:spPr>
          <a:xfrm>
            <a:off x="4313834"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50994"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67</a:t>
            </a:r>
          </a:p>
        </p:txBody>
      </p:sp>
      <p:sp>
        <p:nvSpPr>
          <p:cNvPr id="25" name="TextBox 24"/>
          <p:cNvSpPr txBox="1"/>
          <p:nvPr/>
        </p:nvSpPr>
        <p:spPr>
          <a:xfrm>
            <a:off x="4450994"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Debate Agents</a:t>
            </a:r>
          </a:p>
        </p:txBody>
      </p:sp>
      <p:sp>
        <p:nvSpPr>
          <p:cNvPr id="26" name="TextBox 25"/>
          <p:cNvSpPr txBox="1"/>
          <p:nvPr/>
        </p:nvSpPr>
        <p:spPr>
          <a:xfrm>
            <a:off x="4450994"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Lavern adversarial review protocol (verified)</a:t>
            </a:r>
          </a:p>
        </p:txBody>
      </p:sp>
      <p:sp>
        <p:nvSpPr>
          <p:cNvPr id="27" name="Rounded Rectangle 26"/>
          <p:cNvSpPr/>
          <p:nvPr/>
        </p:nvSpPr>
        <p:spPr>
          <a:xfrm>
            <a:off x="8079028"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6188"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5</a:t>
            </a:r>
          </a:p>
        </p:txBody>
      </p:sp>
      <p:sp>
        <p:nvSpPr>
          <p:cNvPr id="29" name="TextBox 28"/>
          <p:cNvSpPr txBox="1"/>
          <p:nvPr/>
        </p:nvSpPr>
        <p:spPr>
          <a:xfrm>
            <a:off x="8216188"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MCP Servers</a:t>
            </a:r>
          </a:p>
        </p:txBody>
      </p:sp>
      <p:sp>
        <p:nvSpPr>
          <p:cNvPr id="30" name="TextBox 29"/>
          <p:cNvSpPr txBox="1"/>
          <p:nvPr/>
        </p:nvSpPr>
        <p:spPr>
          <a:xfrm>
            <a:off x="8216188"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All verified: open-agreements, lavern, suzielaw, DocuSign, Clio</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43 / 82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HOW IT WORKS — UC-05 | LEGAL</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11094415" cy="530352"/>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63624"/>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1</a:t>
            </a:r>
          </a:p>
        </p:txBody>
      </p:sp>
      <p:sp>
        <p:nvSpPr>
          <p:cNvPr id="9" name="TextBox 8"/>
          <p:cNvSpPr txBox="1"/>
          <p:nvPr/>
        </p:nvSpPr>
        <p:spPr>
          <a:xfrm>
            <a:off x="685800" y="1746504"/>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Client request → identify agreement type → list_templates (open-agreements) → get_template_fields</a:t>
            </a:r>
          </a:p>
        </p:txBody>
      </p:sp>
      <p:sp>
        <p:nvSpPr>
          <p:cNvPr id="10" name="TextBox 9"/>
          <p:cNvSpPr txBox="1"/>
          <p:nvPr/>
        </p:nvSpPr>
        <p:spPr>
          <a:xfrm>
            <a:off x="6004407" y="2039112"/>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11" name="Rounded Rectangle 10"/>
          <p:cNvSpPr/>
          <p:nvPr/>
        </p:nvSpPr>
        <p:spPr>
          <a:xfrm>
            <a:off x="548640" y="2167128"/>
            <a:ext cx="11094415" cy="530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21992"/>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2</a:t>
            </a:r>
          </a:p>
        </p:txBody>
      </p:sp>
      <p:sp>
        <p:nvSpPr>
          <p:cNvPr id="13" name="TextBox 12"/>
          <p:cNvSpPr txBox="1"/>
          <p:nvPr/>
        </p:nvSpPr>
        <p:spPr>
          <a:xfrm>
            <a:off x="685800" y="2404872"/>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Interview client for field values (grouped by section) → fill_template → DOCX output</a:t>
            </a:r>
          </a:p>
        </p:txBody>
      </p:sp>
      <p:sp>
        <p:nvSpPr>
          <p:cNvPr id="14" name="TextBox 13"/>
          <p:cNvSpPr txBox="1"/>
          <p:nvPr/>
        </p:nvSpPr>
        <p:spPr>
          <a:xfrm>
            <a:off x="6004407" y="2697480"/>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15" name="Rounded Rectangle 14"/>
          <p:cNvSpPr/>
          <p:nvPr/>
        </p:nvSpPr>
        <p:spPr>
          <a:xfrm>
            <a:off x="548640" y="2825496"/>
            <a:ext cx="11094415" cy="530352"/>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880360"/>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3</a:t>
            </a:r>
          </a:p>
        </p:txBody>
      </p:sp>
      <p:sp>
        <p:nvSpPr>
          <p:cNvPr id="17" name="TextBox 16"/>
          <p:cNvSpPr txBox="1"/>
          <p:nvPr/>
        </p:nvSpPr>
        <p:spPr>
          <a:xfrm>
            <a:off x="685800" y="3063240"/>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Review Phase 1: planning agent reads contract (read-only) → structured review plan</a:t>
            </a:r>
          </a:p>
        </p:txBody>
      </p:sp>
      <p:sp>
        <p:nvSpPr>
          <p:cNvPr id="18" name="TextBox 17"/>
          <p:cNvSpPr txBox="1"/>
          <p:nvPr/>
        </p:nvSpPr>
        <p:spPr>
          <a:xfrm>
            <a:off x="6004407" y="3355848"/>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19" name="Rounded Rectangle 18"/>
          <p:cNvSpPr/>
          <p:nvPr/>
        </p:nvSpPr>
        <p:spPr>
          <a:xfrm>
            <a:off x="548640" y="3483864"/>
            <a:ext cx="11094415" cy="530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538728"/>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4</a:t>
            </a:r>
          </a:p>
        </p:txBody>
      </p:sp>
      <p:sp>
        <p:nvSpPr>
          <p:cNvPr id="21" name="TextBox 20"/>
          <p:cNvSpPr txBox="1"/>
          <p:nvPr/>
        </p:nvSpPr>
        <p:spPr>
          <a:xfrm>
            <a:off x="685800" y="3721608"/>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Review Phase 2: execution agent → risk assessment matrix + redlines + missing clauses</a:t>
            </a:r>
          </a:p>
        </p:txBody>
      </p:sp>
      <p:sp>
        <p:nvSpPr>
          <p:cNvPr id="22" name="TextBox 21"/>
          <p:cNvSpPr txBox="1"/>
          <p:nvPr/>
        </p:nvSpPr>
        <p:spPr>
          <a:xfrm>
            <a:off x="6004407" y="4014216"/>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23" name="Rounded Rectangle 22"/>
          <p:cNvSpPr/>
          <p:nvPr/>
        </p:nvSpPr>
        <p:spPr>
          <a:xfrm>
            <a:off x="548640" y="4142232"/>
            <a:ext cx="11094415" cy="530352"/>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197096"/>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5</a:t>
            </a:r>
          </a:p>
        </p:txBody>
      </p:sp>
      <p:sp>
        <p:nvSpPr>
          <p:cNvPr id="25" name="TextBox 24"/>
          <p:cNvSpPr txBox="1"/>
          <p:nvPr/>
        </p:nvSpPr>
        <p:spPr>
          <a:xfrm>
            <a:off x="685800" y="4379976"/>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Alternative: Lavern full adversarial (67 agents, debate protocol) → executive memo</a:t>
            </a:r>
          </a:p>
        </p:txBody>
      </p:sp>
      <p:sp>
        <p:nvSpPr>
          <p:cNvPr id="26" name="TextBox 25"/>
          <p:cNvSpPr txBox="1"/>
          <p:nvPr/>
        </p:nvSpPr>
        <p:spPr>
          <a:xfrm>
            <a:off x="6004407" y="4672584"/>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27" name="Rounded Rectangle 26"/>
          <p:cNvSpPr/>
          <p:nvPr/>
        </p:nvSpPr>
        <p:spPr>
          <a:xfrm>
            <a:off x="548640" y="4800600"/>
            <a:ext cx="11094415" cy="530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855464"/>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6</a:t>
            </a:r>
          </a:p>
        </p:txBody>
      </p:sp>
      <p:sp>
        <p:nvSpPr>
          <p:cNvPr id="29" name="TextBox 28"/>
          <p:cNvSpPr txBox="1"/>
          <p:nvPr/>
        </p:nvSpPr>
        <p:spPr>
          <a:xfrm>
            <a:off x="685800" y="5038344"/>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Legal research: suzielaw searches 22 providers across 19 jurisdictions for precedent</a:t>
            </a:r>
          </a:p>
        </p:txBody>
      </p:sp>
      <p:sp>
        <p:nvSpPr>
          <p:cNvPr id="30" name="TextBox 29"/>
          <p:cNvSpPr txBox="1"/>
          <p:nvPr/>
        </p:nvSpPr>
        <p:spPr>
          <a:xfrm>
            <a:off x="6004407" y="5330952"/>
            <a:ext cx="182880" cy="128016"/>
          </a:xfrm>
          <a:prstGeom prst="rect">
            <a:avLst/>
          </a:prstGeom>
          <a:noFill/>
        </p:spPr>
        <p:txBody>
          <a:bodyPr wrap="square" anchor="t" lIns="0" rIns="0" tIns="0" bIns="0">
            <a:noAutofit/>
          </a:bodyPr>
          <a:lstStyle/>
          <a:p>
            <a:pPr algn="ctr">
              <a:lnSpc>
                <a:spcPct val="105000"/>
              </a:lnSpc>
              <a:spcBef>
                <a:spcPts val="0"/>
              </a:spcBef>
            </a:pPr>
            <a:r>
              <a:rPr sz="1000" b="1" i="0">
                <a:solidFill>
                  <a:srgbClr val="00C9A7"/>
                </a:solidFill>
                <a:latin typeface="Calibri"/>
              </a:rPr>
              <a:t>↓</a:t>
            </a:r>
          </a:p>
        </p:txBody>
      </p:sp>
      <p:sp>
        <p:nvSpPr>
          <p:cNvPr id="31" name="Rounded Rectangle 30"/>
          <p:cNvSpPr/>
          <p:nvPr/>
        </p:nvSpPr>
        <p:spPr>
          <a:xfrm>
            <a:off x="548640" y="5458968"/>
            <a:ext cx="11094415" cy="530352"/>
          </a:xfrm>
          <a:prstGeom prst="roundRect">
            <a:avLst>
              <a:gd name="adj" fmla="val 4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513832"/>
            <a:ext cx="731520" cy="182880"/>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STEP 7</a:t>
            </a:r>
          </a:p>
        </p:txBody>
      </p:sp>
      <p:sp>
        <p:nvSpPr>
          <p:cNvPr id="33" name="TextBox 32"/>
          <p:cNvSpPr txBox="1"/>
          <p:nvPr/>
        </p:nvSpPr>
        <p:spPr>
          <a:xfrm>
            <a:off x="685800" y="5696712"/>
            <a:ext cx="10820095" cy="237744"/>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High-confidence → auto-flag | Low-confidence (&lt;0.85) → A2I human review queue</a:t>
            </a:r>
          </a:p>
        </p:txBody>
      </p:sp>
      <p:sp>
        <p:nvSpPr>
          <p:cNvPr id="34" name="TextBox 3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44 / 82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5B6B7C"/>
                </a:solidFill>
                <a:latin typeface="Calibri"/>
              </a:rPr>
              <a:t>ARCHITECTURE — UC-05 | LEGAL</a:t>
            </a:r>
          </a:p>
        </p:txBody>
      </p:sp>
      <p:sp>
        <p:nvSpPr>
          <p:cNvPr id="5" name="TextBox 4"/>
          <p:cNvSpPr txBox="1"/>
          <p:nvPr/>
        </p:nvSpPr>
        <p:spPr>
          <a:xfrm>
            <a:off x="548640" y="548640"/>
            <a:ext cx="11094415" cy="457200"/>
          </a:xfrm>
          <a:prstGeom prst="rect">
            <a:avLst/>
          </a:prstGeom>
          <a:noFill/>
        </p:spPr>
        <p:txBody>
          <a:bodyPr wrap="square" anchor="t" lIns="0" rIns="0" tIns="0" bIns="0">
            <a:normAutofit/>
          </a:bodyPr>
          <a:lstStyle/>
          <a:p>
            <a:pPr algn="l">
              <a:lnSpc>
                <a:spcPct val="105000"/>
              </a:lnSpc>
              <a:spcBef>
                <a:spcPts val="0"/>
              </a:spcBef>
            </a:pPr>
            <a:r>
              <a:rPr sz="2000" b="1" i="0">
                <a:solidFill>
                  <a:srgbClr val="0A1628"/>
                </a:solidFill>
                <a:latin typeface="Calibri"/>
              </a:rPr>
              <a:t>Contract Generation &amp; Review Agent Architecture</a:t>
            </a:r>
          </a:p>
        </p:txBody>
      </p:sp>
      <p:sp>
        <p:nvSpPr>
          <p:cNvPr id="6" name="Rounded Rectangle 5"/>
          <p:cNvSpPr/>
          <p:nvPr/>
        </p:nvSpPr>
        <p:spPr>
          <a:xfrm>
            <a:off x="548640" y="1143000"/>
            <a:ext cx="5029200" cy="256032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1828800" cy="201168"/>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AGENT STACK</a:t>
            </a:r>
          </a:p>
        </p:txBody>
      </p:sp>
      <p:sp>
        <p:nvSpPr>
          <p:cNvPr id="8" name="TextBox 7"/>
          <p:cNvSpPr txBox="1"/>
          <p:nvPr/>
        </p:nvSpPr>
        <p:spPr>
          <a:xfrm>
            <a:off x="731520" y="1554480"/>
            <a:ext cx="4663440" cy="201168"/>
          </a:xfrm>
          <a:prstGeom prst="rect">
            <a:avLst/>
          </a:prstGeom>
          <a:noFill/>
        </p:spPr>
        <p:txBody>
          <a:bodyPr wrap="square" anchor="t" lIns="0" rIns="0" tIns="0" bIns="0">
            <a:normAutofit/>
          </a:bodyPr>
          <a:lstStyle/>
          <a:p>
            <a:pPr algn="l">
              <a:lnSpc>
                <a:spcPct val="105000"/>
              </a:lnSpc>
              <a:spcBef>
                <a:spcPts val="0"/>
              </a:spcBef>
            </a:pPr>
            <a:r>
              <a:rPr sz="1050" b="1" i="0">
                <a:solidFill>
                  <a:srgbClr val="00C9A7"/>
                </a:solidFill>
                <a:latin typeface="Calibri"/>
              </a:rPr>
              <a:t>contract-generation-agent</a:t>
            </a:r>
          </a:p>
        </p:txBody>
      </p:sp>
      <p:sp>
        <p:nvSpPr>
          <p:cNvPr id="9" name="TextBox 8"/>
          <p:cNvSpPr txBox="1"/>
          <p:nvPr/>
        </p:nvSpPr>
        <p:spPr>
          <a:xfrm>
            <a:off x="731520" y="1737360"/>
            <a:ext cx="4663440" cy="320040"/>
          </a:xfrm>
          <a:prstGeom prst="rect">
            <a:avLst/>
          </a:prstGeom>
          <a:noFill/>
        </p:spPr>
        <p:txBody>
          <a:bodyPr wrap="square" anchor="t" lIns="0" rIns="0" tIns="0" bIns="0">
            <a:normAutofit/>
          </a:bodyPr>
          <a:lstStyle/>
          <a:p>
            <a:pPr algn="l">
              <a:lnSpc>
                <a:spcPct val="100000"/>
              </a:lnSpc>
              <a:spcBef>
                <a:spcPts val="0"/>
              </a:spcBef>
            </a:pPr>
            <a:r>
              <a:rPr sz="850" b="0" i="0">
                <a:solidFill>
                  <a:srgbClr val="FFFFFF"/>
                </a:solidFill>
                <a:latin typeface="Calibri"/>
              </a:rPr>
              <a:t>Template selection → field interview → fill_template → DOCX → DocuSign</a:t>
            </a:r>
          </a:p>
        </p:txBody>
      </p:sp>
      <p:sp>
        <p:nvSpPr>
          <p:cNvPr id="10" name="TextBox 9"/>
          <p:cNvSpPr txBox="1"/>
          <p:nvPr/>
        </p:nvSpPr>
        <p:spPr>
          <a:xfrm>
            <a:off x="731520" y="2103120"/>
            <a:ext cx="4663440" cy="201168"/>
          </a:xfrm>
          <a:prstGeom prst="rect">
            <a:avLst/>
          </a:prstGeom>
          <a:noFill/>
        </p:spPr>
        <p:txBody>
          <a:bodyPr wrap="square" anchor="t" lIns="0" rIns="0" tIns="0" bIns="0">
            <a:normAutofit/>
          </a:bodyPr>
          <a:lstStyle/>
          <a:p>
            <a:pPr algn="l">
              <a:lnSpc>
                <a:spcPct val="105000"/>
              </a:lnSpc>
              <a:spcBef>
                <a:spcPts val="0"/>
              </a:spcBef>
            </a:pPr>
            <a:r>
              <a:rPr sz="1050" b="1" i="0">
                <a:solidFill>
                  <a:srgbClr val="00C9A7"/>
                </a:solidFill>
                <a:latin typeface="Calibri"/>
              </a:rPr>
              <a:t>contract-review-agent</a:t>
            </a:r>
          </a:p>
        </p:txBody>
      </p:sp>
      <p:sp>
        <p:nvSpPr>
          <p:cNvPr id="11" name="TextBox 10"/>
          <p:cNvSpPr txBox="1"/>
          <p:nvPr/>
        </p:nvSpPr>
        <p:spPr>
          <a:xfrm>
            <a:off x="731520" y="2286000"/>
            <a:ext cx="4663440" cy="320040"/>
          </a:xfrm>
          <a:prstGeom prst="rect">
            <a:avLst/>
          </a:prstGeom>
          <a:noFill/>
        </p:spPr>
        <p:txBody>
          <a:bodyPr wrap="square" anchor="t" lIns="0" rIns="0" tIns="0" bIns="0">
            <a:normAutofit/>
          </a:bodyPr>
          <a:lstStyle/>
          <a:p>
            <a:pPr algn="l">
              <a:lnSpc>
                <a:spcPct val="100000"/>
              </a:lnSpc>
              <a:spcBef>
                <a:spcPts val="0"/>
              </a:spcBef>
            </a:pPr>
            <a:r>
              <a:rPr sz="850" b="0" i="0">
                <a:solidFill>
                  <a:srgbClr val="FFFFFF"/>
                </a:solidFill>
                <a:latin typeface="Calibri"/>
              </a:rPr>
              <a:t>Phase 1: read-only planning → Phase 2: risk matrix + redlines → memo</a:t>
            </a:r>
          </a:p>
        </p:txBody>
      </p:sp>
      <p:sp>
        <p:nvSpPr>
          <p:cNvPr id="12" name="TextBox 11"/>
          <p:cNvSpPr txBox="1"/>
          <p:nvPr/>
        </p:nvSpPr>
        <p:spPr>
          <a:xfrm>
            <a:off x="731520" y="2651760"/>
            <a:ext cx="4663440" cy="201168"/>
          </a:xfrm>
          <a:prstGeom prst="rect">
            <a:avLst/>
          </a:prstGeom>
          <a:noFill/>
        </p:spPr>
        <p:txBody>
          <a:bodyPr wrap="square" anchor="t" lIns="0" rIns="0" tIns="0" bIns="0">
            <a:normAutofit/>
          </a:bodyPr>
          <a:lstStyle/>
          <a:p>
            <a:pPr algn="l">
              <a:lnSpc>
                <a:spcPct val="105000"/>
              </a:lnSpc>
              <a:spcBef>
                <a:spcPts val="0"/>
              </a:spcBef>
            </a:pPr>
            <a:r>
              <a:rPr sz="1050" b="1" i="0">
                <a:solidFill>
                  <a:srgbClr val="00C9A7"/>
                </a:solidFill>
                <a:latin typeface="Calibri"/>
              </a:rPr>
              <a:t>legal-research-agent</a:t>
            </a:r>
          </a:p>
        </p:txBody>
      </p:sp>
      <p:sp>
        <p:nvSpPr>
          <p:cNvPr id="13" name="TextBox 12"/>
          <p:cNvSpPr txBox="1"/>
          <p:nvPr/>
        </p:nvSpPr>
        <p:spPr>
          <a:xfrm>
            <a:off x="731520" y="2834640"/>
            <a:ext cx="4663440" cy="320040"/>
          </a:xfrm>
          <a:prstGeom prst="rect">
            <a:avLst/>
          </a:prstGeom>
          <a:noFill/>
        </p:spPr>
        <p:txBody>
          <a:bodyPr wrap="square" anchor="t" lIns="0" rIns="0" tIns="0" bIns="0">
            <a:normAutofit/>
          </a:bodyPr>
          <a:lstStyle/>
          <a:p>
            <a:pPr algn="l">
              <a:lnSpc>
                <a:spcPct val="100000"/>
              </a:lnSpc>
              <a:spcBef>
                <a:spcPts val="0"/>
              </a:spcBef>
            </a:pPr>
            <a:r>
              <a:rPr sz="850" b="0" i="0">
                <a:solidFill>
                  <a:srgbClr val="FFFFFF"/>
                </a:solidFill>
                <a:latin typeface="Calibri"/>
              </a:rPr>
              <a:t>suzielaw: jurisdiction-specific case search — 22 providers, 19 jurisdictions</a:t>
            </a:r>
          </a:p>
        </p:txBody>
      </p:sp>
      <p:sp>
        <p:nvSpPr>
          <p:cNvPr id="14" name="TextBox 13"/>
          <p:cNvSpPr txBox="1"/>
          <p:nvPr/>
        </p:nvSpPr>
        <p:spPr>
          <a:xfrm>
            <a:off x="731520" y="3200400"/>
            <a:ext cx="4663440" cy="201168"/>
          </a:xfrm>
          <a:prstGeom prst="rect">
            <a:avLst/>
          </a:prstGeom>
          <a:noFill/>
        </p:spPr>
        <p:txBody>
          <a:bodyPr wrap="square" anchor="t" lIns="0" rIns="0" tIns="0" bIns="0">
            <a:normAutofit/>
          </a:bodyPr>
          <a:lstStyle/>
          <a:p>
            <a:pPr algn="l">
              <a:lnSpc>
                <a:spcPct val="105000"/>
              </a:lnSpc>
              <a:spcBef>
                <a:spcPts val="0"/>
              </a:spcBef>
            </a:pPr>
            <a:r>
              <a:rPr sz="1050" b="1" i="0">
                <a:solidFill>
                  <a:srgbClr val="00C9A7"/>
                </a:solidFill>
                <a:latin typeface="Calibri"/>
              </a:rPr>
              <a:t>billing-agent</a:t>
            </a:r>
          </a:p>
        </p:txBody>
      </p:sp>
      <p:sp>
        <p:nvSpPr>
          <p:cNvPr id="15" name="TextBox 14"/>
          <p:cNvSpPr txBox="1"/>
          <p:nvPr/>
        </p:nvSpPr>
        <p:spPr>
          <a:xfrm>
            <a:off x="731520" y="3383280"/>
            <a:ext cx="4663440" cy="320040"/>
          </a:xfrm>
          <a:prstGeom prst="rect">
            <a:avLst/>
          </a:prstGeom>
          <a:noFill/>
        </p:spPr>
        <p:txBody>
          <a:bodyPr wrap="square" anchor="t" lIns="0" rIns="0" tIns="0" bIns="0">
            <a:normAutofit/>
          </a:bodyPr>
          <a:lstStyle/>
          <a:p>
            <a:pPr algn="l">
              <a:lnSpc>
                <a:spcPct val="100000"/>
              </a:lnSpc>
              <a:spcBef>
                <a:spcPts val="0"/>
              </a:spcBef>
            </a:pPr>
            <a:r>
              <a:rPr sz="850" b="0" i="0">
                <a:solidFill>
                  <a:srgbClr val="FFFFFF"/>
                </a:solidFill>
                <a:latin typeface="Calibri"/>
              </a:rPr>
              <a:t>Time capture → Clio time entries → invoice generation</a:t>
            </a:r>
          </a:p>
        </p:txBody>
      </p:sp>
      <p:sp>
        <p:nvSpPr>
          <p:cNvPr id="16" name="Rounded Rectangle 15"/>
          <p:cNvSpPr/>
          <p:nvPr/>
        </p:nvSpPr>
        <p:spPr>
          <a:xfrm>
            <a:off x="5806440" y="1143000"/>
            <a:ext cx="5836615" cy="2560320"/>
          </a:xfrm>
          <a:prstGeom prst="roundRect">
            <a:avLst>
              <a:gd name="adj" fmla="val 6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9320" y="1280160"/>
            <a:ext cx="5470855" cy="201168"/>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MCP SERVERS</a:t>
            </a:r>
          </a:p>
        </p:txBody>
      </p:sp>
      <p:sp>
        <p:nvSpPr>
          <p:cNvPr id="18" name="TextBox 17"/>
          <p:cNvSpPr txBox="1"/>
          <p:nvPr/>
        </p:nvSpPr>
        <p:spPr>
          <a:xfrm>
            <a:off x="5989320" y="1554480"/>
            <a:ext cx="5470855" cy="182880"/>
          </a:xfrm>
          <a:prstGeom prst="rect">
            <a:avLst/>
          </a:prstGeom>
          <a:noFill/>
        </p:spPr>
        <p:txBody>
          <a:bodyPr wrap="square" anchor="t" lIns="0" rIns="0" tIns="0" bIns="0">
            <a:normAutofit/>
          </a:bodyPr>
          <a:lstStyle/>
          <a:p>
            <a:pPr algn="l">
              <a:lnSpc>
                <a:spcPct val="105000"/>
              </a:lnSpc>
              <a:spcBef>
                <a:spcPts val="0"/>
              </a:spcBef>
            </a:pPr>
            <a:r>
              <a:rPr sz="950" b="1" i="0">
                <a:solidFill>
                  <a:srgbClr val="00C9A7"/>
                </a:solidFill>
                <a:latin typeface="Calibri"/>
              </a:rPr>
              <a:t>open-agreements MCP (5 endpoints)  [VERIFIED]</a:t>
            </a:r>
          </a:p>
        </p:txBody>
      </p:sp>
      <p:sp>
        <p:nvSpPr>
          <p:cNvPr id="19" name="TextBox 18"/>
          <p:cNvSpPr txBox="1"/>
          <p:nvPr/>
        </p:nvSpPr>
        <p:spPr>
          <a:xfrm>
            <a:off x="5989320" y="1719072"/>
            <a:ext cx="5470855" cy="292608"/>
          </a:xfrm>
          <a:prstGeom prst="rect">
            <a:avLst/>
          </a:prstGeom>
          <a:noFill/>
        </p:spPr>
        <p:txBody>
          <a:bodyPr wrap="square" anchor="t" lIns="0" rIns="0" tIns="0" bIns="0">
            <a:normAutofit/>
          </a:bodyPr>
          <a:lstStyle/>
          <a:p>
            <a:pPr algn="l">
              <a:lnSpc>
                <a:spcPct val="100000"/>
              </a:lnSpc>
              <a:spcBef>
                <a:spcPts val="0"/>
              </a:spcBef>
            </a:pPr>
            <a:r>
              <a:rPr sz="800" b="0" i="0">
                <a:solidFill>
                  <a:srgbClr val="1B2B3C"/>
                </a:solidFill>
                <a:latin typeface="Calibri"/>
              </a:rPr>
              <a:t>list_templates, get_template_fields, fill_template, search_templates, validate_fields — 25+ templates</a:t>
            </a:r>
          </a:p>
        </p:txBody>
      </p:sp>
      <p:sp>
        <p:nvSpPr>
          <p:cNvPr id="20" name="TextBox 19"/>
          <p:cNvSpPr txBox="1"/>
          <p:nvPr/>
        </p:nvSpPr>
        <p:spPr>
          <a:xfrm>
            <a:off x="5989320" y="2057400"/>
            <a:ext cx="5470855" cy="182880"/>
          </a:xfrm>
          <a:prstGeom prst="rect">
            <a:avLst/>
          </a:prstGeom>
          <a:noFill/>
        </p:spPr>
        <p:txBody>
          <a:bodyPr wrap="square" anchor="t" lIns="0" rIns="0" tIns="0" bIns="0">
            <a:normAutofit/>
          </a:bodyPr>
          <a:lstStyle/>
          <a:p>
            <a:pPr algn="l">
              <a:lnSpc>
                <a:spcPct val="105000"/>
              </a:lnSpc>
              <a:spcBef>
                <a:spcPts val="0"/>
              </a:spcBef>
            </a:pPr>
            <a:r>
              <a:rPr sz="950" b="1" i="0">
                <a:solidFill>
                  <a:srgbClr val="00C9A7"/>
                </a:solidFill>
                <a:latin typeface="Calibri"/>
              </a:rPr>
              <a:t>lavern MCP (21 tools)  [VERIFIED]</a:t>
            </a:r>
          </a:p>
        </p:txBody>
      </p:sp>
      <p:sp>
        <p:nvSpPr>
          <p:cNvPr id="21" name="TextBox 20"/>
          <p:cNvSpPr txBox="1"/>
          <p:nvPr/>
        </p:nvSpPr>
        <p:spPr>
          <a:xfrm>
            <a:off x="5989320" y="2221992"/>
            <a:ext cx="5470855" cy="292608"/>
          </a:xfrm>
          <a:prstGeom prst="rect">
            <a:avLst/>
          </a:prstGeom>
          <a:noFill/>
        </p:spPr>
        <p:txBody>
          <a:bodyPr wrap="square" anchor="t" lIns="0" rIns="0" tIns="0" bIns="0">
            <a:normAutofit/>
          </a:bodyPr>
          <a:lstStyle/>
          <a:p>
            <a:pPr algn="l">
              <a:lnSpc>
                <a:spcPct val="100000"/>
              </a:lnSpc>
              <a:spcBef>
                <a:spcPts val="0"/>
              </a:spcBef>
            </a:pPr>
            <a:r>
              <a:rPr sz="800" b="0" i="0">
                <a:solidFill>
                  <a:srgbClr val="1B2B3C"/>
                </a:solidFill>
                <a:latin typeface="Calibri"/>
              </a:rPr>
              <a:t>start_review, get_findings, approve_finding, export_deliverable — 67-agent debate</a:t>
            </a:r>
          </a:p>
        </p:txBody>
      </p:sp>
      <p:sp>
        <p:nvSpPr>
          <p:cNvPr id="22" name="TextBox 21"/>
          <p:cNvSpPr txBox="1"/>
          <p:nvPr/>
        </p:nvSpPr>
        <p:spPr>
          <a:xfrm>
            <a:off x="5989320" y="2560320"/>
            <a:ext cx="5470855" cy="182880"/>
          </a:xfrm>
          <a:prstGeom prst="rect">
            <a:avLst/>
          </a:prstGeom>
          <a:noFill/>
        </p:spPr>
        <p:txBody>
          <a:bodyPr wrap="square" anchor="t" lIns="0" rIns="0" tIns="0" bIns="0">
            <a:normAutofit/>
          </a:bodyPr>
          <a:lstStyle/>
          <a:p>
            <a:pPr algn="l">
              <a:lnSpc>
                <a:spcPct val="105000"/>
              </a:lnSpc>
              <a:spcBef>
                <a:spcPts val="0"/>
              </a:spcBef>
            </a:pPr>
            <a:r>
              <a:rPr sz="950" b="1" i="0">
                <a:solidFill>
                  <a:srgbClr val="00C9A7"/>
                </a:solidFill>
                <a:latin typeface="Calibri"/>
              </a:rPr>
              <a:t>suzielaw MCP (3 endpoints)  [VERIFIED]</a:t>
            </a:r>
          </a:p>
        </p:txBody>
      </p:sp>
      <p:sp>
        <p:nvSpPr>
          <p:cNvPr id="23" name="TextBox 22"/>
          <p:cNvSpPr txBox="1"/>
          <p:nvPr/>
        </p:nvSpPr>
        <p:spPr>
          <a:xfrm>
            <a:off x="5989320" y="2724912"/>
            <a:ext cx="5470855" cy="292608"/>
          </a:xfrm>
          <a:prstGeom prst="rect">
            <a:avLst/>
          </a:prstGeom>
          <a:noFill/>
        </p:spPr>
        <p:txBody>
          <a:bodyPr wrap="square" anchor="t" lIns="0" rIns="0" tIns="0" bIns="0">
            <a:normAutofit/>
          </a:bodyPr>
          <a:lstStyle/>
          <a:p>
            <a:pPr algn="l">
              <a:lnSpc>
                <a:spcPct val="100000"/>
              </a:lnSpc>
              <a:spcBef>
                <a:spcPts val="0"/>
              </a:spcBef>
            </a:pPr>
            <a:r>
              <a:rPr sz="800" b="0" i="0">
                <a:solidFill>
                  <a:srgbClr val="1B2B3C"/>
                </a:solidFill>
                <a:latin typeface="Calibri"/>
              </a:rPr>
              <a:t>legal_search (19 jurisdictions), legal_get_document, legal_find_in_document</a:t>
            </a:r>
          </a:p>
        </p:txBody>
      </p:sp>
      <p:sp>
        <p:nvSpPr>
          <p:cNvPr id="24" name="TextBox 23"/>
          <p:cNvSpPr txBox="1"/>
          <p:nvPr/>
        </p:nvSpPr>
        <p:spPr>
          <a:xfrm>
            <a:off x="5989320" y="3063240"/>
            <a:ext cx="5470855" cy="182880"/>
          </a:xfrm>
          <a:prstGeom prst="rect">
            <a:avLst/>
          </a:prstGeom>
          <a:noFill/>
        </p:spPr>
        <p:txBody>
          <a:bodyPr wrap="square" anchor="t" lIns="0" rIns="0" tIns="0" bIns="0">
            <a:normAutofit/>
          </a:bodyPr>
          <a:lstStyle/>
          <a:p>
            <a:pPr algn="l">
              <a:lnSpc>
                <a:spcPct val="105000"/>
              </a:lnSpc>
              <a:spcBef>
                <a:spcPts val="0"/>
              </a:spcBef>
            </a:pPr>
            <a:r>
              <a:rPr sz="950" b="1" i="0">
                <a:solidFill>
                  <a:srgbClr val="F2A83B"/>
                </a:solidFill>
                <a:latin typeface="Calibri"/>
              </a:rPr>
              <a:t>DocuSign MCP (3 endpoints)  [TO BUILD]</a:t>
            </a:r>
          </a:p>
        </p:txBody>
      </p:sp>
      <p:sp>
        <p:nvSpPr>
          <p:cNvPr id="25" name="TextBox 24"/>
          <p:cNvSpPr txBox="1"/>
          <p:nvPr/>
        </p:nvSpPr>
        <p:spPr>
          <a:xfrm>
            <a:off x="5989320" y="3227832"/>
            <a:ext cx="5470855" cy="292608"/>
          </a:xfrm>
          <a:prstGeom prst="rect">
            <a:avLst/>
          </a:prstGeom>
          <a:noFill/>
        </p:spPr>
        <p:txBody>
          <a:bodyPr wrap="square" anchor="t" lIns="0" rIns="0" tIns="0" bIns="0">
            <a:normAutofit/>
          </a:bodyPr>
          <a:lstStyle/>
          <a:p>
            <a:pPr algn="l">
              <a:lnSpc>
                <a:spcPct val="100000"/>
              </a:lnSpc>
              <a:spcBef>
                <a:spcPts val="0"/>
              </a:spcBef>
            </a:pPr>
            <a:r>
              <a:rPr sz="800" b="0" i="0">
                <a:solidFill>
                  <a:srgbClr val="1B2B3C"/>
                </a:solidFill>
                <a:latin typeface="Calibri"/>
              </a:rPr>
              <a:t>create_envelope, send_for_signature, get_status</a:t>
            </a:r>
          </a:p>
        </p:txBody>
      </p:sp>
      <p:sp>
        <p:nvSpPr>
          <p:cNvPr id="26" name="TextBox 25"/>
          <p:cNvSpPr txBox="1"/>
          <p:nvPr/>
        </p:nvSpPr>
        <p:spPr>
          <a:xfrm>
            <a:off x="5989320" y="3566160"/>
            <a:ext cx="5470855" cy="182880"/>
          </a:xfrm>
          <a:prstGeom prst="rect">
            <a:avLst/>
          </a:prstGeom>
          <a:noFill/>
        </p:spPr>
        <p:txBody>
          <a:bodyPr wrap="square" anchor="t" lIns="0" rIns="0" tIns="0" bIns="0">
            <a:normAutofit/>
          </a:bodyPr>
          <a:lstStyle/>
          <a:p>
            <a:pPr algn="l">
              <a:lnSpc>
                <a:spcPct val="105000"/>
              </a:lnSpc>
              <a:spcBef>
                <a:spcPts val="0"/>
              </a:spcBef>
            </a:pPr>
            <a:r>
              <a:rPr sz="950" b="1" i="0">
                <a:solidFill>
                  <a:srgbClr val="F2A83B"/>
                </a:solidFill>
                <a:latin typeface="Calibri"/>
              </a:rPr>
              <a:t>Clio MCP (5 endpoints)  [TO BUILD]</a:t>
            </a:r>
          </a:p>
        </p:txBody>
      </p:sp>
      <p:sp>
        <p:nvSpPr>
          <p:cNvPr id="27" name="TextBox 26"/>
          <p:cNvSpPr txBox="1"/>
          <p:nvPr/>
        </p:nvSpPr>
        <p:spPr>
          <a:xfrm>
            <a:off x="5989320" y="3730752"/>
            <a:ext cx="5470855" cy="292608"/>
          </a:xfrm>
          <a:prstGeom prst="rect">
            <a:avLst/>
          </a:prstGeom>
          <a:noFill/>
        </p:spPr>
        <p:txBody>
          <a:bodyPr wrap="square" anchor="t" lIns="0" rIns="0" tIns="0" bIns="0">
            <a:normAutofit/>
          </a:bodyPr>
          <a:lstStyle/>
          <a:p>
            <a:pPr algn="l">
              <a:lnSpc>
                <a:spcPct val="100000"/>
              </a:lnSpc>
              <a:spcBef>
                <a:spcPts val="0"/>
              </a:spcBef>
            </a:pPr>
            <a:r>
              <a:rPr sz="800" b="0" i="0">
                <a:solidFill>
                  <a:srgbClr val="1B2B3C"/>
                </a:solidFill>
                <a:latin typeface="Calibri"/>
              </a:rPr>
              <a:t>get_matters, create_time_entry, generate_invoice</a:t>
            </a:r>
          </a:p>
        </p:txBody>
      </p:sp>
      <p:sp>
        <p:nvSpPr>
          <p:cNvPr id="28" name="Rounded Rectangle 27"/>
          <p:cNvSpPr/>
          <p:nvPr/>
        </p:nvSpPr>
        <p:spPr>
          <a:xfrm>
            <a:off x="548640" y="3840480"/>
            <a:ext cx="11094415" cy="68580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3931920"/>
            <a:ext cx="1371600"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DEPLOYMENT</a:t>
            </a:r>
          </a:p>
        </p:txBody>
      </p:sp>
      <p:sp>
        <p:nvSpPr>
          <p:cNvPr id="30" name="TextBox 29"/>
          <p:cNvSpPr txBox="1"/>
          <p:nvPr/>
        </p:nvSpPr>
        <p:spPr>
          <a:xfrm>
            <a:off x="2194560" y="3931920"/>
            <a:ext cx="9265615" cy="182880"/>
          </a:xfrm>
          <a:prstGeom prst="rect">
            <a:avLst/>
          </a:prstGeom>
          <a:noFill/>
        </p:spPr>
        <p:txBody>
          <a:bodyPr wrap="square" anchor="t" lIns="0" rIns="0" tIns="0" bIns="0">
            <a:normAutofit/>
          </a:bodyPr>
          <a:lstStyle/>
          <a:p>
            <a:pPr algn="l">
              <a:lnSpc>
                <a:spcPct val="105000"/>
              </a:lnSpc>
              <a:spcBef>
                <a:spcPts val="0"/>
              </a:spcBef>
            </a:pPr>
            <a:r>
              <a:rPr sz="900" b="0" i="0">
                <a:solidFill>
                  <a:srgbClr val="FFFFFF"/>
                </a:solidFill>
                <a:latin typeface="Calibri"/>
              </a:rPr>
              <a:t>Interactive: contract drafting | Headless: batch review | Weekly: Clio billing</a:t>
            </a:r>
          </a:p>
        </p:txBody>
      </p:sp>
      <p:sp>
        <p:nvSpPr>
          <p:cNvPr id="31" name="TextBox 30"/>
          <p:cNvSpPr txBox="1"/>
          <p:nvPr/>
        </p:nvSpPr>
        <p:spPr>
          <a:xfrm>
            <a:off x="731520" y="4206240"/>
            <a:ext cx="10728655" cy="182880"/>
          </a:xfrm>
          <a:prstGeom prst="rect">
            <a:avLst/>
          </a:prstGeom>
          <a:noFill/>
        </p:spPr>
        <p:txBody>
          <a:bodyPr wrap="square" anchor="t" lIns="0" rIns="0" tIns="0" bIns="0">
            <a:normAutofit/>
          </a:bodyPr>
          <a:lstStyle/>
          <a:p>
            <a:pPr algn="l">
              <a:lnSpc>
                <a:spcPct val="105000"/>
              </a:lnSpc>
              <a:spcBef>
                <a:spcPts val="0"/>
              </a:spcBef>
            </a:pPr>
            <a:r>
              <a:rPr sz="850" b="1" i="0">
                <a:solidFill>
                  <a:srgbClr val="0A1628"/>
                </a:solidFill>
                <a:latin typeface="Calibri"/>
              </a:rPr>
              <a:t>Pattern: Agent(llm, tools) → Conversation(agent, workspace, plugins) | MCP config at platform level (config.toml)</a:t>
            </a:r>
          </a:p>
        </p:txBody>
      </p:sp>
      <p:sp>
        <p:nvSpPr>
          <p:cNvPr id="32" name="Rounded Rectangle 31"/>
          <p:cNvSpPr/>
          <p:nvPr/>
        </p:nvSpPr>
        <p:spPr>
          <a:xfrm>
            <a:off x="548640" y="4663440"/>
            <a:ext cx="11094415" cy="1280160"/>
          </a:xfrm>
          <a:prstGeom prst="roundRect">
            <a:avLst>
              <a:gd name="adj" fmla="val 5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754880"/>
            <a:ext cx="27432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TECH STACK &amp; GITHUB</a:t>
            </a:r>
          </a:p>
        </p:txBody>
      </p:sp>
      <p:sp>
        <p:nvSpPr>
          <p:cNvPr id="34" name="TextBox 33"/>
          <p:cNvSpPr txBox="1"/>
          <p:nvPr/>
        </p:nvSpPr>
        <p:spPr>
          <a:xfrm>
            <a:off x="731520" y="4983480"/>
            <a:ext cx="3362858" cy="164592"/>
          </a:xfrm>
          <a:prstGeom prst="rect">
            <a:avLst/>
          </a:prstGeom>
          <a:noFill/>
        </p:spPr>
        <p:txBody>
          <a:bodyPr wrap="square" anchor="t" lIns="0" rIns="0" tIns="0" bIns="0">
            <a:normAutofit/>
          </a:bodyPr>
          <a:lstStyle/>
          <a:p>
            <a:pPr algn="l">
              <a:lnSpc>
                <a:spcPct val="105000"/>
              </a:lnSpc>
              <a:spcBef>
                <a:spcPts val="0"/>
              </a:spcBef>
            </a:pPr>
            <a:r>
              <a:rPr sz="850" b="1" i="0">
                <a:solidFill>
                  <a:srgbClr val="00C9A7"/>
                </a:solidFill>
                <a:latin typeface="Calibri"/>
              </a:rPr>
              <a:t>open-agreements/open-agreements</a:t>
            </a:r>
          </a:p>
        </p:txBody>
      </p:sp>
      <p:sp>
        <p:nvSpPr>
          <p:cNvPr id="35" name="TextBox 34"/>
          <p:cNvSpPr txBox="1"/>
          <p:nvPr/>
        </p:nvSpPr>
        <p:spPr>
          <a:xfrm>
            <a:off x="731520" y="5129784"/>
            <a:ext cx="3362858" cy="219456"/>
          </a:xfrm>
          <a:prstGeom prst="rect">
            <a:avLst/>
          </a:prstGeom>
          <a:noFill/>
        </p:spPr>
        <p:txBody>
          <a:bodyPr wrap="square" anchor="t" lIns="0" rIns="0" tIns="0" bIns="0">
            <a:normAutofit/>
          </a:bodyPr>
          <a:lstStyle/>
          <a:p>
            <a:pPr algn="l">
              <a:lnSpc>
                <a:spcPct val="105000"/>
              </a:lnSpc>
              <a:spcBef>
                <a:spcPts val="0"/>
              </a:spcBef>
            </a:pPr>
            <a:r>
              <a:rPr sz="750" b="0" i="0">
                <a:solidFill>
                  <a:srgbClr val="FFFFFF"/>
                </a:solidFill>
                <a:latin typeface="Calibri"/>
              </a:rPr>
              <a:t>v0.7.5 — 25+ templates, MCP server</a:t>
            </a:r>
          </a:p>
        </p:txBody>
      </p:sp>
      <p:sp>
        <p:nvSpPr>
          <p:cNvPr id="36" name="TextBox 35"/>
          <p:cNvSpPr txBox="1"/>
          <p:nvPr/>
        </p:nvSpPr>
        <p:spPr>
          <a:xfrm>
            <a:off x="4185818" y="4983480"/>
            <a:ext cx="3362858" cy="164592"/>
          </a:xfrm>
          <a:prstGeom prst="rect">
            <a:avLst/>
          </a:prstGeom>
          <a:noFill/>
        </p:spPr>
        <p:txBody>
          <a:bodyPr wrap="square" anchor="t" lIns="0" rIns="0" tIns="0" bIns="0">
            <a:normAutofit/>
          </a:bodyPr>
          <a:lstStyle/>
          <a:p>
            <a:pPr algn="l">
              <a:lnSpc>
                <a:spcPct val="105000"/>
              </a:lnSpc>
              <a:spcBef>
                <a:spcPts val="0"/>
              </a:spcBef>
            </a:pPr>
            <a:r>
              <a:rPr sz="850" b="1" i="0">
                <a:solidFill>
                  <a:srgbClr val="00C9A7"/>
                </a:solidFill>
                <a:latin typeface="Calibri"/>
              </a:rPr>
              <a:t>AnttiHero/lavern</a:t>
            </a:r>
          </a:p>
        </p:txBody>
      </p:sp>
      <p:sp>
        <p:nvSpPr>
          <p:cNvPr id="37" name="TextBox 36"/>
          <p:cNvSpPr txBox="1"/>
          <p:nvPr/>
        </p:nvSpPr>
        <p:spPr>
          <a:xfrm>
            <a:off x="4185818" y="5129784"/>
            <a:ext cx="3362858" cy="219456"/>
          </a:xfrm>
          <a:prstGeom prst="rect">
            <a:avLst/>
          </a:prstGeom>
          <a:noFill/>
        </p:spPr>
        <p:txBody>
          <a:bodyPr wrap="square" anchor="t" lIns="0" rIns="0" tIns="0" bIns="0">
            <a:normAutofit/>
          </a:bodyPr>
          <a:lstStyle/>
          <a:p>
            <a:pPr algn="l">
              <a:lnSpc>
                <a:spcPct val="105000"/>
              </a:lnSpc>
              <a:spcBef>
                <a:spcPts val="0"/>
              </a:spcBef>
            </a:pPr>
            <a:r>
              <a:rPr sz="750" b="0" i="0">
                <a:solidFill>
                  <a:srgbClr val="FFFFFF"/>
                </a:solidFill>
                <a:latin typeface="Calibri"/>
              </a:rPr>
              <a:t>v0.15.0 — 67 agents, debate protocol, 21 MCP tools</a:t>
            </a:r>
          </a:p>
        </p:txBody>
      </p:sp>
      <p:sp>
        <p:nvSpPr>
          <p:cNvPr id="38" name="TextBox 37"/>
          <p:cNvSpPr txBox="1"/>
          <p:nvPr/>
        </p:nvSpPr>
        <p:spPr>
          <a:xfrm>
            <a:off x="7640116" y="4983480"/>
            <a:ext cx="3362858" cy="164592"/>
          </a:xfrm>
          <a:prstGeom prst="rect">
            <a:avLst/>
          </a:prstGeom>
          <a:noFill/>
        </p:spPr>
        <p:txBody>
          <a:bodyPr wrap="square" anchor="t" lIns="0" rIns="0" tIns="0" bIns="0">
            <a:normAutofit/>
          </a:bodyPr>
          <a:lstStyle/>
          <a:p>
            <a:pPr algn="l">
              <a:lnSpc>
                <a:spcPct val="105000"/>
              </a:lnSpc>
              <a:spcBef>
                <a:spcPts val="0"/>
              </a:spcBef>
            </a:pPr>
            <a:r>
              <a:rPr sz="850" b="1" i="0">
                <a:solidFill>
                  <a:srgbClr val="00C9A7"/>
                </a:solidFill>
                <a:latin typeface="Calibri"/>
              </a:rPr>
              <a:t>firelex/suzielaw</a:t>
            </a:r>
          </a:p>
        </p:txBody>
      </p:sp>
      <p:sp>
        <p:nvSpPr>
          <p:cNvPr id="39" name="TextBox 38"/>
          <p:cNvSpPr txBox="1"/>
          <p:nvPr/>
        </p:nvSpPr>
        <p:spPr>
          <a:xfrm>
            <a:off x="7640116" y="5129784"/>
            <a:ext cx="3362858" cy="219456"/>
          </a:xfrm>
          <a:prstGeom prst="rect">
            <a:avLst/>
          </a:prstGeom>
          <a:noFill/>
        </p:spPr>
        <p:txBody>
          <a:bodyPr wrap="square" anchor="t" lIns="0" rIns="0" tIns="0" bIns="0">
            <a:normAutofit/>
          </a:bodyPr>
          <a:lstStyle/>
          <a:p>
            <a:pPr algn="l">
              <a:lnSpc>
                <a:spcPct val="105000"/>
              </a:lnSpc>
              <a:spcBef>
                <a:spcPts val="0"/>
              </a:spcBef>
            </a:pPr>
            <a:r>
              <a:rPr sz="750" b="0" i="0">
                <a:solidFill>
                  <a:srgbClr val="FFFFFF"/>
                </a:solidFill>
                <a:latin typeface="Calibri"/>
              </a:rPr>
              <a:t>19-jurisdiction legal research, 22 providers</a:t>
            </a:r>
          </a:p>
        </p:txBody>
      </p:sp>
      <p:sp>
        <p:nvSpPr>
          <p:cNvPr id="40" name="TextBox 39"/>
          <p:cNvSpPr txBox="1"/>
          <p:nvPr/>
        </p:nvSpPr>
        <p:spPr>
          <a:xfrm>
            <a:off x="731520" y="5422392"/>
            <a:ext cx="3362858" cy="164592"/>
          </a:xfrm>
          <a:prstGeom prst="rect">
            <a:avLst/>
          </a:prstGeom>
          <a:noFill/>
        </p:spPr>
        <p:txBody>
          <a:bodyPr wrap="square" anchor="t" lIns="0" rIns="0" tIns="0" bIns="0">
            <a:normAutofit/>
          </a:bodyPr>
          <a:lstStyle/>
          <a:p>
            <a:pPr algn="l">
              <a:lnSpc>
                <a:spcPct val="105000"/>
              </a:lnSpc>
              <a:spcBef>
                <a:spcPts val="0"/>
              </a:spcBef>
            </a:pPr>
            <a:r>
              <a:rPr sz="850" b="1" i="0">
                <a:solidFill>
                  <a:srgbClr val="00C9A7"/>
                </a:solidFill>
                <a:latin typeface="Calibri"/>
              </a:rPr>
              <a:t>anthropics/claude-for-legal</a:t>
            </a:r>
          </a:p>
        </p:txBody>
      </p:sp>
      <p:sp>
        <p:nvSpPr>
          <p:cNvPr id="41" name="TextBox 40"/>
          <p:cNvSpPr txBox="1"/>
          <p:nvPr/>
        </p:nvSpPr>
        <p:spPr>
          <a:xfrm>
            <a:off x="731520" y="5568696"/>
            <a:ext cx="3362858" cy="219456"/>
          </a:xfrm>
          <a:prstGeom prst="rect">
            <a:avLst/>
          </a:prstGeom>
          <a:noFill/>
        </p:spPr>
        <p:txBody>
          <a:bodyPr wrap="square" anchor="t" lIns="0" rIns="0" tIns="0" bIns="0">
            <a:normAutofit/>
          </a:bodyPr>
          <a:lstStyle/>
          <a:p>
            <a:pPr algn="l">
              <a:lnSpc>
                <a:spcPct val="105000"/>
              </a:lnSpc>
              <a:spcBef>
                <a:spcPts val="0"/>
              </a:spcBef>
            </a:pPr>
            <a:r>
              <a:rPr sz="750" b="0" i="0">
                <a:solidFill>
                  <a:srgbClr val="FFFFFF"/>
                </a:solidFill>
                <a:latin typeface="Calibri"/>
              </a:rPr>
              <a:t>12 plugins, 80+ agents, 20 MCP connectors</a:t>
            </a:r>
          </a:p>
        </p:txBody>
      </p:sp>
      <p:sp>
        <p:nvSpPr>
          <p:cNvPr id="42" name="TextBox 41"/>
          <p:cNvSpPr txBox="1"/>
          <p:nvPr/>
        </p:nvSpPr>
        <p:spPr>
          <a:xfrm>
            <a:off x="4185818" y="5422392"/>
            <a:ext cx="3362858" cy="164592"/>
          </a:xfrm>
          <a:prstGeom prst="rect">
            <a:avLst/>
          </a:prstGeom>
          <a:noFill/>
        </p:spPr>
        <p:txBody>
          <a:bodyPr wrap="square" anchor="t" lIns="0" rIns="0" tIns="0" bIns="0">
            <a:normAutofit/>
          </a:bodyPr>
          <a:lstStyle/>
          <a:p>
            <a:pPr algn="l">
              <a:lnSpc>
                <a:spcPct val="105000"/>
              </a:lnSpc>
              <a:spcBef>
                <a:spcPts val="0"/>
              </a:spcBef>
            </a:pPr>
            <a:r>
              <a:rPr sz="850" b="1" i="0">
                <a:solidFill>
                  <a:srgbClr val="00C9A7"/>
                </a:solidFill>
                <a:latin typeface="Calibri"/>
              </a:rPr>
              <a:t>anylegal-ai/anylegal-oss</a:t>
            </a:r>
          </a:p>
        </p:txBody>
      </p:sp>
      <p:sp>
        <p:nvSpPr>
          <p:cNvPr id="43" name="TextBox 42"/>
          <p:cNvSpPr txBox="1"/>
          <p:nvPr/>
        </p:nvSpPr>
        <p:spPr>
          <a:xfrm>
            <a:off x="4185818" y="5568696"/>
            <a:ext cx="3362858" cy="219456"/>
          </a:xfrm>
          <a:prstGeom prst="rect">
            <a:avLst/>
          </a:prstGeom>
          <a:noFill/>
        </p:spPr>
        <p:txBody>
          <a:bodyPr wrap="square" anchor="t" lIns="0" rIns="0" tIns="0" bIns="0">
            <a:normAutofit/>
          </a:bodyPr>
          <a:lstStyle/>
          <a:p>
            <a:pPr algn="l">
              <a:lnSpc>
                <a:spcPct val="105000"/>
              </a:lnSpc>
              <a:spcBef>
                <a:spcPts val="0"/>
              </a:spcBef>
            </a:pPr>
            <a:r>
              <a:rPr sz="750" b="0" i="0">
                <a:solidFill>
                  <a:srgbClr val="FFFFFF"/>
                </a:solidFill>
                <a:latin typeface="Calibri"/>
              </a:rPr>
              <a:t>12 tools, 80+ country legislation</a:t>
            </a:r>
          </a:p>
        </p:txBody>
      </p:sp>
      <p:sp>
        <p:nvSpPr>
          <p:cNvPr id="44" name="Rounded Rectangle 43"/>
          <p:cNvSpPr/>
          <p:nvPr/>
        </p:nvSpPr>
        <p:spPr>
          <a:xfrm>
            <a:off x="548640" y="6080760"/>
            <a:ext cx="5455767" cy="274320"/>
          </a:xfrm>
          <a:prstGeom prst="roundRect">
            <a:avLst>
              <a:gd name="adj" fmla="val 3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6080760"/>
            <a:ext cx="5272887" cy="274320"/>
          </a:xfrm>
          <a:prstGeom prst="rect">
            <a:avLst/>
          </a:prstGeom>
          <a:noFill/>
        </p:spPr>
        <p:txBody>
          <a:bodyPr wrap="square" anchor="ctr" lIns="0" rIns="0" tIns="0" bIns="0">
            <a:normAutofit/>
          </a:bodyPr>
          <a:lstStyle/>
          <a:p>
            <a:pPr algn="l">
              <a:lnSpc>
                <a:spcPct val="105000"/>
              </a:lnSpc>
              <a:spcBef>
                <a:spcPts val="0"/>
              </a:spcBef>
            </a:pPr>
            <a:r>
              <a:rPr sz="700" b="1" i="0">
                <a:solidFill>
                  <a:srgbClr val="FFFFFF"/>
                </a:solidFill>
                <a:latin typeface="Calibri"/>
              </a:rPr>
              <a:t>SYSTEMS: iManage | DocuSign | CLM | Aderant | Clio</a:t>
            </a:r>
          </a:p>
        </p:txBody>
      </p:sp>
      <p:sp>
        <p:nvSpPr>
          <p:cNvPr id="46" name="Rounded Rectangle 45"/>
          <p:cNvSpPr/>
          <p:nvPr/>
        </p:nvSpPr>
        <p:spPr>
          <a:xfrm>
            <a:off x="6187287" y="6080760"/>
            <a:ext cx="5455767" cy="274320"/>
          </a:xfrm>
          <a:prstGeom prst="roundRect">
            <a:avLst>
              <a:gd name="adj" fmla="val 3000"/>
            </a:avLst>
          </a:prstGeom>
          <a:solidFill>
            <a:srgbClr val="008F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78727" y="6080760"/>
            <a:ext cx="5272887" cy="274320"/>
          </a:xfrm>
          <a:prstGeom prst="rect">
            <a:avLst/>
          </a:prstGeom>
          <a:noFill/>
        </p:spPr>
        <p:txBody>
          <a:bodyPr wrap="square" anchor="ctr" lIns="0" rIns="0" tIns="0" bIns="0">
            <a:normAutofit/>
          </a:bodyPr>
          <a:lstStyle/>
          <a:p>
            <a:pPr algn="l">
              <a:lnSpc>
                <a:spcPct val="105000"/>
              </a:lnSpc>
              <a:spcBef>
                <a:spcPts val="0"/>
              </a:spcBef>
            </a:pPr>
            <a:r>
              <a:rPr sz="700" b="1" i="0">
                <a:solidFill>
                  <a:srgbClr val="FFFFFF"/>
                </a:solidFill>
                <a:latin typeface="Calibri"/>
              </a:rPr>
              <a:t>USERS: Paralegals | Associates | M&amp;A partners | Legal ops</a:t>
            </a:r>
          </a:p>
        </p:txBody>
      </p:sp>
      <p:sp>
        <p:nvSpPr>
          <p:cNvPr id="48" name="TextBox 4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45 / 82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Governance &amp; Compliance — UC-05</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Legal — Standards, audits, and compliance requirements</a:t>
            </a:r>
          </a:p>
        </p:txBody>
      </p:sp>
      <p:sp>
        <p:nvSpPr>
          <p:cNvPr id="7" name="TextBox 6"/>
          <p:cNvSpPr txBox="1"/>
          <p:nvPr/>
        </p:nvSpPr>
        <p:spPr>
          <a:xfrm>
            <a:off x="548640" y="1600200"/>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Client-attorney privilege preserved: all processing within firm infrastructure</a:t>
            </a:r>
          </a:p>
        </p:txBody>
      </p:sp>
      <p:sp>
        <p:nvSpPr>
          <p:cNvPr id="8" name="TextBox 7"/>
          <p:cNvSpPr txBox="1"/>
          <p:nvPr/>
        </p:nvSpPr>
        <p:spPr>
          <a:xfrm>
            <a:off x="548640" y="2130552"/>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A2I confidence gating: clauses with &lt;0.85 confidence routed to human review</a:t>
            </a:r>
          </a:p>
        </p:txBody>
      </p:sp>
      <p:sp>
        <p:nvSpPr>
          <p:cNvPr id="9" name="TextBox 8"/>
          <p:cNvSpPr txBox="1"/>
          <p:nvPr/>
        </p:nvSpPr>
        <p:spPr>
          <a:xfrm>
            <a:off x="548640" y="2660904"/>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Verification corpus used in debate protocol — not fine-tuned model training</a:t>
            </a:r>
          </a:p>
        </p:txBody>
      </p:sp>
      <p:sp>
        <p:nvSpPr>
          <p:cNvPr id="10" name="TextBox 9"/>
          <p:cNvSpPr txBox="1"/>
          <p:nvPr/>
        </p:nvSpPr>
        <p:spPr>
          <a:xfrm>
            <a:off x="548640" y="3191256"/>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Audit trail: every AI recommendation logged with confidence score and basis</a:t>
            </a:r>
          </a:p>
        </p:txBody>
      </p:sp>
      <p:sp>
        <p:nvSpPr>
          <p:cNvPr id="11" name="TextBox 10"/>
          <p:cNvSpPr txBox="1"/>
          <p:nvPr/>
        </p:nvSpPr>
        <p:spPr>
          <a:xfrm>
            <a:off x="548640" y="3721608"/>
            <a:ext cx="11094415" cy="402336"/>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  Jurisdictional compliance: template selection validates governing law</a:t>
            </a:r>
          </a:p>
        </p:txBody>
      </p:sp>
      <p:sp>
        <p:nvSpPr>
          <p:cNvPr id="12" name="TextBox 1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46 / 82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COMPETITIVE LANDSCAPE — UC-05 | LEGAL</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18488"/>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Harvey AI</a:t>
            </a:r>
          </a:p>
        </p:txBody>
      </p:sp>
      <p:sp>
        <p:nvSpPr>
          <p:cNvPr id="9" name="TextBox 8"/>
          <p:cNvSpPr txBox="1"/>
          <p:nvPr/>
        </p:nvSpPr>
        <p:spPr>
          <a:xfrm>
            <a:off x="3749040" y="1618488"/>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$11B valuation, $300M ARR</a:t>
            </a:r>
          </a:p>
        </p:txBody>
      </p:sp>
      <p:sp>
        <p:nvSpPr>
          <p:cNvPr id="10" name="TextBox 9"/>
          <p:cNvSpPr txBox="1"/>
          <p:nvPr/>
        </p:nvSpPr>
        <p:spPr>
          <a:xfrm>
            <a:off x="731520" y="1892808"/>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142K lawyers, 50% of Am Law 100, 1,500+ customers in 60+ countries</a:t>
            </a:r>
          </a:p>
        </p:txBody>
      </p:sp>
      <p:sp>
        <p:nvSpPr>
          <p:cNvPr id="11" name="Rounded Rectangle 10"/>
          <p:cNvSpPr/>
          <p:nvPr/>
        </p:nvSpPr>
        <p:spPr>
          <a:xfrm>
            <a:off x="548640" y="2395728"/>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05456"/>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Thomson Reuters CoCounsel</a:t>
            </a:r>
          </a:p>
        </p:txBody>
      </p:sp>
      <p:sp>
        <p:nvSpPr>
          <p:cNvPr id="13" name="TextBox 12"/>
          <p:cNvSpPr txBox="1"/>
          <p:nvPr/>
        </p:nvSpPr>
        <p:spPr>
          <a:xfrm>
            <a:off x="3749040" y="2505456"/>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20,000+ firms</a:t>
            </a:r>
          </a:p>
        </p:txBody>
      </p:sp>
      <p:sp>
        <p:nvSpPr>
          <p:cNvPr id="14" name="TextBox 13"/>
          <p:cNvSpPr txBox="1"/>
          <p:nvPr/>
        </p:nvSpPr>
        <p:spPr>
          <a:xfrm>
            <a:off x="731520" y="2779776"/>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Saves 5-8 hrs/day per attorney; research time cut 80%</a:t>
            </a:r>
          </a:p>
        </p:txBody>
      </p:sp>
      <p:sp>
        <p:nvSpPr>
          <p:cNvPr id="15" name="Rounded Rectangle 14"/>
          <p:cNvSpPr/>
          <p:nvPr/>
        </p:nvSpPr>
        <p:spPr>
          <a:xfrm>
            <a:off x="548640" y="3282696"/>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392424"/>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Ironclad</a:t>
            </a:r>
          </a:p>
        </p:txBody>
      </p:sp>
      <p:sp>
        <p:nvSpPr>
          <p:cNvPr id="17" name="TextBox 16"/>
          <p:cNvSpPr txBox="1"/>
          <p:nvPr/>
        </p:nvSpPr>
        <p:spPr>
          <a:xfrm>
            <a:off x="3749040" y="3392424"/>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CLM platform</a:t>
            </a:r>
          </a:p>
        </p:txBody>
      </p:sp>
      <p:sp>
        <p:nvSpPr>
          <p:cNvPr id="18" name="TextBox 17"/>
          <p:cNvSpPr txBox="1"/>
          <p:nvPr/>
        </p:nvSpPr>
        <p:spPr>
          <a:xfrm>
            <a:off x="731520" y="3666744"/>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Contract lifecycle management — more workflow than AI intelligence</a:t>
            </a:r>
          </a:p>
        </p:txBody>
      </p:sp>
      <p:sp>
        <p:nvSpPr>
          <p:cNvPr id="19" name="Rounded Rectangle 18"/>
          <p:cNvSpPr/>
          <p:nvPr/>
        </p:nvSpPr>
        <p:spPr>
          <a:xfrm>
            <a:off x="548640" y="4169664"/>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279392"/>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LexisNexis Lexis+ AI</a:t>
            </a:r>
          </a:p>
        </p:txBody>
      </p:sp>
      <p:sp>
        <p:nvSpPr>
          <p:cNvPr id="21" name="TextBox 20"/>
          <p:cNvSpPr txBox="1"/>
          <p:nvPr/>
        </p:nvSpPr>
        <p:spPr>
          <a:xfrm>
            <a:off x="3749040" y="4279392"/>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284% ROI (Forrester)</a:t>
            </a:r>
          </a:p>
        </p:txBody>
      </p:sp>
      <p:sp>
        <p:nvSpPr>
          <p:cNvPr id="22" name="TextBox 21"/>
          <p:cNvSpPr txBox="1"/>
          <p:nvPr/>
        </p:nvSpPr>
        <p:spPr>
          <a:xfrm>
            <a:off x="731520" y="4553712"/>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Source-grounded legal AI — 344% ROI for comparable platforms</a:t>
            </a:r>
          </a:p>
        </p:txBody>
      </p:sp>
      <p:sp>
        <p:nvSpPr>
          <p:cNvPr id="23" name="Rounded Rectangle 22"/>
          <p:cNvSpPr/>
          <p:nvPr/>
        </p:nvSpPr>
        <p:spPr>
          <a:xfrm>
            <a:off x="548640" y="5056632"/>
            <a:ext cx="11094415" cy="7772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166360"/>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FFFFFF"/>
                </a:solidFill>
                <a:latin typeface="Calibri"/>
              </a:rPr>
              <a:t>Our approach</a:t>
            </a:r>
          </a:p>
        </p:txBody>
      </p:sp>
      <p:sp>
        <p:nvSpPr>
          <p:cNvPr id="25" name="TextBox 24"/>
          <p:cNvSpPr txBox="1"/>
          <p:nvPr/>
        </p:nvSpPr>
        <p:spPr>
          <a:xfrm>
            <a:off x="3749040" y="5166360"/>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FFB800"/>
                </a:solidFill>
                <a:latin typeface="Calibri"/>
              </a:rPr>
              <a:t>Mid-market, open MCP</a:t>
            </a:r>
          </a:p>
        </p:txBody>
      </p:sp>
      <p:sp>
        <p:nvSpPr>
          <p:cNvPr id="26" name="TextBox 25"/>
          <p:cNvSpPr txBox="1"/>
          <p:nvPr/>
        </p:nvSpPr>
        <p:spPr>
          <a:xfrm>
            <a:off x="731520" y="5440680"/>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50-70% cheaper, 5 verified MCP servers, debate protocol, $3-5K/mo</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47 / 82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5B6B7C"/>
                </a:solidFill>
                <a:latin typeface="Calibri"/>
              </a:rPr>
              <a:t>THE ACTUAL INSIGHT — UC-05</a:t>
            </a:r>
          </a:p>
        </p:txBody>
      </p:sp>
      <p:sp>
        <p:nvSpPr>
          <p:cNvPr id="5" name="Rounded Rectangle 4"/>
          <p:cNvSpPr/>
          <p:nvPr/>
        </p:nvSpPr>
        <p:spPr>
          <a:xfrm>
            <a:off x="548640" y="822960"/>
            <a:ext cx="11094415" cy="256032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005840"/>
            <a:ext cx="10545775" cy="2194560"/>
          </a:xfrm>
          <a:prstGeom prst="rect">
            <a:avLst/>
          </a:prstGeom>
          <a:noFill/>
        </p:spPr>
        <p:txBody>
          <a:bodyPr wrap="square" anchor="t" lIns="0" rIns="0" tIns="0" bIns="0">
            <a:normAutofit/>
          </a:bodyPr>
          <a:lstStyle/>
          <a:p>
            <a:pPr algn="l">
              <a:lnSpc>
                <a:spcPct val="115000"/>
              </a:lnSpc>
              <a:spcBef>
                <a:spcPts val="0"/>
              </a:spcBef>
            </a:pPr>
            <a:r>
              <a:rPr sz="1400" b="0" i="0">
                <a:solidFill>
                  <a:srgbClr val="FFFFFF"/>
                </a:solidFill>
                <a:latin typeface="Calibri"/>
              </a:rPr>
              <a:t>Lawyers spent 28 hours finding clauses and 12 on judgment. Now they spend 12 on judgment. Everyone does what they're actually good at. The debate protocol (67 agents, adversarial review) catches what single-pass review misses. And every MCP server in this stack actually exists.</a:t>
            </a:r>
          </a:p>
        </p:txBody>
      </p:sp>
      <p:sp>
        <p:nvSpPr>
          <p:cNvPr id="7" name="Rounded Rectangle 6"/>
          <p:cNvSpPr/>
          <p:nvPr/>
        </p:nvSpPr>
        <p:spPr>
          <a:xfrm>
            <a:off x="548640" y="3657600"/>
            <a:ext cx="3576218" cy="10058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767328"/>
            <a:ext cx="3301898" cy="182880"/>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BUYER</a:t>
            </a:r>
          </a:p>
        </p:txBody>
      </p:sp>
      <p:sp>
        <p:nvSpPr>
          <p:cNvPr id="9" name="TextBox 8"/>
          <p:cNvSpPr txBox="1"/>
          <p:nvPr/>
        </p:nvSpPr>
        <p:spPr>
          <a:xfrm>
            <a:off x="685800" y="4005072"/>
            <a:ext cx="3301898" cy="530352"/>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Legal Ops / Managing Partner</a:t>
            </a:r>
          </a:p>
        </p:txBody>
      </p:sp>
      <p:sp>
        <p:nvSpPr>
          <p:cNvPr id="10" name="Rounded Rectangle 9"/>
          <p:cNvSpPr/>
          <p:nvPr/>
        </p:nvSpPr>
        <p:spPr>
          <a:xfrm>
            <a:off x="4307738" y="3657600"/>
            <a:ext cx="3576218" cy="10058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4898" y="3767328"/>
            <a:ext cx="3301898" cy="182880"/>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REVENUE MODEL</a:t>
            </a:r>
          </a:p>
        </p:txBody>
      </p:sp>
      <p:sp>
        <p:nvSpPr>
          <p:cNvPr id="12" name="TextBox 11"/>
          <p:cNvSpPr txBox="1"/>
          <p:nvPr/>
        </p:nvSpPr>
        <p:spPr>
          <a:xfrm>
            <a:off x="4444898" y="4005072"/>
            <a:ext cx="3301898" cy="530352"/>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$3-5K/mo per firm</a:t>
            </a:r>
          </a:p>
        </p:txBody>
      </p:sp>
      <p:sp>
        <p:nvSpPr>
          <p:cNvPr id="13" name="Rounded Rectangle 12"/>
          <p:cNvSpPr/>
          <p:nvPr/>
        </p:nvSpPr>
        <p:spPr>
          <a:xfrm>
            <a:off x="8066836" y="3657600"/>
            <a:ext cx="3576218" cy="10058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3996" y="3767328"/>
            <a:ext cx="3301898" cy="182880"/>
          </a:xfrm>
          <a:prstGeom prst="rect">
            <a:avLst/>
          </a:prstGeom>
          <a:noFill/>
        </p:spPr>
        <p:txBody>
          <a:bodyPr wrap="square" anchor="t" lIns="0" rIns="0" tIns="0" bIns="0">
            <a:noAutofit/>
          </a:bodyPr>
          <a:lstStyle/>
          <a:p>
            <a:pPr algn="l">
              <a:lnSpc>
                <a:spcPct val="105000"/>
              </a:lnSpc>
              <a:spcBef>
                <a:spcPts val="0"/>
              </a:spcBef>
            </a:pPr>
            <a:r>
              <a:rPr sz="1000" b="1" i="0">
                <a:solidFill>
                  <a:srgbClr val="00C9A7"/>
                </a:solidFill>
                <a:latin typeface="Calibri"/>
              </a:rPr>
              <a:t>DEPLOYMENT</a:t>
            </a:r>
          </a:p>
        </p:txBody>
      </p:sp>
      <p:sp>
        <p:nvSpPr>
          <p:cNvPr id="15" name="TextBox 14"/>
          <p:cNvSpPr txBox="1"/>
          <p:nvPr/>
        </p:nvSpPr>
        <p:spPr>
          <a:xfrm>
            <a:off x="8203996" y="4005072"/>
            <a:ext cx="3301898" cy="530352"/>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Interactive: contract drafting with client interview</a:t>
            </a:r>
          </a:p>
        </p:txBody>
      </p:sp>
      <p:sp>
        <p:nvSpPr>
          <p:cNvPr id="16" name="TextBox 15"/>
          <p:cNvSpPr txBox="1"/>
          <p:nvPr/>
        </p:nvSpPr>
        <p:spPr>
          <a:xfrm>
            <a:off x="548640" y="4937760"/>
            <a:ext cx="11094415" cy="18288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Source: DreamzTech Apr 2026 (industry estimate) + verified repos</a:t>
            </a:r>
          </a:p>
        </p:txBody>
      </p:sp>
      <p:sp>
        <p:nvSpPr>
          <p:cNvPr id="17" name="TextBox 1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48 / 82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UC-10 | LEGAL</a:t>
            </a:r>
          </a:p>
        </p:txBody>
      </p:sp>
      <p:sp>
        <p:nvSpPr>
          <p:cNvPr id="5" name="TextBox 4"/>
          <p:cNvSpPr txBox="1"/>
          <p:nvPr/>
        </p:nvSpPr>
        <p:spPr>
          <a:xfrm>
            <a:off x="548640" y="1691640"/>
            <a:ext cx="11094415" cy="731520"/>
          </a:xfrm>
          <a:prstGeom prst="rect">
            <a:avLst/>
          </a:prstGeom>
          <a:noFill/>
        </p:spPr>
        <p:txBody>
          <a:bodyPr wrap="square" anchor="t" lIns="0" rIns="0" tIns="0" bIns="0">
            <a:normAutofit/>
          </a:bodyPr>
          <a:lstStyle/>
          <a:p>
            <a:pPr algn="l">
              <a:lnSpc>
                <a:spcPct val="105000"/>
              </a:lnSpc>
              <a:spcBef>
                <a:spcPts val="0"/>
              </a:spcBef>
            </a:pPr>
            <a:r>
              <a:rPr sz="2800" b="1" i="0">
                <a:solidFill>
                  <a:srgbClr val="FFFFFF"/>
                </a:solidFill>
                <a:latin typeface="Calibri"/>
              </a:rPr>
              <a:t>LexisNexis Lexis+ AI — 284% ROI, Payback Under 6 Months</a:t>
            </a:r>
          </a:p>
        </p:txBody>
      </p:sp>
      <p:sp>
        <p:nvSpPr>
          <p:cNvPr id="6" name="TextBox 5"/>
          <p:cNvSpPr txBox="1"/>
          <p:nvPr/>
        </p:nvSpPr>
        <p:spPr>
          <a:xfrm>
            <a:off x="548640" y="2514600"/>
            <a:ext cx="11094415" cy="274320"/>
          </a:xfrm>
          <a:prstGeom prst="rect">
            <a:avLst/>
          </a:prstGeom>
          <a:noFill/>
        </p:spPr>
        <p:txBody>
          <a:bodyPr wrap="square" anchor="t" lIns="0" rIns="0" tIns="0" bIns="0">
            <a:normAutofit/>
          </a:bodyPr>
          <a:lstStyle/>
          <a:p>
            <a:pPr algn="l">
              <a:lnSpc>
                <a:spcPct val="105000"/>
              </a:lnSpc>
              <a:spcBef>
                <a:spcPts val="0"/>
              </a:spcBef>
            </a:pPr>
            <a:r>
              <a:rPr sz="1400" b="1" i="0">
                <a:solidFill>
                  <a:srgbClr val="FFB800"/>
                </a:solidFill>
                <a:latin typeface="Calibri"/>
              </a:rPr>
              <a:t>Forrester TEI: $1.2M benefits, 13% outside counsel reduction, source-grounded</a:t>
            </a:r>
          </a:p>
        </p:txBody>
      </p:sp>
      <p:sp>
        <p:nvSpPr>
          <p:cNvPr id="7" name="TextBox 6"/>
          <p:cNvSpPr txBox="1"/>
          <p:nvPr/>
        </p:nvSpPr>
        <p:spPr>
          <a:xfrm>
            <a:off x="548640" y="2926080"/>
            <a:ext cx="11094415" cy="274320"/>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LexisNexis (Forrester TEI Study)  |  Forrester Total Economic Impact study, June 2025</a:t>
            </a:r>
          </a:p>
        </p:txBody>
      </p:sp>
      <p:sp>
        <p:nvSpPr>
          <p:cNvPr id="8" name="Rounded Rectangle 7"/>
          <p:cNvSpPr/>
          <p:nvPr/>
        </p:nvSpPr>
        <p:spPr>
          <a:xfrm>
            <a:off x="548640" y="3383280"/>
            <a:ext cx="2011680" cy="29260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383280"/>
            <a:ext cx="1737360" cy="292608"/>
          </a:xfrm>
          <a:prstGeom prst="rect">
            <a:avLst/>
          </a:prstGeom>
          <a:noFill/>
        </p:spPr>
        <p:txBody>
          <a:bodyPr wrap="square" anchor="ctr" lIns="0" rIns="0" tIns="0" bIns="0">
            <a:noAutofit/>
          </a:bodyPr>
          <a:lstStyle/>
          <a:p>
            <a:pPr algn="l">
              <a:lnSpc>
                <a:spcPct val="105000"/>
              </a:lnSpc>
              <a:spcBef>
                <a:spcPts val="0"/>
              </a:spcBef>
            </a:pPr>
            <a:r>
              <a:rPr sz="1000" b="1" i="0">
                <a:solidFill>
                  <a:srgbClr val="FFFFFF"/>
                </a:solidFill>
                <a:latin typeface="Calibri"/>
              </a:rPr>
              <a:t>VERTICAL SCORE: Production (284% ROI validated)</a:t>
            </a:r>
          </a:p>
        </p:txBody>
      </p:sp>
      <p:sp>
        <p:nvSpPr>
          <p:cNvPr id="10" name="TextBox 9"/>
          <p:cNvSpPr txBox="1"/>
          <p:nvPr/>
        </p:nvSpPr>
        <p:spPr>
          <a:xfrm>
            <a:off x="548640" y="3931920"/>
            <a:ext cx="11094415" cy="2743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Source: GlobeNewswire / Forrester TEI, June 2025</a:t>
            </a:r>
          </a:p>
        </p:txBody>
      </p:sp>
      <p:sp>
        <p:nvSpPr>
          <p:cNvPr id="11" name="TextBox 1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49 / 82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In-House Teams Overwhelmed, Too Much to Outside Counsel</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UC-10 | LEGAL — The Problem</a:t>
            </a:r>
          </a:p>
        </p:txBody>
      </p:sp>
      <p:sp>
        <p:nvSpPr>
          <p:cNvPr id="7" name="Rounded Rectangle 6"/>
          <p:cNvSpPr/>
          <p:nvPr/>
        </p:nvSpPr>
        <p:spPr>
          <a:xfrm>
            <a:off x="548640" y="160020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160020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01</a:t>
            </a:r>
          </a:p>
        </p:txBody>
      </p:sp>
      <p:sp>
        <p:nvSpPr>
          <p:cNvPr id="9" name="TextBox 8"/>
          <p:cNvSpPr txBox="1"/>
          <p:nvPr/>
        </p:nvSpPr>
        <p:spPr>
          <a:xfrm>
            <a:off x="1060704" y="165506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In-house legal teams overwhelmed — shipping too much work to expensive outside counsel</a:t>
            </a:r>
          </a:p>
        </p:txBody>
      </p:sp>
      <p:sp>
        <p:nvSpPr>
          <p:cNvPr id="10" name="Rounded Rectangle 9"/>
          <p:cNvSpPr/>
          <p:nvPr/>
        </p:nvSpPr>
        <p:spPr>
          <a:xfrm>
            <a:off x="548640" y="2258568"/>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58568"/>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02</a:t>
            </a:r>
          </a:p>
        </p:txBody>
      </p:sp>
      <p:sp>
        <p:nvSpPr>
          <p:cNvPr id="12" name="TextBox 11"/>
          <p:cNvSpPr txBox="1"/>
          <p:nvPr/>
        </p:nvSpPr>
        <p:spPr>
          <a:xfrm>
            <a:off x="1060704" y="2313432"/>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Legal research hours: associates spending 25%+ time on case lookups and precedent</a:t>
            </a:r>
          </a:p>
        </p:txBody>
      </p:sp>
      <p:sp>
        <p:nvSpPr>
          <p:cNvPr id="13" name="Rounded Rectangle 12"/>
          <p:cNvSpPr/>
          <p:nvPr/>
        </p:nvSpPr>
        <p:spPr>
          <a:xfrm>
            <a:off x="548640" y="2916936"/>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 y="2916936"/>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03</a:t>
            </a:r>
          </a:p>
        </p:txBody>
      </p:sp>
      <p:sp>
        <p:nvSpPr>
          <p:cNvPr id="15" name="TextBox 14"/>
          <p:cNvSpPr txBox="1"/>
          <p:nvPr/>
        </p:nvSpPr>
        <p:spPr>
          <a:xfrm>
            <a:off x="1060704" y="2971800"/>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Hallucinated case citations are the #1 trust barrier for legal AI adoption</a:t>
            </a:r>
          </a:p>
        </p:txBody>
      </p:sp>
      <p:sp>
        <p:nvSpPr>
          <p:cNvPr id="16" name="Rounded Rectangle 15"/>
          <p:cNvSpPr/>
          <p:nvPr/>
        </p:nvSpPr>
        <p:spPr>
          <a:xfrm>
            <a:off x="548640" y="3575304"/>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3575304"/>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04</a:t>
            </a:r>
          </a:p>
        </p:txBody>
      </p:sp>
      <p:sp>
        <p:nvSpPr>
          <p:cNvPr id="18" name="TextBox 17"/>
          <p:cNvSpPr txBox="1"/>
          <p:nvPr/>
        </p:nvSpPr>
        <p:spPr>
          <a:xfrm>
            <a:off x="1060704" y="3630168"/>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Need to increase matters handled internally without adding headcount</a:t>
            </a:r>
          </a:p>
        </p:txBody>
      </p:sp>
      <p:sp>
        <p:nvSpPr>
          <p:cNvPr id="19" name="Rounded Rectangle 18"/>
          <p:cNvSpPr/>
          <p:nvPr/>
        </p:nvSpPr>
        <p:spPr>
          <a:xfrm>
            <a:off x="548640" y="4233672"/>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 y="4233672"/>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05</a:t>
            </a:r>
          </a:p>
        </p:txBody>
      </p:sp>
      <p:sp>
        <p:nvSpPr>
          <p:cNvPr id="21" name="TextBox 20"/>
          <p:cNvSpPr txBox="1"/>
          <p:nvPr/>
        </p:nvSpPr>
        <p:spPr>
          <a:xfrm>
            <a:off x="1060704" y="4288536"/>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Outside counsel costs growing 15% annually — unsustainable trajectory</a:t>
            </a:r>
          </a:p>
        </p:txBody>
      </p:sp>
      <p:sp>
        <p:nvSpPr>
          <p:cNvPr id="22" name="Rounded Rectangle 21"/>
          <p:cNvSpPr/>
          <p:nvPr/>
        </p:nvSpPr>
        <p:spPr>
          <a:xfrm>
            <a:off x="548640" y="489204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489204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06</a:t>
            </a:r>
          </a:p>
        </p:txBody>
      </p:sp>
      <p:sp>
        <p:nvSpPr>
          <p:cNvPr id="24" name="TextBox 23"/>
          <p:cNvSpPr txBox="1"/>
          <p:nvPr/>
        </p:nvSpPr>
        <p:spPr>
          <a:xfrm>
            <a:off x="1060704" y="494690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Generic AI tools not grounded in verified primary law — fabricated citations destroy trust</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50 / 82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Proprietary Source-Grounded AI on Verified Primary Law Corpus</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UC-10 | LEGAL — How They Solved It</a:t>
            </a:r>
          </a:p>
        </p:txBody>
      </p:sp>
      <p:sp>
        <p:nvSpPr>
          <p:cNvPr id="7" name="Rounded Rectangle 6"/>
          <p:cNvSpPr/>
          <p:nvPr/>
        </p:nvSpPr>
        <p:spPr>
          <a:xfrm>
            <a:off x="548640" y="1463040"/>
            <a:ext cx="1645920" cy="256032"/>
          </a:xfrm>
          <a:prstGeom prst="roundRect">
            <a:avLst>
              <a:gd name="adj" fmla="val 4000"/>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1371600" cy="256032"/>
          </a:xfrm>
          <a:prstGeom prst="rect">
            <a:avLst/>
          </a:prstGeom>
          <a:noFill/>
        </p:spPr>
        <p:txBody>
          <a:bodyPr wrap="square" anchor="ctr" lIns="0" rIns="0" tIns="0" bIns="0">
            <a:noAutofit/>
          </a:bodyPr>
          <a:lstStyle/>
          <a:p>
            <a:pPr algn="l">
              <a:lnSpc>
                <a:spcPct val="105000"/>
              </a:lnSpc>
              <a:spcBef>
                <a:spcPts val="0"/>
              </a:spcBef>
            </a:pPr>
            <a:r>
              <a:rPr sz="850" b="1" i="0">
                <a:solidFill>
                  <a:srgbClr val="FFFFFF"/>
                </a:solidFill>
                <a:latin typeface="Calibri"/>
              </a:rPr>
              <a:t>THEIR PROPRIETARY STACK</a:t>
            </a:r>
          </a:p>
        </p:txBody>
      </p:sp>
      <p:sp>
        <p:nvSpPr>
          <p:cNvPr id="9" name="Rounded Rectangle 8"/>
          <p:cNvSpPr/>
          <p:nvPr/>
        </p:nvSpPr>
        <p:spPr>
          <a:xfrm>
            <a:off x="548640" y="1874519"/>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 y="1874519"/>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01</a:t>
            </a:r>
          </a:p>
        </p:txBody>
      </p:sp>
      <p:sp>
        <p:nvSpPr>
          <p:cNvPr id="11" name="TextBox 10"/>
          <p:cNvSpPr txBox="1"/>
          <p:nvPr/>
        </p:nvSpPr>
        <p:spPr>
          <a:xfrm>
            <a:off x="1060704" y="1929383"/>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LexisNexis proprietary gen AI grounded in their verified primary law corpus</a:t>
            </a:r>
          </a:p>
        </p:txBody>
      </p:sp>
      <p:sp>
        <p:nvSpPr>
          <p:cNvPr id="12" name="Rounded Rectangle 11"/>
          <p:cNvSpPr/>
          <p:nvPr/>
        </p:nvSpPr>
        <p:spPr>
          <a:xfrm>
            <a:off x="548640" y="2532887"/>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504" y="2532887"/>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02</a:t>
            </a:r>
          </a:p>
        </p:txBody>
      </p:sp>
      <p:sp>
        <p:nvSpPr>
          <p:cNvPr id="14" name="TextBox 13"/>
          <p:cNvSpPr txBox="1"/>
          <p:nvPr/>
        </p:nvSpPr>
        <p:spPr>
          <a:xfrm>
            <a:off x="1060704" y="2587751"/>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Contract drafting assistance: suggests clauses from verified precedent, review + accept</a:t>
            </a:r>
          </a:p>
        </p:txBody>
      </p:sp>
      <p:sp>
        <p:nvSpPr>
          <p:cNvPr id="15" name="Rounded Rectangle 14"/>
          <p:cNvSpPr/>
          <p:nvPr/>
        </p:nvSpPr>
        <p:spPr>
          <a:xfrm>
            <a:off x="548640" y="3191255"/>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 y="3191255"/>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03</a:t>
            </a:r>
          </a:p>
        </p:txBody>
      </p:sp>
      <p:sp>
        <p:nvSpPr>
          <p:cNvPr id="17" name="TextBox 16"/>
          <p:cNvSpPr txBox="1"/>
          <p:nvPr/>
        </p:nvSpPr>
        <p:spPr>
          <a:xfrm>
            <a:off x="1060704" y="3246119"/>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Protege personalized AI assistant: adapts to individual attorney's practice area</a:t>
            </a:r>
          </a:p>
        </p:txBody>
      </p:sp>
      <p:sp>
        <p:nvSpPr>
          <p:cNvPr id="18" name="Rounded Rectangle 17"/>
          <p:cNvSpPr/>
          <p:nvPr/>
        </p:nvSpPr>
        <p:spPr>
          <a:xfrm>
            <a:off x="548640" y="3849623"/>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 y="3849623"/>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04</a:t>
            </a:r>
          </a:p>
        </p:txBody>
      </p:sp>
      <p:sp>
        <p:nvSpPr>
          <p:cNvPr id="20" name="TextBox 19"/>
          <p:cNvSpPr txBox="1"/>
          <p:nvPr/>
        </p:nvSpPr>
        <p:spPr>
          <a:xfrm>
            <a:off x="1060704" y="3904487"/>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Source-grounded citations eliminate the hallucination problem entirely (proprietary corpus)</a:t>
            </a:r>
          </a:p>
        </p:txBody>
      </p:sp>
      <p:sp>
        <p:nvSpPr>
          <p:cNvPr id="21" name="Rounded Rectangle 20"/>
          <p:cNvSpPr/>
          <p:nvPr/>
        </p:nvSpPr>
        <p:spPr>
          <a:xfrm>
            <a:off x="548640" y="4507991"/>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 y="4507991"/>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05</a:t>
            </a:r>
          </a:p>
        </p:txBody>
      </p:sp>
      <p:sp>
        <p:nvSpPr>
          <p:cNvPr id="23" name="TextBox 22"/>
          <p:cNvSpPr txBox="1"/>
          <p:nvPr/>
        </p:nvSpPr>
        <p:spPr>
          <a:xfrm>
            <a:off x="1060704" y="4562855"/>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Shifts outside-counsel work internal — more valuable than raw efficiency gains</a:t>
            </a:r>
          </a:p>
        </p:txBody>
      </p:sp>
      <p:sp>
        <p:nvSpPr>
          <p:cNvPr id="24" name="Rounded Rectangle 23"/>
          <p:cNvSpPr/>
          <p:nvPr/>
        </p:nvSpPr>
        <p:spPr>
          <a:xfrm>
            <a:off x="548640" y="5166359"/>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 y="5166359"/>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06</a:t>
            </a:r>
          </a:p>
        </p:txBody>
      </p:sp>
      <p:sp>
        <p:nvSpPr>
          <p:cNvPr id="26" name="TextBox 25"/>
          <p:cNvSpPr txBox="1"/>
          <p:nvPr/>
        </p:nvSpPr>
        <p:spPr>
          <a:xfrm>
            <a:off x="1060704" y="5221223"/>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Forrester TEI methodology: validated by independent third-party research firm</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51 / 82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KEY METRICS — UC-10 | LEGAL</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284%</a:t>
            </a:r>
          </a:p>
        </p:txBody>
      </p:sp>
      <p:sp>
        <p:nvSpPr>
          <p:cNvPr id="9" name="TextBox 8"/>
          <p:cNvSpPr txBox="1"/>
          <p:nvPr/>
        </p:nvSpPr>
        <p:spPr>
          <a:xfrm>
            <a:off x="685800"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ROI (3-Year)</a:t>
            </a:r>
          </a:p>
        </p:txBody>
      </p:sp>
      <p:sp>
        <p:nvSpPr>
          <p:cNvPr id="10" name="TextBox 9"/>
          <p:cNvSpPr txBox="1"/>
          <p:nvPr/>
        </p:nvSpPr>
        <p:spPr>
          <a:xfrm>
            <a:off x="685800"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Forrester Total Economic Impact study</a:t>
            </a:r>
          </a:p>
        </p:txBody>
      </p:sp>
      <p:sp>
        <p:nvSpPr>
          <p:cNvPr id="11" name="Rounded Rectangle 10"/>
          <p:cNvSpPr/>
          <p:nvPr/>
        </p:nvSpPr>
        <p:spPr>
          <a:xfrm>
            <a:off x="4313834"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50994"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$1.2M</a:t>
            </a:r>
          </a:p>
        </p:txBody>
      </p:sp>
      <p:sp>
        <p:nvSpPr>
          <p:cNvPr id="13" name="TextBox 12"/>
          <p:cNvSpPr txBox="1"/>
          <p:nvPr/>
        </p:nvSpPr>
        <p:spPr>
          <a:xfrm>
            <a:off x="4450994"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Total Benefits</a:t>
            </a:r>
          </a:p>
        </p:txBody>
      </p:sp>
      <p:sp>
        <p:nvSpPr>
          <p:cNvPr id="14" name="TextBox 13"/>
          <p:cNvSpPr txBox="1"/>
          <p:nvPr/>
        </p:nvSpPr>
        <p:spPr>
          <a:xfrm>
            <a:off x="4450994"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Over 3-year evaluation period</a:t>
            </a:r>
          </a:p>
        </p:txBody>
      </p:sp>
      <p:sp>
        <p:nvSpPr>
          <p:cNvPr id="15" name="Rounded Rectangle 14"/>
          <p:cNvSpPr/>
          <p:nvPr/>
        </p:nvSpPr>
        <p:spPr>
          <a:xfrm>
            <a:off x="8079028"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6188"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13%</a:t>
            </a:r>
          </a:p>
        </p:txBody>
      </p:sp>
      <p:sp>
        <p:nvSpPr>
          <p:cNvPr id="17" name="TextBox 16"/>
          <p:cNvSpPr txBox="1"/>
          <p:nvPr/>
        </p:nvSpPr>
        <p:spPr>
          <a:xfrm>
            <a:off x="8216188"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Outside Counsel ↓</a:t>
            </a:r>
          </a:p>
        </p:txBody>
      </p:sp>
      <p:sp>
        <p:nvSpPr>
          <p:cNvPr id="18" name="TextBox 17"/>
          <p:cNvSpPr txBox="1"/>
          <p:nvPr/>
        </p:nvSpPr>
        <p:spPr>
          <a:xfrm>
            <a:off x="8216188"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Reduction in external legal spend → $602.5K</a:t>
            </a:r>
          </a:p>
        </p:txBody>
      </p:sp>
      <p:sp>
        <p:nvSpPr>
          <p:cNvPr id="19" name="Rounded Rectangle 18"/>
          <p:cNvSpPr/>
          <p:nvPr/>
        </p:nvSpPr>
        <p:spPr>
          <a:xfrm>
            <a:off x="548640"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&lt;6 mo</a:t>
            </a:r>
          </a:p>
        </p:txBody>
      </p:sp>
      <p:sp>
        <p:nvSpPr>
          <p:cNvPr id="21" name="TextBox 20"/>
          <p:cNvSpPr txBox="1"/>
          <p:nvPr/>
        </p:nvSpPr>
        <p:spPr>
          <a:xfrm>
            <a:off x="685800"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Payback Period</a:t>
            </a:r>
          </a:p>
        </p:txBody>
      </p:sp>
      <p:sp>
        <p:nvSpPr>
          <p:cNvPr id="22" name="TextBox 21"/>
          <p:cNvSpPr txBox="1"/>
          <p:nvPr/>
        </p:nvSpPr>
        <p:spPr>
          <a:xfrm>
            <a:off x="685800"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Investment recovered in under 6 months</a:t>
            </a:r>
          </a:p>
        </p:txBody>
      </p:sp>
      <p:sp>
        <p:nvSpPr>
          <p:cNvPr id="23" name="Rounded Rectangle 22"/>
          <p:cNvSpPr/>
          <p:nvPr/>
        </p:nvSpPr>
        <p:spPr>
          <a:xfrm>
            <a:off x="4313834"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50994"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25%</a:t>
            </a:r>
          </a:p>
        </p:txBody>
      </p:sp>
      <p:sp>
        <p:nvSpPr>
          <p:cNvPr id="25" name="TextBox 24"/>
          <p:cNvSpPr txBox="1"/>
          <p:nvPr/>
        </p:nvSpPr>
        <p:spPr>
          <a:xfrm>
            <a:off x="4450994"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Fewer Lawyer Hours</a:t>
            </a:r>
          </a:p>
        </p:txBody>
      </p:sp>
      <p:sp>
        <p:nvSpPr>
          <p:cNvPr id="26" name="TextBox 25"/>
          <p:cNvSpPr txBox="1"/>
          <p:nvPr/>
        </p:nvSpPr>
        <p:spPr>
          <a:xfrm>
            <a:off x="4450994"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On research inquiries → $574.2K saved</a:t>
            </a:r>
          </a:p>
        </p:txBody>
      </p:sp>
      <p:sp>
        <p:nvSpPr>
          <p:cNvPr id="27" name="Rounded Rectangle 26"/>
          <p:cNvSpPr/>
          <p:nvPr/>
        </p:nvSpPr>
        <p:spPr>
          <a:xfrm>
            <a:off x="8079028"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6188"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344%</a:t>
            </a:r>
          </a:p>
        </p:txBody>
      </p:sp>
      <p:sp>
        <p:nvSpPr>
          <p:cNvPr id="29" name="TextBox 28"/>
          <p:cNvSpPr txBox="1"/>
          <p:nvPr/>
        </p:nvSpPr>
        <p:spPr>
          <a:xfrm>
            <a:off x="8216188"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Market Benchmark</a:t>
            </a:r>
          </a:p>
        </p:txBody>
      </p:sp>
      <p:sp>
        <p:nvSpPr>
          <p:cNvPr id="30" name="TextBox 29"/>
          <p:cNvSpPr txBox="1"/>
          <p:nvPr/>
        </p:nvSpPr>
        <p:spPr>
          <a:xfrm>
            <a:off x="8216188"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Forrester ROI for comparable legal AI platforms</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52 / 82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How We'd Build It — UC-10 | LEGAL</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Our OpenHands + MCP replication of the same outcome</a:t>
            </a:r>
          </a:p>
        </p:txBody>
      </p:sp>
      <p:sp>
        <p:nvSpPr>
          <p:cNvPr id="7" name="Rounded Rectangle 6"/>
          <p:cNvSpPr/>
          <p:nvPr/>
        </p:nvSpPr>
        <p:spPr>
          <a:xfrm>
            <a:off x="548640" y="1463040"/>
            <a:ext cx="2011680" cy="256032"/>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1737360" cy="256032"/>
          </a:xfrm>
          <a:prstGeom prst="rect">
            <a:avLst/>
          </a:prstGeom>
          <a:noFill/>
        </p:spPr>
        <p:txBody>
          <a:bodyPr wrap="square" anchor="ctr" lIns="0" rIns="0" tIns="0" bIns="0">
            <a:noAutofit/>
          </a:bodyPr>
          <a:lstStyle/>
          <a:p>
            <a:pPr algn="l">
              <a:lnSpc>
                <a:spcPct val="105000"/>
              </a:lnSpc>
              <a:spcBef>
                <a:spcPts val="0"/>
              </a:spcBef>
            </a:pPr>
            <a:r>
              <a:rPr sz="850" b="1" i="0">
                <a:solidFill>
                  <a:srgbClr val="FFFFFF"/>
                </a:solidFill>
                <a:latin typeface="Calibri"/>
              </a:rPr>
              <a:t>OUR OPEN ARCHITECTURE</a:t>
            </a:r>
          </a:p>
        </p:txBody>
      </p:sp>
      <p:sp>
        <p:nvSpPr>
          <p:cNvPr id="9" name="TextBox 8"/>
          <p:cNvSpPr txBox="1"/>
          <p:nvPr/>
        </p:nvSpPr>
        <p:spPr>
          <a:xfrm>
            <a:off x="548640" y="1874519"/>
            <a:ext cx="1828800"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AGENT STACK</a:t>
            </a:r>
          </a:p>
        </p:txBody>
      </p:sp>
      <p:sp>
        <p:nvSpPr>
          <p:cNvPr id="10" name="TextBox 9"/>
          <p:cNvSpPr txBox="1"/>
          <p:nvPr/>
        </p:nvSpPr>
        <p:spPr>
          <a:xfrm>
            <a:off x="548640" y="210311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research-agent</a:t>
            </a:r>
          </a:p>
        </p:txBody>
      </p:sp>
      <p:sp>
        <p:nvSpPr>
          <p:cNvPr id="11" name="TextBox 10"/>
          <p:cNvSpPr txBox="1"/>
          <p:nvPr/>
        </p:nvSpPr>
        <p:spPr>
          <a:xfrm>
            <a:off x="548640" y="224942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Legal question → suzielaw corpus search → source-cited answer</a:t>
            </a:r>
          </a:p>
        </p:txBody>
      </p:sp>
      <p:sp>
        <p:nvSpPr>
          <p:cNvPr id="12" name="TextBox 11"/>
          <p:cNvSpPr txBox="1"/>
          <p:nvPr/>
        </p:nvSpPr>
        <p:spPr>
          <a:xfrm>
            <a:off x="548640" y="246887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drafting-agent</a:t>
            </a:r>
          </a:p>
        </p:txBody>
      </p:sp>
      <p:sp>
        <p:nvSpPr>
          <p:cNvPr id="13" name="TextBox 12"/>
          <p:cNvSpPr txBox="1"/>
          <p:nvPr/>
        </p:nvSpPr>
        <p:spPr>
          <a:xfrm>
            <a:off x="548640" y="261518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Contract clause suggestion from open-agreements templates → review + accept</a:t>
            </a:r>
          </a:p>
        </p:txBody>
      </p:sp>
      <p:sp>
        <p:nvSpPr>
          <p:cNvPr id="14" name="TextBox 13"/>
          <p:cNvSpPr txBox="1"/>
          <p:nvPr/>
        </p:nvSpPr>
        <p:spPr>
          <a:xfrm>
            <a:off x="548640" y="283463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review-agent</a:t>
            </a:r>
          </a:p>
        </p:txBody>
      </p:sp>
      <p:sp>
        <p:nvSpPr>
          <p:cNvPr id="15" name="TextBox 14"/>
          <p:cNvSpPr txBox="1"/>
          <p:nvPr/>
        </p:nvSpPr>
        <p:spPr>
          <a:xfrm>
            <a:off x="548640" y="298094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Lavern 67-agent debate protocol → adversarial verification</a:t>
            </a:r>
          </a:p>
        </p:txBody>
      </p:sp>
      <p:sp>
        <p:nvSpPr>
          <p:cNvPr id="16" name="TextBox 15"/>
          <p:cNvSpPr txBox="1"/>
          <p:nvPr/>
        </p:nvSpPr>
        <p:spPr>
          <a:xfrm>
            <a:off x="6278727" y="1874519"/>
            <a:ext cx="5364327"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MCP SERVERS</a:t>
            </a:r>
          </a:p>
        </p:txBody>
      </p:sp>
      <p:sp>
        <p:nvSpPr>
          <p:cNvPr id="17" name="TextBox 16"/>
          <p:cNvSpPr txBox="1"/>
          <p:nvPr/>
        </p:nvSpPr>
        <p:spPr>
          <a:xfrm>
            <a:off x="6278727" y="2103119"/>
            <a:ext cx="5364327" cy="182880"/>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suzielaw MCP (19 jurisdictions)  [VERIFIED]</a:t>
            </a:r>
          </a:p>
        </p:txBody>
      </p:sp>
      <p:sp>
        <p:nvSpPr>
          <p:cNvPr id="18" name="TextBox 17"/>
          <p:cNvSpPr txBox="1"/>
          <p:nvPr/>
        </p:nvSpPr>
        <p:spPr>
          <a:xfrm>
            <a:off x="6278727" y="2331719"/>
            <a:ext cx="5364327" cy="182880"/>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lavern MCP (67-agent debate)  [VERIFIED]</a:t>
            </a:r>
          </a:p>
        </p:txBody>
      </p:sp>
      <p:sp>
        <p:nvSpPr>
          <p:cNvPr id="19" name="TextBox 18"/>
          <p:cNvSpPr txBox="1"/>
          <p:nvPr/>
        </p:nvSpPr>
        <p:spPr>
          <a:xfrm>
            <a:off x="6278727" y="2560319"/>
            <a:ext cx="5364327" cy="182880"/>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claude-for-legal (12 plugins)  [VERIFIED]</a:t>
            </a:r>
          </a:p>
        </p:txBody>
      </p:sp>
      <p:sp>
        <p:nvSpPr>
          <p:cNvPr id="20" name="TextBox 19"/>
          <p:cNvSpPr txBox="1"/>
          <p:nvPr/>
        </p:nvSpPr>
        <p:spPr>
          <a:xfrm>
            <a:off x="6278727" y="2788919"/>
            <a:ext cx="5364327" cy="182880"/>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open-agreements MCP  [VERIFIED]</a:t>
            </a:r>
          </a:p>
        </p:txBody>
      </p:sp>
      <p:sp>
        <p:nvSpPr>
          <p:cNvPr id="21" name="Rounded Rectangle 20"/>
          <p:cNvSpPr/>
          <p:nvPr/>
        </p:nvSpPr>
        <p:spPr>
          <a:xfrm>
            <a:off x="548640" y="4389120"/>
            <a:ext cx="11094415" cy="777240"/>
          </a:xfrm>
          <a:prstGeom prst="roundRect">
            <a:avLst>
              <a:gd name="adj" fmla="val 5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480560"/>
            <a:ext cx="18288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KEY DIFFERENCE</a:t>
            </a:r>
          </a:p>
        </p:txBody>
      </p:sp>
      <p:sp>
        <p:nvSpPr>
          <p:cNvPr id="23" name="TextBox 22"/>
          <p:cNvSpPr txBox="1"/>
          <p:nvPr/>
        </p:nvSpPr>
        <p:spPr>
          <a:xfrm>
            <a:off x="731520" y="4709160"/>
            <a:ext cx="10728655" cy="320040"/>
          </a:xfrm>
          <a:prstGeom prst="rect">
            <a:avLst/>
          </a:prstGeom>
          <a:noFill/>
        </p:spPr>
        <p:txBody>
          <a:bodyPr wrap="square" anchor="t" lIns="0" rIns="0" tIns="0" bIns="0">
            <a:normAutofit/>
          </a:bodyPr>
          <a:lstStyle/>
          <a:p>
            <a:pPr algn="l">
              <a:lnSpc>
                <a:spcPct val="105000"/>
              </a:lnSpc>
              <a:spcBef>
                <a:spcPts val="0"/>
              </a:spcBef>
            </a:pPr>
            <a:r>
              <a:rPr sz="1000" b="0" i="0">
                <a:solidFill>
                  <a:srgbClr val="0A1628"/>
                </a:solidFill>
                <a:latin typeface="Calibri"/>
              </a:rPr>
              <a:t>LexisNexis's moat is their verified primary law corpus. Our open-source equivalent: suzielaw (19 jurisdictions, 22 providers) + lavern (67-agent debate) + claude-for-legal (12 plugins). Not corpus-equivalent, but the agent architecture and verification layer are real and verified.</a:t>
            </a:r>
          </a:p>
        </p:txBody>
      </p:sp>
      <p:sp>
        <p:nvSpPr>
          <p:cNvPr id="24" name="TextBox 23"/>
          <p:cNvSpPr txBox="1"/>
          <p:nvPr/>
        </p:nvSpPr>
        <p:spPr>
          <a:xfrm>
            <a:off x="548640" y="5349240"/>
            <a:ext cx="11094415" cy="182880"/>
          </a:xfrm>
          <a:prstGeom prst="rect">
            <a:avLst/>
          </a:prstGeom>
          <a:noFill/>
        </p:spPr>
        <p:txBody>
          <a:bodyPr wrap="square" anchor="t" lIns="0" rIns="0" tIns="0" bIns="0">
            <a:normAutofit/>
          </a:bodyPr>
          <a:lstStyle/>
          <a:p>
            <a:pPr algn="l">
              <a:lnSpc>
                <a:spcPct val="105000"/>
              </a:lnSpc>
              <a:spcBef>
                <a:spcPts val="0"/>
              </a:spcBef>
            </a:pPr>
            <a:r>
              <a:rPr sz="850" b="0" i="0">
                <a:solidFill>
                  <a:srgbClr val="5B6B7C"/>
                </a:solidFill>
                <a:latin typeface="Calibri"/>
              </a:rPr>
              <a:t>Pattern: Agent(llm, tools) → Conversation(agent, workspace, plugins) | MCP config at platform level</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53 / 82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COMPETITIVE LANDSCAPE — UC-10 | LEGAL</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18488"/>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Harvey AI</a:t>
            </a:r>
          </a:p>
        </p:txBody>
      </p:sp>
      <p:sp>
        <p:nvSpPr>
          <p:cNvPr id="9" name="TextBox 8"/>
          <p:cNvSpPr txBox="1"/>
          <p:nvPr/>
        </p:nvSpPr>
        <p:spPr>
          <a:xfrm>
            <a:off x="3749040" y="1618488"/>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$11B valuation, $300M ARR</a:t>
            </a:r>
          </a:p>
        </p:txBody>
      </p:sp>
      <p:sp>
        <p:nvSpPr>
          <p:cNvPr id="10" name="TextBox 9"/>
          <p:cNvSpPr txBox="1"/>
          <p:nvPr/>
        </p:nvSpPr>
        <p:spPr>
          <a:xfrm>
            <a:off x="731520" y="1892808"/>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142K lawyers, 50% of Am Law 100 — market leader, enterprise-only</a:t>
            </a:r>
          </a:p>
        </p:txBody>
      </p:sp>
      <p:sp>
        <p:nvSpPr>
          <p:cNvPr id="11" name="Rounded Rectangle 10"/>
          <p:cNvSpPr/>
          <p:nvPr/>
        </p:nvSpPr>
        <p:spPr>
          <a:xfrm>
            <a:off x="548640" y="2395728"/>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05456"/>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Thomson Reuters CoCounsel</a:t>
            </a:r>
          </a:p>
        </p:txBody>
      </p:sp>
      <p:sp>
        <p:nvSpPr>
          <p:cNvPr id="13" name="TextBox 12"/>
          <p:cNvSpPr txBox="1"/>
          <p:nvPr/>
        </p:nvSpPr>
        <p:spPr>
          <a:xfrm>
            <a:off x="3749040" y="2505456"/>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20,000+ firms</a:t>
            </a:r>
          </a:p>
        </p:txBody>
      </p:sp>
      <p:sp>
        <p:nvSpPr>
          <p:cNvPr id="14" name="TextBox 13"/>
          <p:cNvSpPr txBox="1"/>
          <p:nvPr/>
        </p:nvSpPr>
        <p:spPr>
          <a:xfrm>
            <a:off x="731520" y="2779776"/>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5-8 hrs/day saved per attorney; research time cut 80%</a:t>
            </a:r>
          </a:p>
        </p:txBody>
      </p:sp>
      <p:sp>
        <p:nvSpPr>
          <p:cNvPr id="15" name="Rounded Rectangle 14"/>
          <p:cNvSpPr/>
          <p:nvPr/>
        </p:nvSpPr>
        <p:spPr>
          <a:xfrm>
            <a:off x="548640" y="3282696"/>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392424"/>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Casetext (Thomson Reuters)</a:t>
            </a:r>
          </a:p>
        </p:txBody>
      </p:sp>
      <p:sp>
        <p:nvSpPr>
          <p:cNvPr id="17" name="TextBox 16"/>
          <p:cNvSpPr txBox="1"/>
          <p:nvPr/>
        </p:nvSpPr>
        <p:spPr>
          <a:xfrm>
            <a:off x="3749040" y="3392424"/>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CoCounsel</a:t>
            </a:r>
          </a:p>
        </p:txBody>
      </p:sp>
      <p:sp>
        <p:nvSpPr>
          <p:cNvPr id="18" name="TextBox 17"/>
          <p:cNvSpPr txBox="1"/>
          <p:nvPr/>
        </p:nvSpPr>
        <p:spPr>
          <a:xfrm>
            <a:off x="731520" y="3666744"/>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Acquired by Thomson Reuters — AI research assistant</a:t>
            </a:r>
          </a:p>
        </p:txBody>
      </p:sp>
      <p:sp>
        <p:nvSpPr>
          <p:cNvPr id="19" name="Rounded Rectangle 18"/>
          <p:cNvSpPr/>
          <p:nvPr/>
        </p:nvSpPr>
        <p:spPr>
          <a:xfrm>
            <a:off x="548640" y="4169664"/>
            <a:ext cx="11094415" cy="7772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279392"/>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FFFFFF"/>
                </a:solidFill>
                <a:latin typeface="Calibri"/>
              </a:rPr>
              <a:t>Our framing</a:t>
            </a:r>
          </a:p>
        </p:txBody>
      </p:sp>
      <p:sp>
        <p:nvSpPr>
          <p:cNvPr id="21" name="TextBox 20"/>
          <p:cNvSpPr txBox="1"/>
          <p:nvPr/>
        </p:nvSpPr>
        <p:spPr>
          <a:xfrm>
            <a:off x="3749040" y="4279392"/>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FFB800"/>
                </a:solidFill>
                <a:latin typeface="Calibri"/>
              </a:rPr>
              <a:t>Source-grounding lesson</a:t>
            </a:r>
          </a:p>
        </p:txBody>
      </p:sp>
      <p:sp>
        <p:nvSpPr>
          <p:cNvPr id="22" name="TextBox 21"/>
          <p:cNvSpPr txBox="1"/>
          <p:nvPr/>
        </p:nvSpPr>
        <p:spPr>
          <a:xfrm>
            <a:off x="731520" y="4553712"/>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Winner is grounded in verified law — open stack replicates the pattern</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54 / 82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1094415"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04</a:t>
            </a:r>
          </a:p>
        </p:txBody>
      </p:sp>
      <p:sp>
        <p:nvSpPr>
          <p:cNvPr id="5" name="TextBox 4"/>
          <p:cNvSpPr txBox="1"/>
          <p:nvPr/>
        </p:nvSpPr>
        <p:spPr>
          <a:xfrm>
            <a:off x="548640" y="2240280"/>
            <a:ext cx="11094415" cy="822960"/>
          </a:xfrm>
          <a:prstGeom prst="rect">
            <a:avLst/>
          </a:prstGeom>
          <a:noFill/>
        </p:spPr>
        <p:txBody>
          <a:bodyPr wrap="square" anchor="t" lIns="0" rIns="0" tIns="0" bIns="0">
            <a:normAutofit/>
          </a:bodyPr>
          <a:lstStyle/>
          <a:p>
            <a:pPr algn="l">
              <a:lnSpc>
                <a:spcPct val="105000"/>
              </a:lnSpc>
              <a:spcBef>
                <a:spcPts val="0"/>
              </a:spcBef>
            </a:pPr>
            <a:r>
              <a:rPr sz="3600" b="1" i="0">
                <a:solidFill>
                  <a:srgbClr val="FFFFFF"/>
                </a:solidFill>
                <a:latin typeface="Calibri"/>
              </a:rPr>
              <a:t>Financial Services</a:t>
            </a:r>
          </a:p>
        </p:txBody>
      </p:sp>
      <p:sp>
        <p:nvSpPr>
          <p:cNvPr id="6" name="TextBox 5"/>
          <p:cNvSpPr txBox="1"/>
          <p:nvPr/>
        </p:nvSpPr>
        <p:spPr>
          <a:xfrm>
            <a:off x="548640" y="3108960"/>
            <a:ext cx="11094415" cy="274320"/>
          </a:xfrm>
          <a:prstGeom prst="rect">
            <a:avLst/>
          </a:prstGeom>
          <a:noFill/>
        </p:spPr>
        <p:txBody>
          <a:bodyPr wrap="square" anchor="t" lIns="0" rIns="0" tIns="0" bIns="0">
            <a:noAutofit/>
          </a:bodyPr>
          <a:lstStyle/>
          <a:p>
            <a:pPr algn="l">
              <a:lnSpc>
                <a:spcPct val="105000"/>
              </a:lnSpc>
              <a:spcBef>
                <a:spcPts val="0"/>
              </a:spcBef>
            </a:pPr>
            <a:r>
              <a:rPr sz="1400" b="1" i="0">
                <a:solidFill>
                  <a:srgbClr val="FFB800"/>
                </a:solidFill>
                <a:latin typeface="Calibri"/>
              </a:rPr>
              <a:t>UC-06 | UC-07</a:t>
            </a:r>
          </a:p>
        </p:txBody>
      </p:sp>
      <p:sp>
        <p:nvSpPr>
          <p:cNvPr id="7" name="Rectangle 6"/>
          <p:cNvSpPr/>
          <p:nvPr/>
        </p:nvSpPr>
        <p:spPr>
          <a:xfrm>
            <a:off x="548640" y="3566160"/>
            <a:ext cx="3657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749039"/>
            <a:ext cx="11094415" cy="365760"/>
          </a:xfrm>
          <a:prstGeom prst="rect">
            <a:avLst/>
          </a:prstGeom>
          <a:noFill/>
        </p:spPr>
        <p:txBody>
          <a:bodyPr wrap="square" anchor="t" lIns="0" rIns="0" tIns="0" bIns="0">
            <a:normAutofit/>
          </a:bodyPr>
          <a:lstStyle/>
          <a:p>
            <a:pPr algn="l">
              <a:lnSpc>
                <a:spcPct val="105000"/>
              </a:lnSpc>
              <a:spcBef>
                <a:spcPts val="0"/>
              </a:spcBef>
            </a:pPr>
            <a:r>
              <a:rPr sz="1200" b="0" i="0">
                <a:solidFill>
                  <a:srgbClr val="E0F7F1"/>
                </a:solidFill>
                <a:latin typeface="Calibri"/>
              </a:rPr>
              <a:t>Let LLMs read, let rules compute, let humans decide</a:t>
            </a:r>
          </a:p>
        </p:txBody>
      </p:sp>
      <p:sp>
        <p:nvSpPr>
          <p:cNvPr id="9" name="TextBox 8"/>
          <p:cNvSpPr txBox="1"/>
          <p:nvPr/>
        </p:nvSpPr>
        <p:spPr>
          <a:xfrm>
            <a:off x="548640" y="6217920"/>
            <a:ext cx="11094415" cy="2743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AI Market Research · AI Use Cases — Full Pipeline | 2026</a:t>
            </a:r>
          </a:p>
        </p:txBody>
      </p:sp>
      <p:sp>
        <p:nvSpPr>
          <p:cNvPr id="10" name="TextBox 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55 / 82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UC-06 | FINANCIAL SERVICES</a:t>
            </a:r>
          </a:p>
        </p:txBody>
      </p:sp>
      <p:sp>
        <p:nvSpPr>
          <p:cNvPr id="5" name="TextBox 4"/>
          <p:cNvSpPr txBox="1"/>
          <p:nvPr/>
        </p:nvSpPr>
        <p:spPr>
          <a:xfrm>
            <a:off x="548640" y="1691640"/>
            <a:ext cx="11094415" cy="731520"/>
          </a:xfrm>
          <a:prstGeom prst="rect">
            <a:avLst/>
          </a:prstGeom>
          <a:noFill/>
        </p:spPr>
        <p:txBody>
          <a:bodyPr wrap="square" anchor="t" lIns="0" rIns="0" tIns="0" bIns="0">
            <a:normAutofit/>
          </a:bodyPr>
          <a:lstStyle/>
          <a:p>
            <a:pPr algn="l">
              <a:lnSpc>
                <a:spcPct val="105000"/>
              </a:lnSpc>
              <a:spcBef>
                <a:spcPts val="0"/>
              </a:spcBef>
            </a:pPr>
            <a:r>
              <a:rPr sz="2800" b="1" i="0">
                <a:solidFill>
                  <a:srgbClr val="FFFFFF"/>
                </a:solidFill>
                <a:latin typeface="Calibri"/>
              </a:rPr>
              <a:t>TD Bank — Mortgage Processing Agent (15hrs → Minutes)</a:t>
            </a:r>
          </a:p>
        </p:txBody>
      </p:sp>
      <p:sp>
        <p:nvSpPr>
          <p:cNvPr id="6" name="TextBox 5"/>
          <p:cNvSpPr txBox="1"/>
          <p:nvPr/>
        </p:nvSpPr>
        <p:spPr>
          <a:xfrm>
            <a:off x="548640" y="2514600"/>
            <a:ext cx="11094415" cy="274320"/>
          </a:xfrm>
          <a:prstGeom prst="rect">
            <a:avLst/>
          </a:prstGeom>
          <a:noFill/>
        </p:spPr>
        <p:txBody>
          <a:bodyPr wrap="square" anchor="t" lIns="0" rIns="0" tIns="0" bIns="0">
            <a:normAutofit/>
          </a:bodyPr>
          <a:lstStyle/>
          <a:p>
            <a:pPr algn="l">
              <a:lnSpc>
                <a:spcPct val="105000"/>
              </a:lnSpc>
              <a:spcBef>
                <a:spcPts val="0"/>
              </a:spcBef>
            </a:pPr>
            <a:r>
              <a:rPr sz="1400" b="1" i="0">
                <a:solidFill>
                  <a:srgbClr val="FFB800"/>
                </a:solidFill>
                <a:latin typeface="Calibri"/>
              </a:rPr>
              <a:t>$826M origination volume, deployed January 2026, compliance from day 1</a:t>
            </a:r>
          </a:p>
        </p:txBody>
      </p:sp>
      <p:sp>
        <p:nvSpPr>
          <p:cNvPr id="7" name="TextBox 6"/>
          <p:cNvSpPr txBox="1"/>
          <p:nvPr/>
        </p:nvSpPr>
        <p:spPr>
          <a:xfrm>
            <a:off x="548640" y="2926080"/>
            <a:ext cx="11094415" cy="274320"/>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TD Bank  |  January 2026 — production</a:t>
            </a:r>
          </a:p>
        </p:txBody>
      </p:sp>
      <p:sp>
        <p:nvSpPr>
          <p:cNvPr id="8" name="Rounded Rectangle 7"/>
          <p:cNvSpPr/>
          <p:nvPr/>
        </p:nvSpPr>
        <p:spPr>
          <a:xfrm>
            <a:off x="548640" y="3383280"/>
            <a:ext cx="2011680" cy="29260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383280"/>
            <a:ext cx="1737360" cy="292608"/>
          </a:xfrm>
          <a:prstGeom prst="rect">
            <a:avLst/>
          </a:prstGeom>
          <a:noFill/>
        </p:spPr>
        <p:txBody>
          <a:bodyPr wrap="square" anchor="ctr" lIns="0" rIns="0" tIns="0" bIns="0">
            <a:noAutofit/>
          </a:bodyPr>
          <a:lstStyle/>
          <a:p>
            <a:pPr algn="l">
              <a:lnSpc>
                <a:spcPct val="105000"/>
              </a:lnSpc>
              <a:spcBef>
                <a:spcPts val="0"/>
              </a:spcBef>
            </a:pPr>
            <a:r>
              <a:rPr sz="1000" b="1" i="0">
                <a:solidFill>
                  <a:srgbClr val="FFFFFF"/>
                </a:solidFill>
                <a:latin typeface="Calibri"/>
              </a:rPr>
              <a:t>VERTICAL SCORE: Production</a:t>
            </a:r>
          </a:p>
        </p:txBody>
      </p:sp>
      <p:sp>
        <p:nvSpPr>
          <p:cNvPr id="10" name="TextBox 9"/>
          <p:cNvSpPr txBox="1"/>
          <p:nvPr/>
        </p:nvSpPr>
        <p:spPr>
          <a:xfrm>
            <a:off x="548640" y="3931920"/>
            <a:ext cx="11094415" cy="2743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Source: American Banker, May 2026</a:t>
            </a:r>
          </a:p>
        </p:txBody>
      </p:sp>
      <p:sp>
        <p:nvSpPr>
          <p:cNvPr id="11" name="TextBox 1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56 / 82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15+ Hours Per Mortgage Application</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UC-06 | FINANCIAL SERVICES — The Problem</a:t>
            </a:r>
          </a:p>
        </p:txBody>
      </p:sp>
      <p:sp>
        <p:nvSpPr>
          <p:cNvPr id="7" name="Rounded Rectangle 6"/>
          <p:cNvSpPr/>
          <p:nvPr/>
        </p:nvSpPr>
        <p:spPr>
          <a:xfrm>
            <a:off x="548640" y="160020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160020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01</a:t>
            </a:r>
          </a:p>
        </p:txBody>
      </p:sp>
      <p:sp>
        <p:nvSpPr>
          <p:cNvPr id="9" name="TextBox 8"/>
          <p:cNvSpPr txBox="1"/>
          <p:nvPr/>
        </p:nvSpPr>
        <p:spPr>
          <a:xfrm>
            <a:off x="1060704" y="165506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Mortgage applications require 15+ hours of manual document review per application</a:t>
            </a:r>
          </a:p>
        </p:txBody>
      </p:sp>
      <p:sp>
        <p:nvSpPr>
          <p:cNvPr id="10" name="Rounded Rectangle 9"/>
          <p:cNvSpPr/>
          <p:nvPr/>
        </p:nvSpPr>
        <p:spPr>
          <a:xfrm>
            <a:off x="548640" y="2258568"/>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58568"/>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02</a:t>
            </a:r>
          </a:p>
        </p:txBody>
      </p:sp>
      <p:sp>
        <p:nvSpPr>
          <p:cNvPr id="12" name="TextBox 11"/>
          <p:cNvSpPr txBox="1"/>
          <p:nvPr/>
        </p:nvSpPr>
        <p:spPr>
          <a:xfrm>
            <a:off x="1060704" y="2313432"/>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Cross-referencing borrower docs (ID, bank statements, pay stubs) is error-prone</a:t>
            </a:r>
          </a:p>
        </p:txBody>
      </p:sp>
      <p:sp>
        <p:nvSpPr>
          <p:cNvPr id="13" name="Rounded Rectangle 12"/>
          <p:cNvSpPr/>
          <p:nvPr/>
        </p:nvSpPr>
        <p:spPr>
          <a:xfrm>
            <a:off x="548640" y="2916936"/>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 y="2916936"/>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03</a:t>
            </a:r>
          </a:p>
        </p:txBody>
      </p:sp>
      <p:sp>
        <p:nvSpPr>
          <p:cNvPr id="15" name="TextBox 14"/>
          <p:cNvSpPr txBox="1"/>
          <p:nvPr/>
        </p:nvSpPr>
        <p:spPr>
          <a:xfrm>
            <a:off x="1060704" y="2971800"/>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LLMs hallucinate on arithmetic — annualizing income is a known failure mode</a:t>
            </a:r>
          </a:p>
        </p:txBody>
      </p:sp>
      <p:sp>
        <p:nvSpPr>
          <p:cNvPr id="16" name="Rounded Rectangle 15"/>
          <p:cNvSpPr/>
          <p:nvPr/>
        </p:nvSpPr>
        <p:spPr>
          <a:xfrm>
            <a:off x="548640" y="3575304"/>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3575304"/>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04</a:t>
            </a:r>
          </a:p>
        </p:txBody>
      </p:sp>
      <p:sp>
        <p:nvSpPr>
          <p:cNvPr id="18" name="TextBox 17"/>
          <p:cNvSpPr txBox="1"/>
          <p:nvPr/>
        </p:nvSpPr>
        <p:spPr>
          <a:xfrm>
            <a:off x="1060704" y="3630168"/>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Risk and compliance review adds 3-5 days to the mortgage cycle</a:t>
            </a:r>
          </a:p>
        </p:txBody>
      </p:sp>
      <p:sp>
        <p:nvSpPr>
          <p:cNvPr id="19" name="Rounded Rectangle 18"/>
          <p:cNvSpPr/>
          <p:nvPr/>
        </p:nvSpPr>
        <p:spPr>
          <a:xfrm>
            <a:off x="548640" y="4233672"/>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 y="4233672"/>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05</a:t>
            </a:r>
          </a:p>
        </p:txBody>
      </p:sp>
      <p:sp>
        <p:nvSpPr>
          <p:cNvPr id="21" name="TextBox 20"/>
          <p:cNvSpPr txBox="1"/>
          <p:nvPr/>
        </p:nvSpPr>
        <p:spPr>
          <a:xfrm>
            <a:off x="1060704" y="4288536"/>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100K+ applications per year — manual processing physically impossible at volume</a:t>
            </a:r>
          </a:p>
        </p:txBody>
      </p:sp>
      <p:sp>
        <p:nvSpPr>
          <p:cNvPr id="22" name="Rounded Rectangle 21"/>
          <p:cNvSpPr/>
          <p:nvPr/>
        </p:nvSpPr>
        <p:spPr>
          <a:xfrm>
            <a:off x="548640" y="489204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489204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06</a:t>
            </a:r>
          </a:p>
        </p:txBody>
      </p:sp>
      <p:sp>
        <p:nvSpPr>
          <p:cNvPr id="24" name="TextBox 23"/>
          <p:cNvSpPr txBox="1"/>
          <p:nvPr/>
        </p:nvSpPr>
        <p:spPr>
          <a:xfrm>
            <a:off x="1060704" y="494690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Competitive pressure: fintechs processing in days while banks take weeks</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57 / 82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Deterministic Math + LLM Document Reading (Layer 6)</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UC-06 | FINANCIAL SERVICES — How They Solved It</a:t>
            </a:r>
          </a:p>
        </p:txBody>
      </p:sp>
      <p:sp>
        <p:nvSpPr>
          <p:cNvPr id="7" name="Rounded Rectangle 6"/>
          <p:cNvSpPr/>
          <p:nvPr/>
        </p:nvSpPr>
        <p:spPr>
          <a:xfrm>
            <a:off x="548640" y="1463040"/>
            <a:ext cx="1645920" cy="256032"/>
          </a:xfrm>
          <a:prstGeom prst="roundRect">
            <a:avLst>
              <a:gd name="adj" fmla="val 4000"/>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1371600" cy="256032"/>
          </a:xfrm>
          <a:prstGeom prst="rect">
            <a:avLst/>
          </a:prstGeom>
          <a:noFill/>
        </p:spPr>
        <p:txBody>
          <a:bodyPr wrap="square" anchor="ctr" lIns="0" rIns="0" tIns="0" bIns="0">
            <a:noAutofit/>
          </a:bodyPr>
          <a:lstStyle/>
          <a:p>
            <a:pPr algn="l">
              <a:lnSpc>
                <a:spcPct val="105000"/>
              </a:lnSpc>
              <a:spcBef>
                <a:spcPts val="0"/>
              </a:spcBef>
            </a:pPr>
            <a:r>
              <a:rPr sz="850" b="1" i="0">
                <a:solidFill>
                  <a:srgbClr val="FFFFFF"/>
                </a:solidFill>
                <a:latin typeface="Calibri"/>
              </a:rPr>
              <a:t>THEIR PROPRIETARY STACK</a:t>
            </a:r>
          </a:p>
        </p:txBody>
      </p:sp>
      <p:sp>
        <p:nvSpPr>
          <p:cNvPr id="9" name="Rounded Rectangle 8"/>
          <p:cNvSpPr/>
          <p:nvPr/>
        </p:nvSpPr>
        <p:spPr>
          <a:xfrm>
            <a:off x="548640" y="1874519"/>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 y="1874519"/>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01</a:t>
            </a:r>
          </a:p>
        </p:txBody>
      </p:sp>
      <p:sp>
        <p:nvSpPr>
          <p:cNvPr id="11" name="TextBox 10"/>
          <p:cNvSpPr txBox="1"/>
          <p:nvPr/>
        </p:nvSpPr>
        <p:spPr>
          <a:xfrm>
            <a:off x="1060704" y="1929383"/>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TD Bank uses Layer 6 (acquired AI company) + Claude + GPT — proprietary stack</a:t>
            </a:r>
          </a:p>
        </p:txBody>
      </p:sp>
      <p:sp>
        <p:nvSpPr>
          <p:cNvPr id="12" name="Rounded Rectangle 11"/>
          <p:cNvSpPr/>
          <p:nvPr/>
        </p:nvSpPr>
        <p:spPr>
          <a:xfrm>
            <a:off x="548640" y="2532887"/>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504" y="2532887"/>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02</a:t>
            </a:r>
          </a:p>
        </p:txBody>
      </p:sp>
      <p:sp>
        <p:nvSpPr>
          <p:cNvPr id="14" name="TextBox 13"/>
          <p:cNvSpPr txBox="1"/>
          <p:nvPr/>
        </p:nvSpPr>
        <p:spPr>
          <a:xfrm>
            <a:off x="1060704" y="2587751"/>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Deterministic rules-based tools handle ALL arithmetic — LLM never does math</a:t>
            </a:r>
          </a:p>
        </p:txBody>
      </p:sp>
      <p:sp>
        <p:nvSpPr>
          <p:cNvPr id="15" name="Rounded Rectangle 14"/>
          <p:cNvSpPr/>
          <p:nvPr/>
        </p:nvSpPr>
        <p:spPr>
          <a:xfrm>
            <a:off x="548640" y="3191255"/>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 y="3191255"/>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03</a:t>
            </a:r>
          </a:p>
        </p:txBody>
      </p:sp>
      <p:sp>
        <p:nvSpPr>
          <p:cNvPr id="17" name="TextBox 16"/>
          <p:cNvSpPr txBox="1"/>
          <p:nvPr/>
        </p:nvSpPr>
        <p:spPr>
          <a:xfrm>
            <a:off x="1060704" y="3246119"/>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Cross-references fields across documents, flags inconsistencies automatically</a:t>
            </a:r>
          </a:p>
        </p:txBody>
      </p:sp>
      <p:sp>
        <p:nvSpPr>
          <p:cNvPr id="18" name="Rounded Rectangle 17"/>
          <p:cNvSpPr/>
          <p:nvPr/>
        </p:nvSpPr>
        <p:spPr>
          <a:xfrm>
            <a:off x="548640" y="3849623"/>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 y="3849623"/>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04</a:t>
            </a:r>
          </a:p>
        </p:txBody>
      </p:sp>
      <p:sp>
        <p:nvSpPr>
          <p:cNvPr id="20" name="TextBox 19"/>
          <p:cNvSpPr txBox="1"/>
          <p:nvPr/>
        </p:nvSpPr>
        <p:spPr>
          <a:xfrm>
            <a:off x="1060704" y="3904487"/>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Risk/compliance team built into the project from day 1 — not bolted on</a:t>
            </a:r>
          </a:p>
        </p:txBody>
      </p:sp>
      <p:sp>
        <p:nvSpPr>
          <p:cNvPr id="21" name="Rounded Rectangle 20"/>
          <p:cNvSpPr/>
          <p:nvPr/>
        </p:nvSpPr>
        <p:spPr>
          <a:xfrm>
            <a:off x="548640" y="4507991"/>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 y="4507991"/>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05</a:t>
            </a:r>
          </a:p>
        </p:txBody>
      </p:sp>
      <p:sp>
        <p:nvSpPr>
          <p:cNvPr id="23" name="TextBox 22"/>
          <p:cNvSpPr txBox="1"/>
          <p:nvPr/>
        </p:nvSpPr>
        <p:spPr>
          <a:xfrm>
            <a:off x="1060704" y="4562855"/>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Human adjudicator reviews AI-generated credit summary — approves/rejects</a:t>
            </a:r>
          </a:p>
        </p:txBody>
      </p:sp>
      <p:sp>
        <p:nvSpPr>
          <p:cNvPr id="24" name="Rounded Rectangle 23"/>
          <p:cNvSpPr/>
          <p:nvPr/>
        </p:nvSpPr>
        <p:spPr>
          <a:xfrm>
            <a:off x="548640" y="5166359"/>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 y="5166359"/>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06</a:t>
            </a:r>
          </a:p>
        </p:txBody>
      </p:sp>
      <p:sp>
        <p:nvSpPr>
          <p:cNvPr id="26" name="TextBox 25"/>
          <p:cNvSpPr txBox="1"/>
          <p:nvPr/>
        </p:nvSpPr>
        <p:spPr>
          <a:xfrm>
            <a:off x="1060704" y="5221223"/>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One use case done right before expanding to other banking operations</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58 / 82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KEY METRICS — UC-06 | FINANCIAL SERVICES</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15hr→min</a:t>
            </a:r>
          </a:p>
        </p:txBody>
      </p:sp>
      <p:sp>
        <p:nvSpPr>
          <p:cNvPr id="9" name="TextBox 8"/>
          <p:cNvSpPr txBox="1"/>
          <p:nvPr/>
        </p:nvSpPr>
        <p:spPr>
          <a:xfrm>
            <a:off x="685800"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Processing Time</a:t>
            </a:r>
          </a:p>
        </p:txBody>
      </p:sp>
      <p:sp>
        <p:nvSpPr>
          <p:cNvPr id="10" name="TextBox 9"/>
          <p:cNvSpPr txBox="1"/>
          <p:nvPr/>
        </p:nvSpPr>
        <p:spPr>
          <a:xfrm>
            <a:off x="685800"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Per mortgage application</a:t>
            </a:r>
          </a:p>
        </p:txBody>
      </p:sp>
      <p:sp>
        <p:nvSpPr>
          <p:cNvPr id="11" name="Rounded Rectangle 10"/>
          <p:cNvSpPr/>
          <p:nvPr/>
        </p:nvSpPr>
        <p:spPr>
          <a:xfrm>
            <a:off x="4313834"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50994"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$826M</a:t>
            </a:r>
          </a:p>
        </p:txBody>
      </p:sp>
      <p:sp>
        <p:nvSpPr>
          <p:cNvPr id="13" name="TextBox 12"/>
          <p:cNvSpPr txBox="1"/>
          <p:nvPr/>
        </p:nvSpPr>
        <p:spPr>
          <a:xfrm>
            <a:off x="4450994"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2025 Origination</a:t>
            </a:r>
          </a:p>
        </p:txBody>
      </p:sp>
      <p:sp>
        <p:nvSpPr>
          <p:cNvPr id="14" name="TextBox 13"/>
          <p:cNvSpPr txBox="1"/>
          <p:nvPr/>
        </p:nvSpPr>
        <p:spPr>
          <a:xfrm>
            <a:off x="4450994"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U.S. residential mortgage volume</a:t>
            </a:r>
          </a:p>
        </p:txBody>
      </p:sp>
      <p:sp>
        <p:nvSpPr>
          <p:cNvPr id="15" name="Rounded Rectangle 14"/>
          <p:cNvSpPr/>
          <p:nvPr/>
        </p:nvSpPr>
        <p:spPr>
          <a:xfrm>
            <a:off x="8079028"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6188"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Jan 2026</a:t>
            </a:r>
          </a:p>
        </p:txBody>
      </p:sp>
      <p:sp>
        <p:nvSpPr>
          <p:cNvPr id="17" name="TextBox 16"/>
          <p:cNvSpPr txBox="1"/>
          <p:nvPr/>
        </p:nvSpPr>
        <p:spPr>
          <a:xfrm>
            <a:off x="8216188"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Production Deploy</a:t>
            </a:r>
          </a:p>
        </p:txBody>
      </p:sp>
      <p:sp>
        <p:nvSpPr>
          <p:cNvPr id="18" name="TextBox 17"/>
          <p:cNvSpPr txBox="1"/>
          <p:nvPr/>
        </p:nvSpPr>
        <p:spPr>
          <a:xfrm>
            <a:off x="8216188"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Full production, not pilot</a:t>
            </a:r>
          </a:p>
        </p:txBody>
      </p:sp>
      <p:sp>
        <p:nvSpPr>
          <p:cNvPr id="19" name="Rounded Rectangle 18"/>
          <p:cNvSpPr/>
          <p:nvPr/>
        </p:nvSpPr>
        <p:spPr>
          <a:xfrm>
            <a:off x="548640"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Day 1</a:t>
            </a:r>
          </a:p>
        </p:txBody>
      </p:sp>
      <p:sp>
        <p:nvSpPr>
          <p:cNvPr id="21" name="TextBox 20"/>
          <p:cNvSpPr txBox="1"/>
          <p:nvPr/>
        </p:nvSpPr>
        <p:spPr>
          <a:xfrm>
            <a:off x="685800"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Compliance Built In</a:t>
            </a:r>
          </a:p>
        </p:txBody>
      </p:sp>
      <p:sp>
        <p:nvSpPr>
          <p:cNvPr id="22" name="TextBox 21"/>
          <p:cNvSpPr txBox="1"/>
          <p:nvPr/>
        </p:nvSpPr>
        <p:spPr>
          <a:xfrm>
            <a:off x="685800"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Risk team embedded from start</a:t>
            </a:r>
          </a:p>
        </p:txBody>
      </p:sp>
      <p:sp>
        <p:nvSpPr>
          <p:cNvPr id="23" name="Rounded Rectangle 22"/>
          <p:cNvSpPr/>
          <p:nvPr/>
        </p:nvSpPr>
        <p:spPr>
          <a:xfrm>
            <a:off x="4313834"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50994"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100K+</a:t>
            </a:r>
          </a:p>
        </p:txBody>
      </p:sp>
      <p:sp>
        <p:nvSpPr>
          <p:cNvPr id="25" name="TextBox 24"/>
          <p:cNvSpPr txBox="1"/>
          <p:nvPr/>
        </p:nvSpPr>
        <p:spPr>
          <a:xfrm>
            <a:off x="4450994"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Applications/Year</a:t>
            </a:r>
          </a:p>
        </p:txBody>
      </p:sp>
      <p:sp>
        <p:nvSpPr>
          <p:cNvPr id="26" name="TextBox 25"/>
          <p:cNvSpPr txBox="1"/>
          <p:nvPr/>
        </p:nvSpPr>
        <p:spPr>
          <a:xfrm>
            <a:off x="4450994"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Scale of mortgage operation</a:t>
            </a:r>
          </a:p>
        </p:txBody>
      </p:sp>
      <p:sp>
        <p:nvSpPr>
          <p:cNvPr id="27" name="Rounded Rectangle 26"/>
          <p:cNvSpPr/>
          <p:nvPr/>
        </p:nvSpPr>
        <p:spPr>
          <a:xfrm>
            <a:off x="8079028"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6188"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0</a:t>
            </a:r>
          </a:p>
        </p:txBody>
      </p:sp>
      <p:sp>
        <p:nvSpPr>
          <p:cNvPr id="29" name="TextBox 28"/>
          <p:cNvSpPr txBox="1"/>
          <p:nvPr/>
        </p:nvSpPr>
        <p:spPr>
          <a:xfrm>
            <a:off x="8216188"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LLM Math Operations</a:t>
            </a:r>
          </a:p>
        </p:txBody>
      </p:sp>
      <p:sp>
        <p:nvSpPr>
          <p:cNvPr id="30" name="TextBox 29"/>
          <p:cNvSpPr txBox="1"/>
          <p:nvPr/>
        </p:nvSpPr>
        <p:spPr>
          <a:xfrm>
            <a:off x="8216188"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All arithmetic is deterministic</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59 / 82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How We'd Build It — UC-06 | FINANCIAL SERVICES</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Our OpenHands + MCP replication of the same outcome</a:t>
            </a:r>
          </a:p>
        </p:txBody>
      </p:sp>
      <p:sp>
        <p:nvSpPr>
          <p:cNvPr id="7" name="Rounded Rectangle 6"/>
          <p:cNvSpPr/>
          <p:nvPr/>
        </p:nvSpPr>
        <p:spPr>
          <a:xfrm>
            <a:off x="548640" y="1463040"/>
            <a:ext cx="2011680" cy="256032"/>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1737360" cy="256032"/>
          </a:xfrm>
          <a:prstGeom prst="rect">
            <a:avLst/>
          </a:prstGeom>
          <a:noFill/>
        </p:spPr>
        <p:txBody>
          <a:bodyPr wrap="square" anchor="ctr" lIns="0" rIns="0" tIns="0" bIns="0">
            <a:noAutofit/>
          </a:bodyPr>
          <a:lstStyle/>
          <a:p>
            <a:pPr algn="l">
              <a:lnSpc>
                <a:spcPct val="105000"/>
              </a:lnSpc>
              <a:spcBef>
                <a:spcPts val="0"/>
              </a:spcBef>
            </a:pPr>
            <a:r>
              <a:rPr sz="850" b="1" i="0">
                <a:solidFill>
                  <a:srgbClr val="FFFFFF"/>
                </a:solidFill>
                <a:latin typeface="Calibri"/>
              </a:rPr>
              <a:t>OUR OPEN ARCHITECTURE</a:t>
            </a:r>
          </a:p>
        </p:txBody>
      </p:sp>
      <p:sp>
        <p:nvSpPr>
          <p:cNvPr id="9" name="TextBox 8"/>
          <p:cNvSpPr txBox="1"/>
          <p:nvPr/>
        </p:nvSpPr>
        <p:spPr>
          <a:xfrm>
            <a:off x="548640" y="1874519"/>
            <a:ext cx="1828800"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AGENT STACK</a:t>
            </a:r>
          </a:p>
        </p:txBody>
      </p:sp>
      <p:sp>
        <p:nvSpPr>
          <p:cNvPr id="10" name="TextBox 9"/>
          <p:cNvSpPr txBox="1"/>
          <p:nvPr/>
        </p:nvSpPr>
        <p:spPr>
          <a:xfrm>
            <a:off x="548640" y="210311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document-extraction-agent</a:t>
            </a:r>
          </a:p>
        </p:txBody>
      </p:sp>
      <p:sp>
        <p:nvSpPr>
          <p:cNvPr id="11" name="TextBox 10"/>
          <p:cNvSpPr txBox="1"/>
          <p:nvPr/>
        </p:nvSpPr>
        <p:spPr>
          <a:xfrm>
            <a:off x="548640" y="224942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OCR/NLP reads purchase agreements, IDs, bank statements → structured output</a:t>
            </a:r>
          </a:p>
        </p:txBody>
      </p:sp>
      <p:sp>
        <p:nvSpPr>
          <p:cNvPr id="12" name="TextBox 11"/>
          <p:cNvSpPr txBox="1"/>
          <p:nvPr/>
        </p:nvSpPr>
        <p:spPr>
          <a:xfrm>
            <a:off x="548640" y="246887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cross-reference-agent</a:t>
            </a:r>
          </a:p>
        </p:txBody>
      </p:sp>
      <p:sp>
        <p:nvSpPr>
          <p:cNvPr id="13" name="TextBox 12"/>
          <p:cNvSpPr txBox="1"/>
          <p:nvPr/>
        </p:nvSpPr>
        <p:spPr>
          <a:xfrm>
            <a:off x="548640" y="261518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Validates fields across documents — flags inconsistencies</a:t>
            </a:r>
          </a:p>
        </p:txBody>
      </p:sp>
      <p:sp>
        <p:nvSpPr>
          <p:cNvPr id="14" name="TextBox 13"/>
          <p:cNvSpPr txBox="1"/>
          <p:nvPr/>
        </p:nvSpPr>
        <p:spPr>
          <a:xfrm>
            <a:off x="548640" y="283463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credit-summary-agent</a:t>
            </a:r>
          </a:p>
        </p:txBody>
      </p:sp>
      <p:sp>
        <p:nvSpPr>
          <p:cNvPr id="15" name="TextBox 14"/>
          <p:cNvSpPr txBox="1"/>
          <p:nvPr/>
        </p:nvSpPr>
        <p:spPr>
          <a:xfrm>
            <a:off x="548640" y="298094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Generates complete credit summary: DTI, risk flags, recommendation</a:t>
            </a:r>
          </a:p>
        </p:txBody>
      </p:sp>
      <p:sp>
        <p:nvSpPr>
          <p:cNvPr id="16" name="TextBox 15"/>
          <p:cNvSpPr txBox="1"/>
          <p:nvPr/>
        </p:nvSpPr>
        <p:spPr>
          <a:xfrm>
            <a:off x="548640" y="320039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compliance-agent</a:t>
            </a:r>
          </a:p>
        </p:txBody>
      </p:sp>
      <p:sp>
        <p:nvSpPr>
          <p:cNvPr id="17" name="TextBox 16"/>
          <p:cNvSpPr txBox="1"/>
          <p:nvPr/>
        </p:nvSpPr>
        <p:spPr>
          <a:xfrm>
            <a:off x="548640" y="334670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Ensures every decision has audit trail + governance</a:t>
            </a:r>
          </a:p>
        </p:txBody>
      </p:sp>
      <p:sp>
        <p:nvSpPr>
          <p:cNvPr id="18" name="TextBox 17"/>
          <p:cNvSpPr txBox="1"/>
          <p:nvPr/>
        </p:nvSpPr>
        <p:spPr>
          <a:xfrm>
            <a:off x="6278727" y="1874519"/>
            <a:ext cx="5364327"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MCP SERVERS</a:t>
            </a:r>
          </a:p>
        </p:txBody>
      </p:sp>
      <p:sp>
        <p:nvSpPr>
          <p:cNvPr id="19" name="TextBox 18"/>
          <p:cNvSpPr txBox="1"/>
          <p:nvPr/>
        </p:nvSpPr>
        <p:spPr>
          <a:xfrm>
            <a:off x="6278727" y="2103119"/>
            <a:ext cx="5364327" cy="182880"/>
          </a:xfrm>
          <a:prstGeom prst="rect">
            <a:avLst/>
          </a:prstGeom>
          <a:noFill/>
        </p:spPr>
        <p:txBody>
          <a:bodyPr wrap="square" anchor="t" lIns="0" rIns="0" tIns="0" bIns="0">
            <a:normAutofit/>
          </a:bodyPr>
          <a:lstStyle/>
          <a:p>
            <a:pPr algn="l">
              <a:lnSpc>
                <a:spcPct val="105000"/>
              </a:lnSpc>
              <a:spcBef>
                <a:spcPts val="0"/>
              </a:spcBef>
            </a:pPr>
            <a:r>
              <a:rPr sz="900" b="1" i="0">
                <a:solidFill>
                  <a:srgbClr val="F2A83B"/>
                </a:solidFill>
                <a:latin typeface="Calibri"/>
              </a:rPr>
              <a:t>  Document processing MCP  [TO BUILD]</a:t>
            </a:r>
          </a:p>
        </p:txBody>
      </p:sp>
      <p:sp>
        <p:nvSpPr>
          <p:cNvPr id="20" name="TextBox 19"/>
          <p:cNvSpPr txBox="1"/>
          <p:nvPr/>
        </p:nvSpPr>
        <p:spPr>
          <a:xfrm>
            <a:off x="6278727" y="2331719"/>
            <a:ext cx="5364327" cy="182880"/>
          </a:xfrm>
          <a:prstGeom prst="rect">
            <a:avLst/>
          </a:prstGeom>
          <a:noFill/>
        </p:spPr>
        <p:txBody>
          <a:bodyPr wrap="square" anchor="t" lIns="0" rIns="0" tIns="0" bIns="0">
            <a:normAutofit/>
          </a:bodyPr>
          <a:lstStyle/>
          <a:p>
            <a:pPr algn="l">
              <a:lnSpc>
                <a:spcPct val="105000"/>
              </a:lnSpc>
              <a:spcBef>
                <a:spcPts val="0"/>
              </a:spcBef>
            </a:pPr>
            <a:r>
              <a:rPr sz="900" b="1" i="0">
                <a:solidFill>
                  <a:srgbClr val="F2A83B"/>
                </a:solidFill>
                <a:latin typeface="Calibri"/>
              </a:rPr>
              <a:t>  Deterministic rules engine MCP  [TO BUILD]</a:t>
            </a:r>
          </a:p>
        </p:txBody>
      </p:sp>
      <p:sp>
        <p:nvSpPr>
          <p:cNvPr id="21" name="TextBox 20"/>
          <p:cNvSpPr txBox="1"/>
          <p:nvPr/>
        </p:nvSpPr>
        <p:spPr>
          <a:xfrm>
            <a:off x="6278727" y="2560319"/>
            <a:ext cx="5364327" cy="182880"/>
          </a:xfrm>
          <a:prstGeom prst="rect">
            <a:avLst/>
          </a:prstGeom>
          <a:noFill/>
        </p:spPr>
        <p:txBody>
          <a:bodyPr wrap="square" anchor="t" lIns="0" rIns="0" tIns="0" bIns="0">
            <a:normAutofit/>
          </a:bodyPr>
          <a:lstStyle/>
          <a:p>
            <a:pPr algn="l">
              <a:lnSpc>
                <a:spcPct val="105000"/>
              </a:lnSpc>
              <a:spcBef>
                <a:spcPts val="0"/>
              </a:spcBef>
            </a:pPr>
            <a:r>
              <a:rPr sz="900" b="1" i="0">
                <a:solidFill>
                  <a:srgbClr val="F2A83B"/>
                </a:solidFill>
                <a:latin typeface="Calibri"/>
              </a:rPr>
              <a:t>  Core banking MCP (OData)  [TO BUILD]</a:t>
            </a:r>
          </a:p>
        </p:txBody>
      </p:sp>
      <p:sp>
        <p:nvSpPr>
          <p:cNvPr id="22" name="Rounded Rectangle 21"/>
          <p:cNvSpPr/>
          <p:nvPr/>
        </p:nvSpPr>
        <p:spPr>
          <a:xfrm>
            <a:off x="548640" y="4389120"/>
            <a:ext cx="11094415" cy="777240"/>
          </a:xfrm>
          <a:prstGeom prst="roundRect">
            <a:avLst>
              <a:gd name="adj" fmla="val 5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480560"/>
            <a:ext cx="18288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KEY DIFFERENCE</a:t>
            </a:r>
          </a:p>
        </p:txBody>
      </p:sp>
      <p:sp>
        <p:nvSpPr>
          <p:cNvPr id="24" name="TextBox 23"/>
          <p:cNvSpPr txBox="1"/>
          <p:nvPr/>
        </p:nvSpPr>
        <p:spPr>
          <a:xfrm>
            <a:off x="731520" y="4709160"/>
            <a:ext cx="10728655" cy="320040"/>
          </a:xfrm>
          <a:prstGeom prst="rect">
            <a:avLst/>
          </a:prstGeom>
          <a:noFill/>
        </p:spPr>
        <p:txBody>
          <a:bodyPr wrap="square" anchor="t" lIns="0" rIns="0" tIns="0" bIns="0">
            <a:normAutofit/>
          </a:bodyPr>
          <a:lstStyle/>
          <a:p>
            <a:pPr algn="l">
              <a:lnSpc>
                <a:spcPct val="105000"/>
              </a:lnSpc>
              <a:spcBef>
                <a:spcPts val="0"/>
              </a:spcBef>
            </a:pPr>
            <a:r>
              <a:rPr sz="1000" b="0" i="0">
                <a:solidFill>
                  <a:srgbClr val="0A1628"/>
                </a:solidFill>
                <a:latin typeface="Calibri"/>
              </a:rPr>
              <a:t>TD Bank used Layer 6 (proprietary). We'd replicate with OpenHands agents + deterministic rules MCP + human confirmation mode. Same principle: LLM reads, rules compute, human decides.</a:t>
            </a:r>
          </a:p>
        </p:txBody>
      </p:sp>
      <p:sp>
        <p:nvSpPr>
          <p:cNvPr id="25" name="TextBox 24"/>
          <p:cNvSpPr txBox="1"/>
          <p:nvPr/>
        </p:nvSpPr>
        <p:spPr>
          <a:xfrm>
            <a:off x="548640" y="5349240"/>
            <a:ext cx="11094415" cy="182880"/>
          </a:xfrm>
          <a:prstGeom prst="rect">
            <a:avLst/>
          </a:prstGeom>
          <a:noFill/>
        </p:spPr>
        <p:txBody>
          <a:bodyPr wrap="square" anchor="t" lIns="0" rIns="0" tIns="0" bIns="0">
            <a:normAutofit/>
          </a:bodyPr>
          <a:lstStyle/>
          <a:p>
            <a:pPr algn="l">
              <a:lnSpc>
                <a:spcPct val="105000"/>
              </a:lnSpc>
              <a:spcBef>
                <a:spcPts val="0"/>
              </a:spcBef>
            </a:pPr>
            <a:r>
              <a:rPr sz="850" b="0" i="0">
                <a:solidFill>
                  <a:srgbClr val="5B6B7C"/>
                </a:solidFill>
                <a:latin typeface="Calibri"/>
              </a:rPr>
              <a:t>Pattern: Agent(llm, tools) → Conversation(agent, workspace, plugins) | MCP config at platform level</a:t>
            </a:r>
          </a:p>
        </p:txBody>
      </p:sp>
      <p:sp>
        <p:nvSpPr>
          <p:cNvPr id="26" name="TextBox 2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60 / 82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COMPETITIVE LANDSCAPE — UC-06 | FINANCIAL SERVICES</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18488"/>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JPMorgan COIN</a:t>
            </a:r>
          </a:p>
        </p:txBody>
      </p:sp>
      <p:sp>
        <p:nvSpPr>
          <p:cNvPr id="9" name="TextBox 8"/>
          <p:cNvSpPr txBox="1"/>
          <p:nvPr/>
        </p:nvSpPr>
        <p:spPr>
          <a:xfrm>
            <a:off x="3749040" y="1618488"/>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360K hours saved, 9+ years</a:t>
            </a:r>
          </a:p>
        </p:txBody>
      </p:sp>
      <p:sp>
        <p:nvSpPr>
          <p:cNvPr id="10" name="TextBox 9"/>
          <p:cNvSpPr txBox="1"/>
          <p:nvPr/>
        </p:nvSpPr>
        <p:spPr>
          <a:xfrm>
            <a:off x="731520" y="1892808"/>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Purpose-built ML for contracts — different scope (commercial vs mortgage)</a:t>
            </a:r>
          </a:p>
        </p:txBody>
      </p:sp>
      <p:sp>
        <p:nvSpPr>
          <p:cNvPr id="11" name="Rounded Rectangle 10"/>
          <p:cNvSpPr/>
          <p:nvPr/>
        </p:nvSpPr>
        <p:spPr>
          <a:xfrm>
            <a:off x="548640" y="2395728"/>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05456"/>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Blend</a:t>
            </a:r>
          </a:p>
        </p:txBody>
      </p:sp>
      <p:sp>
        <p:nvSpPr>
          <p:cNvPr id="13" name="TextBox 12"/>
          <p:cNvSpPr txBox="1"/>
          <p:nvPr/>
        </p:nvSpPr>
        <p:spPr>
          <a:xfrm>
            <a:off x="3749040" y="2505456"/>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Mortgage automation SaaS</a:t>
            </a:r>
          </a:p>
        </p:txBody>
      </p:sp>
      <p:sp>
        <p:nvSpPr>
          <p:cNvPr id="14" name="TextBox 13"/>
          <p:cNvSpPr txBox="1"/>
          <p:nvPr/>
        </p:nvSpPr>
        <p:spPr>
          <a:xfrm>
            <a:off x="731520" y="2779776"/>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Digital lending platform — workflow automation, limited AI</a:t>
            </a:r>
          </a:p>
        </p:txBody>
      </p:sp>
      <p:sp>
        <p:nvSpPr>
          <p:cNvPr id="15" name="Rounded Rectangle 14"/>
          <p:cNvSpPr/>
          <p:nvPr/>
        </p:nvSpPr>
        <p:spPr>
          <a:xfrm>
            <a:off x="548640" y="3282696"/>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392424"/>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Mastercard DI</a:t>
            </a:r>
          </a:p>
        </p:txBody>
      </p:sp>
      <p:sp>
        <p:nvSpPr>
          <p:cNvPr id="17" name="TextBox 16"/>
          <p:cNvSpPr txBox="1"/>
          <p:nvPr/>
        </p:nvSpPr>
        <p:spPr>
          <a:xfrm>
            <a:off x="3749040" y="3392424"/>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143B txns/year</a:t>
            </a:r>
          </a:p>
        </p:txBody>
      </p:sp>
      <p:sp>
        <p:nvSpPr>
          <p:cNvPr id="18" name="TextBox 17"/>
          <p:cNvSpPr txBox="1"/>
          <p:nvPr/>
        </p:nvSpPr>
        <p:spPr>
          <a:xfrm>
            <a:off x="731520" y="3666744"/>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Same real-time decisioning pattern: 20-300% detection lift, &lt;50ms</a:t>
            </a:r>
          </a:p>
        </p:txBody>
      </p:sp>
      <p:sp>
        <p:nvSpPr>
          <p:cNvPr id="19" name="Rounded Rectangle 18"/>
          <p:cNvSpPr/>
          <p:nvPr/>
        </p:nvSpPr>
        <p:spPr>
          <a:xfrm>
            <a:off x="548640" y="4169664"/>
            <a:ext cx="11094415" cy="7772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279392"/>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FFFFFF"/>
                </a:solidFill>
                <a:latin typeface="Calibri"/>
              </a:rPr>
              <a:t>Our differentiation</a:t>
            </a:r>
          </a:p>
        </p:txBody>
      </p:sp>
      <p:sp>
        <p:nvSpPr>
          <p:cNvPr id="21" name="TextBox 20"/>
          <p:cNvSpPr txBox="1"/>
          <p:nvPr/>
        </p:nvSpPr>
        <p:spPr>
          <a:xfrm>
            <a:off x="3749040" y="4279392"/>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FFB800"/>
                </a:solidFill>
                <a:latin typeface="Calibri"/>
              </a:rPr>
              <a:t>Agentic + deterministic</a:t>
            </a:r>
          </a:p>
        </p:txBody>
      </p:sp>
      <p:sp>
        <p:nvSpPr>
          <p:cNvPr id="22" name="TextBox 21"/>
          <p:cNvSpPr txBox="1"/>
          <p:nvPr/>
        </p:nvSpPr>
        <p:spPr>
          <a:xfrm>
            <a:off x="731520" y="4553712"/>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LLM reads documents, rules engine does math, human decides</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61 / 82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UC-07 | FINANCIAL SERVICES</a:t>
            </a:r>
          </a:p>
        </p:txBody>
      </p:sp>
      <p:sp>
        <p:nvSpPr>
          <p:cNvPr id="5" name="TextBox 4"/>
          <p:cNvSpPr txBox="1"/>
          <p:nvPr/>
        </p:nvSpPr>
        <p:spPr>
          <a:xfrm>
            <a:off x="548640" y="1691640"/>
            <a:ext cx="11094415" cy="731520"/>
          </a:xfrm>
          <a:prstGeom prst="rect">
            <a:avLst/>
          </a:prstGeom>
          <a:noFill/>
        </p:spPr>
        <p:txBody>
          <a:bodyPr wrap="square" anchor="t" lIns="0" rIns="0" tIns="0" bIns="0">
            <a:normAutofit/>
          </a:bodyPr>
          <a:lstStyle/>
          <a:p>
            <a:pPr algn="l">
              <a:lnSpc>
                <a:spcPct val="105000"/>
              </a:lnSpc>
              <a:spcBef>
                <a:spcPts val="0"/>
              </a:spcBef>
            </a:pPr>
            <a:r>
              <a:rPr sz="2800" b="1" i="0">
                <a:solidFill>
                  <a:srgbClr val="FFFFFF"/>
                </a:solidFill>
                <a:latin typeface="Calibri"/>
              </a:rPr>
              <a:t>JPMorgan COIN — 360K Attorney-Hours Saved, 9+ Years Running</a:t>
            </a:r>
          </a:p>
        </p:txBody>
      </p:sp>
      <p:sp>
        <p:nvSpPr>
          <p:cNvPr id="6" name="TextBox 5"/>
          <p:cNvSpPr txBox="1"/>
          <p:nvPr/>
        </p:nvSpPr>
        <p:spPr>
          <a:xfrm>
            <a:off x="548640" y="2514600"/>
            <a:ext cx="11094415" cy="274320"/>
          </a:xfrm>
          <a:prstGeom prst="rect">
            <a:avLst/>
          </a:prstGeom>
          <a:noFill/>
        </p:spPr>
        <p:txBody>
          <a:bodyPr wrap="square" anchor="t" lIns="0" rIns="0" tIns="0" bIns="0">
            <a:normAutofit/>
          </a:bodyPr>
          <a:lstStyle/>
          <a:p>
            <a:pPr algn="l">
              <a:lnSpc>
                <a:spcPct val="105000"/>
              </a:lnSpc>
              <a:spcBef>
                <a:spcPts val="0"/>
              </a:spcBef>
            </a:pPr>
            <a:r>
              <a:rPr sz="1400" b="1" i="0">
                <a:solidFill>
                  <a:srgbClr val="FFB800"/>
                </a:solidFill>
                <a:latin typeface="Calibri"/>
              </a:rPr>
              <a:t>Purpose-built ML extracts 150 attributes from commercial credit agreements</a:t>
            </a:r>
          </a:p>
        </p:txBody>
      </p:sp>
      <p:sp>
        <p:nvSpPr>
          <p:cNvPr id="7" name="TextBox 6"/>
          <p:cNvSpPr txBox="1"/>
          <p:nvPr/>
        </p:nvSpPr>
        <p:spPr>
          <a:xfrm>
            <a:off x="548640" y="2926080"/>
            <a:ext cx="11094415" cy="274320"/>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JPMorgan Chase  |  June 2016, still in production (9+ years)</a:t>
            </a:r>
          </a:p>
        </p:txBody>
      </p:sp>
      <p:sp>
        <p:nvSpPr>
          <p:cNvPr id="8" name="Rounded Rectangle 7"/>
          <p:cNvSpPr/>
          <p:nvPr/>
        </p:nvSpPr>
        <p:spPr>
          <a:xfrm>
            <a:off x="548640" y="3383280"/>
            <a:ext cx="2011680" cy="29260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383280"/>
            <a:ext cx="1737360" cy="292608"/>
          </a:xfrm>
          <a:prstGeom prst="rect">
            <a:avLst/>
          </a:prstGeom>
          <a:noFill/>
        </p:spPr>
        <p:txBody>
          <a:bodyPr wrap="square" anchor="ctr" lIns="0" rIns="0" tIns="0" bIns="0">
            <a:noAutofit/>
          </a:bodyPr>
          <a:lstStyle/>
          <a:p>
            <a:pPr algn="l">
              <a:lnSpc>
                <a:spcPct val="105000"/>
              </a:lnSpc>
              <a:spcBef>
                <a:spcPts val="0"/>
              </a:spcBef>
            </a:pPr>
            <a:r>
              <a:rPr sz="1000" b="1" i="0">
                <a:solidFill>
                  <a:srgbClr val="FFFFFF"/>
                </a:solidFill>
                <a:latin typeface="Calibri"/>
              </a:rPr>
              <a:t>VERTICAL SCORE: Production (9+ years)</a:t>
            </a:r>
          </a:p>
        </p:txBody>
      </p:sp>
      <p:sp>
        <p:nvSpPr>
          <p:cNvPr id="10" name="TextBox 9"/>
          <p:cNvSpPr txBox="1"/>
          <p:nvPr/>
        </p:nvSpPr>
        <p:spPr>
          <a:xfrm>
            <a:off x="548640" y="3931920"/>
            <a:ext cx="11094415" cy="2743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Source: TacticalVC Apr 2026; Finextra Sep 2025</a:t>
            </a:r>
          </a:p>
        </p:txBody>
      </p:sp>
      <p:sp>
        <p:nvSpPr>
          <p:cNvPr id="11" name="TextBox 1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62 / 82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12,000 Credit Agreements Need 150 Attributes Each</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UC-07 | FINANCIAL SERVICES — The Problem</a:t>
            </a:r>
          </a:p>
        </p:txBody>
      </p:sp>
      <p:sp>
        <p:nvSpPr>
          <p:cNvPr id="7" name="Rounded Rectangle 6"/>
          <p:cNvSpPr/>
          <p:nvPr/>
        </p:nvSpPr>
        <p:spPr>
          <a:xfrm>
            <a:off x="548640" y="160020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160020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01</a:t>
            </a:r>
          </a:p>
        </p:txBody>
      </p:sp>
      <p:sp>
        <p:nvSpPr>
          <p:cNvPr id="9" name="TextBox 8"/>
          <p:cNvSpPr txBox="1"/>
          <p:nvPr/>
        </p:nvSpPr>
        <p:spPr>
          <a:xfrm>
            <a:off x="1060704" y="165506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12,000 commercial credit agreements per year require 150+ attributes each</a:t>
            </a:r>
          </a:p>
        </p:txBody>
      </p:sp>
      <p:sp>
        <p:nvSpPr>
          <p:cNvPr id="10" name="Rounded Rectangle 9"/>
          <p:cNvSpPr/>
          <p:nvPr/>
        </p:nvSpPr>
        <p:spPr>
          <a:xfrm>
            <a:off x="548640" y="2258568"/>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58568"/>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02</a:t>
            </a:r>
          </a:p>
        </p:txBody>
      </p:sp>
      <p:sp>
        <p:nvSpPr>
          <p:cNvPr id="12" name="TextBox 11"/>
          <p:cNvSpPr txBox="1"/>
          <p:nvPr/>
        </p:nvSpPr>
        <p:spPr>
          <a:xfrm>
            <a:off x="1060704" y="2313432"/>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Multi-day manual review for covenants, collateral, payment schedules, defaults</a:t>
            </a:r>
          </a:p>
        </p:txBody>
      </p:sp>
      <p:sp>
        <p:nvSpPr>
          <p:cNvPr id="13" name="Rounded Rectangle 12"/>
          <p:cNvSpPr/>
          <p:nvPr/>
        </p:nvSpPr>
        <p:spPr>
          <a:xfrm>
            <a:off x="548640" y="2916936"/>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 y="2916936"/>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03</a:t>
            </a:r>
          </a:p>
        </p:txBody>
      </p:sp>
      <p:sp>
        <p:nvSpPr>
          <p:cNvPr id="15" name="TextBox 14"/>
          <p:cNvSpPr txBox="1"/>
          <p:nvPr/>
        </p:nvSpPr>
        <p:spPr>
          <a:xfrm>
            <a:off x="1060704" y="2971800"/>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Error rate in manual extraction unacceptable at institutional lending scale</a:t>
            </a:r>
          </a:p>
        </p:txBody>
      </p:sp>
      <p:sp>
        <p:nvSpPr>
          <p:cNvPr id="16" name="Rounded Rectangle 15"/>
          <p:cNvSpPr/>
          <p:nvPr/>
        </p:nvSpPr>
        <p:spPr>
          <a:xfrm>
            <a:off x="548640" y="3575304"/>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3575304"/>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04</a:t>
            </a:r>
          </a:p>
        </p:txBody>
      </p:sp>
      <p:sp>
        <p:nvSpPr>
          <p:cNvPr id="18" name="TextBox 17"/>
          <p:cNvSpPr txBox="1"/>
          <p:nvPr/>
        </p:nvSpPr>
        <p:spPr>
          <a:xfrm>
            <a:off x="1060704" y="3630168"/>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Expanding scope: NDAs, custody agreements, CDS documentation — same problem</a:t>
            </a:r>
          </a:p>
        </p:txBody>
      </p:sp>
      <p:sp>
        <p:nvSpPr>
          <p:cNvPr id="19" name="Rounded Rectangle 18"/>
          <p:cNvSpPr/>
          <p:nvPr/>
        </p:nvSpPr>
        <p:spPr>
          <a:xfrm>
            <a:off x="548640" y="4233672"/>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 y="4233672"/>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05</a:t>
            </a:r>
          </a:p>
        </p:txBody>
      </p:sp>
      <p:sp>
        <p:nvSpPr>
          <p:cNvPr id="21" name="TextBox 20"/>
          <p:cNvSpPr txBox="1"/>
          <p:nvPr/>
        </p:nvSpPr>
        <p:spPr>
          <a:xfrm>
            <a:off x="1060704" y="4288536"/>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900+ data scientists, $9.6B/year tech budget — scale demands purpose-built solutions</a:t>
            </a:r>
          </a:p>
        </p:txBody>
      </p:sp>
      <p:sp>
        <p:nvSpPr>
          <p:cNvPr id="22" name="Rounded Rectangle 21"/>
          <p:cNvSpPr/>
          <p:nvPr/>
        </p:nvSpPr>
        <p:spPr>
          <a:xfrm>
            <a:off x="548640" y="489204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489204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06</a:t>
            </a:r>
          </a:p>
        </p:txBody>
      </p:sp>
      <p:sp>
        <p:nvSpPr>
          <p:cNvPr id="24" name="TextBox 23"/>
          <p:cNvSpPr txBox="1"/>
          <p:nvPr/>
        </p:nvSpPr>
        <p:spPr>
          <a:xfrm>
            <a:off x="1060704" y="494690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Attorneys spending time on extraction instead of negotiation and strategy</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63 / 82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Purpose-Built ML — Not an LLM (Predates LLMs by Years)</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UC-07 | FINANCIAL SERVICES — How They Solved It</a:t>
            </a:r>
          </a:p>
        </p:txBody>
      </p:sp>
      <p:sp>
        <p:nvSpPr>
          <p:cNvPr id="7" name="Rounded Rectangle 6"/>
          <p:cNvSpPr/>
          <p:nvPr/>
        </p:nvSpPr>
        <p:spPr>
          <a:xfrm>
            <a:off x="548640" y="1463040"/>
            <a:ext cx="1645920" cy="256032"/>
          </a:xfrm>
          <a:prstGeom prst="roundRect">
            <a:avLst>
              <a:gd name="adj" fmla="val 4000"/>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1371600" cy="256032"/>
          </a:xfrm>
          <a:prstGeom prst="rect">
            <a:avLst/>
          </a:prstGeom>
          <a:noFill/>
        </p:spPr>
        <p:txBody>
          <a:bodyPr wrap="square" anchor="ctr" lIns="0" rIns="0" tIns="0" bIns="0">
            <a:noAutofit/>
          </a:bodyPr>
          <a:lstStyle/>
          <a:p>
            <a:pPr algn="l">
              <a:lnSpc>
                <a:spcPct val="105000"/>
              </a:lnSpc>
              <a:spcBef>
                <a:spcPts val="0"/>
              </a:spcBef>
            </a:pPr>
            <a:r>
              <a:rPr sz="850" b="1" i="0">
                <a:solidFill>
                  <a:srgbClr val="FFFFFF"/>
                </a:solidFill>
                <a:latin typeface="Calibri"/>
              </a:rPr>
              <a:t>THEIR PROPRIETARY STACK</a:t>
            </a:r>
          </a:p>
        </p:txBody>
      </p:sp>
      <p:sp>
        <p:nvSpPr>
          <p:cNvPr id="9" name="Rounded Rectangle 8"/>
          <p:cNvSpPr/>
          <p:nvPr/>
        </p:nvSpPr>
        <p:spPr>
          <a:xfrm>
            <a:off x="548640" y="1874519"/>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 y="1874519"/>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01</a:t>
            </a:r>
          </a:p>
        </p:txBody>
      </p:sp>
      <p:sp>
        <p:nvSpPr>
          <p:cNvPr id="11" name="TextBox 10"/>
          <p:cNvSpPr txBox="1"/>
          <p:nvPr/>
        </p:nvSpPr>
        <p:spPr>
          <a:xfrm>
            <a:off x="1060704" y="1929383"/>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Custom ML extracts 150 attributes from commercial credit agreements in seconds</a:t>
            </a:r>
          </a:p>
        </p:txBody>
      </p:sp>
      <p:sp>
        <p:nvSpPr>
          <p:cNvPr id="12" name="Rounded Rectangle 11"/>
          <p:cNvSpPr/>
          <p:nvPr/>
        </p:nvSpPr>
        <p:spPr>
          <a:xfrm>
            <a:off x="548640" y="2532887"/>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504" y="2532887"/>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02</a:t>
            </a:r>
          </a:p>
        </p:txBody>
      </p:sp>
      <p:sp>
        <p:nvSpPr>
          <p:cNvPr id="14" name="TextBox 13"/>
          <p:cNvSpPr txBox="1"/>
          <p:nvPr/>
        </p:nvSpPr>
        <p:spPr>
          <a:xfrm>
            <a:off x="1060704" y="2587751"/>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Trained on firm's own contract archive — learned JPMorgan's clause language</a:t>
            </a:r>
          </a:p>
        </p:txBody>
      </p:sp>
      <p:sp>
        <p:nvSpPr>
          <p:cNvPr id="15" name="Rounded Rectangle 14"/>
          <p:cNvSpPr/>
          <p:nvPr/>
        </p:nvSpPr>
        <p:spPr>
          <a:xfrm>
            <a:off x="548640" y="3191255"/>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 y="3191255"/>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03</a:t>
            </a:r>
          </a:p>
        </p:txBody>
      </p:sp>
      <p:sp>
        <p:nvSpPr>
          <p:cNvPr id="17" name="TextBox 16"/>
          <p:cNvSpPr txBox="1"/>
          <p:nvPr/>
        </p:nvSpPr>
        <p:spPr>
          <a:xfrm>
            <a:off x="1060704" y="3246119"/>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Expanded over 9 years to NDAs, custody agreements, CDS, trade documentation</a:t>
            </a:r>
          </a:p>
        </p:txBody>
      </p:sp>
      <p:sp>
        <p:nvSpPr>
          <p:cNvPr id="18" name="Rounded Rectangle 17"/>
          <p:cNvSpPr/>
          <p:nvPr/>
        </p:nvSpPr>
        <p:spPr>
          <a:xfrm>
            <a:off x="548640" y="3849623"/>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 y="3849623"/>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04</a:t>
            </a:r>
          </a:p>
        </p:txBody>
      </p:sp>
      <p:sp>
        <p:nvSpPr>
          <p:cNvPr id="20" name="TextBox 19"/>
          <p:cNvSpPr txBox="1"/>
          <p:nvPr/>
        </p:nvSpPr>
        <p:spPr>
          <a:xfrm>
            <a:off x="1060704" y="3904487"/>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Not an LLM — purpose-built precision extraction ML on private cloud infrastructure</a:t>
            </a:r>
          </a:p>
        </p:txBody>
      </p:sp>
      <p:sp>
        <p:nvSpPr>
          <p:cNvPr id="21" name="Rounded Rectangle 20"/>
          <p:cNvSpPr/>
          <p:nvPr/>
        </p:nvSpPr>
        <p:spPr>
          <a:xfrm>
            <a:off x="548640" y="4507991"/>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 y="4507991"/>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05</a:t>
            </a:r>
          </a:p>
        </p:txBody>
      </p:sp>
      <p:sp>
        <p:nvSpPr>
          <p:cNvPr id="23" name="TextBox 22"/>
          <p:cNvSpPr txBox="1"/>
          <p:nvPr/>
        </p:nvSpPr>
        <p:spPr>
          <a:xfrm>
            <a:off x="1060704" y="4562855"/>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Error rate reduced ~80% vs manual extraction across all 150 attribute types</a:t>
            </a:r>
          </a:p>
        </p:txBody>
      </p:sp>
      <p:sp>
        <p:nvSpPr>
          <p:cNvPr id="24" name="Rounded Rectangle 23"/>
          <p:cNvSpPr/>
          <p:nvPr/>
        </p:nvSpPr>
        <p:spPr>
          <a:xfrm>
            <a:off x="548640" y="5166359"/>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 y="5166359"/>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06</a:t>
            </a:r>
          </a:p>
        </p:txBody>
      </p:sp>
      <p:sp>
        <p:nvSpPr>
          <p:cNvPr id="26" name="TextBox 25"/>
          <p:cNvSpPr txBox="1"/>
          <p:nvPr/>
        </p:nvSpPr>
        <p:spPr>
          <a:xfrm>
            <a:off x="1060704" y="5221223"/>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Lawyers shifted to negotiation and strategy — not replaced, redirected</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64 / 82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KEY METRICS — UC-07 | FINANCIAL SERVICES</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360K</a:t>
            </a:r>
          </a:p>
        </p:txBody>
      </p:sp>
      <p:sp>
        <p:nvSpPr>
          <p:cNvPr id="9" name="TextBox 8"/>
          <p:cNvSpPr txBox="1"/>
          <p:nvPr/>
        </p:nvSpPr>
        <p:spPr>
          <a:xfrm>
            <a:off x="685800"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Attorney-Hours Saved/yr</a:t>
            </a:r>
          </a:p>
        </p:txBody>
      </p:sp>
      <p:sp>
        <p:nvSpPr>
          <p:cNvPr id="10" name="TextBox 9"/>
          <p:cNvSpPr txBox="1"/>
          <p:nvPr/>
        </p:nvSpPr>
        <p:spPr>
          <a:xfrm>
            <a:off x="685800"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Across commercial lending operations</a:t>
            </a:r>
          </a:p>
        </p:txBody>
      </p:sp>
      <p:sp>
        <p:nvSpPr>
          <p:cNvPr id="11" name="Rounded Rectangle 10"/>
          <p:cNvSpPr/>
          <p:nvPr/>
        </p:nvSpPr>
        <p:spPr>
          <a:xfrm>
            <a:off x="4313834"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50994"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12K</a:t>
            </a:r>
          </a:p>
        </p:txBody>
      </p:sp>
      <p:sp>
        <p:nvSpPr>
          <p:cNvPr id="13" name="TextBox 12"/>
          <p:cNvSpPr txBox="1"/>
          <p:nvPr/>
        </p:nvSpPr>
        <p:spPr>
          <a:xfrm>
            <a:off x="4450994"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Contracts/yr</a:t>
            </a:r>
          </a:p>
        </p:txBody>
      </p:sp>
      <p:sp>
        <p:nvSpPr>
          <p:cNvPr id="14" name="TextBox 13"/>
          <p:cNvSpPr txBox="1"/>
          <p:nvPr/>
        </p:nvSpPr>
        <p:spPr>
          <a:xfrm>
            <a:off x="4450994"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Processed in seconds vs multi-day cycles</a:t>
            </a:r>
          </a:p>
        </p:txBody>
      </p:sp>
      <p:sp>
        <p:nvSpPr>
          <p:cNvPr id="15" name="Rounded Rectangle 14"/>
          <p:cNvSpPr/>
          <p:nvPr/>
        </p:nvSpPr>
        <p:spPr>
          <a:xfrm>
            <a:off x="8079028"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6188"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~80%</a:t>
            </a:r>
          </a:p>
        </p:txBody>
      </p:sp>
      <p:sp>
        <p:nvSpPr>
          <p:cNvPr id="17" name="TextBox 16"/>
          <p:cNvSpPr txBox="1"/>
          <p:nvPr/>
        </p:nvSpPr>
        <p:spPr>
          <a:xfrm>
            <a:off x="8216188"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Error Rate ↓</a:t>
            </a:r>
          </a:p>
        </p:txBody>
      </p:sp>
      <p:sp>
        <p:nvSpPr>
          <p:cNvPr id="18" name="TextBox 17"/>
          <p:cNvSpPr txBox="1"/>
          <p:nvPr/>
        </p:nvSpPr>
        <p:spPr>
          <a:xfrm>
            <a:off x="8216188"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Vs manual extraction across 150 attributes</a:t>
            </a:r>
          </a:p>
        </p:txBody>
      </p:sp>
      <p:sp>
        <p:nvSpPr>
          <p:cNvPr id="19" name="Rounded Rectangle 18"/>
          <p:cNvSpPr/>
          <p:nvPr/>
        </p:nvSpPr>
        <p:spPr>
          <a:xfrm>
            <a:off x="548640"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9+ yrs</a:t>
            </a:r>
          </a:p>
        </p:txBody>
      </p:sp>
      <p:sp>
        <p:nvSpPr>
          <p:cNvPr id="21" name="TextBox 20"/>
          <p:cNvSpPr txBox="1"/>
          <p:nvPr/>
        </p:nvSpPr>
        <p:spPr>
          <a:xfrm>
            <a:off x="685800"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In Production</a:t>
            </a:r>
          </a:p>
        </p:txBody>
      </p:sp>
      <p:sp>
        <p:nvSpPr>
          <p:cNvPr id="22" name="TextBox 21"/>
          <p:cNvSpPr txBox="1"/>
          <p:nvPr/>
        </p:nvSpPr>
        <p:spPr>
          <a:xfrm>
            <a:off x="685800"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Since June 2016, continuously expanded</a:t>
            </a:r>
          </a:p>
        </p:txBody>
      </p:sp>
      <p:sp>
        <p:nvSpPr>
          <p:cNvPr id="23" name="Rounded Rectangle 22"/>
          <p:cNvSpPr/>
          <p:nvPr/>
        </p:nvSpPr>
        <p:spPr>
          <a:xfrm>
            <a:off x="4313834"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50994"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150</a:t>
            </a:r>
          </a:p>
        </p:txBody>
      </p:sp>
      <p:sp>
        <p:nvSpPr>
          <p:cNvPr id="25" name="TextBox 24"/>
          <p:cNvSpPr txBox="1"/>
          <p:nvPr/>
        </p:nvSpPr>
        <p:spPr>
          <a:xfrm>
            <a:off x="4450994"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Attributes Extracted</a:t>
            </a:r>
          </a:p>
        </p:txBody>
      </p:sp>
      <p:sp>
        <p:nvSpPr>
          <p:cNvPr id="26" name="TextBox 25"/>
          <p:cNvSpPr txBox="1"/>
          <p:nvPr/>
        </p:nvSpPr>
        <p:spPr>
          <a:xfrm>
            <a:off x="4450994"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Covenants, collateral, payments, defaults</a:t>
            </a:r>
          </a:p>
        </p:txBody>
      </p:sp>
      <p:sp>
        <p:nvSpPr>
          <p:cNvPr id="27" name="Rounded Rectangle 26"/>
          <p:cNvSpPr/>
          <p:nvPr/>
        </p:nvSpPr>
        <p:spPr>
          <a:xfrm>
            <a:off x="8079028"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6188"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$9.6B</a:t>
            </a:r>
          </a:p>
        </p:txBody>
      </p:sp>
      <p:sp>
        <p:nvSpPr>
          <p:cNvPr id="29" name="TextBox 28"/>
          <p:cNvSpPr txBox="1"/>
          <p:nvPr/>
        </p:nvSpPr>
        <p:spPr>
          <a:xfrm>
            <a:off x="8216188"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Annual Tech Budget</a:t>
            </a:r>
          </a:p>
        </p:txBody>
      </p:sp>
      <p:sp>
        <p:nvSpPr>
          <p:cNvPr id="30" name="TextBox 29"/>
          <p:cNvSpPr txBox="1"/>
          <p:nvPr/>
        </p:nvSpPr>
        <p:spPr>
          <a:xfrm>
            <a:off x="8216188"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Scale of JPMorgan technology investment</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65 / 82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How We'd Build It — UC-07 | FINANCIAL SERVICES</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Our OpenHands + MCP replication of the same outcome</a:t>
            </a:r>
          </a:p>
        </p:txBody>
      </p:sp>
      <p:sp>
        <p:nvSpPr>
          <p:cNvPr id="7" name="Rounded Rectangle 6"/>
          <p:cNvSpPr/>
          <p:nvPr/>
        </p:nvSpPr>
        <p:spPr>
          <a:xfrm>
            <a:off x="548640" y="1463040"/>
            <a:ext cx="2011680" cy="256032"/>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1737360" cy="256032"/>
          </a:xfrm>
          <a:prstGeom prst="rect">
            <a:avLst/>
          </a:prstGeom>
          <a:noFill/>
        </p:spPr>
        <p:txBody>
          <a:bodyPr wrap="square" anchor="ctr" lIns="0" rIns="0" tIns="0" bIns="0">
            <a:noAutofit/>
          </a:bodyPr>
          <a:lstStyle/>
          <a:p>
            <a:pPr algn="l">
              <a:lnSpc>
                <a:spcPct val="105000"/>
              </a:lnSpc>
              <a:spcBef>
                <a:spcPts val="0"/>
              </a:spcBef>
            </a:pPr>
            <a:r>
              <a:rPr sz="850" b="1" i="0">
                <a:solidFill>
                  <a:srgbClr val="FFFFFF"/>
                </a:solidFill>
                <a:latin typeface="Calibri"/>
              </a:rPr>
              <a:t>OUR OPEN ARCHITECTURE</a:t>
            </a:r>
          </a:p>
        </p:txBody>
      </p:sp>
      <p:sp>
        <p:nvSpPr>
          <p:cNvPr id="9" name="TextBox 8"/>
          <p:cNvSpPr txBox="1"/>
          <p:nvPr/>
        </p:nvSpPr>
        <p:spPr>
          <a:xfrm>
            <a:off x="548640" y="1874519"/>
            <a:ext cx="1828800"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AGENT STACK</a:t>
            </a:r>
          </a:p>
        </p:txBody>
      </p:sp>
      <p:sp>
        <p:nvSpPr>
          <p:cNvPr id="10" name="TextBox 9"/>
          <p:cNvSpPr txBox="1"/>
          <p:nvPr/>
        </p:nvSpPr>
        <p:spPr>
          <a:xfrm>
            <a:off x="548640" y="210311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extraction-agent</a:t>
            </a:r>
          </a:p>
        </p:txBody>
      </p:sp>
      <p:sp>
        <p:nvSpPr>
          <p:cNvPr id="11" name="TextBox 10"/>
          <p:cNvSpPr txBox="1"/>
          <p:nvPr/>
        </p:nvSpPr>
        <p:spPr>
          <a:xfrm>
            <a:off x="548640" y="224942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Layout-preserving extraction via LayoutLM / document AI models</a:t>
            </a:r>
          </a:p>
        </p:txBody>
      </p:sp>
      <p:sp>
        <p:nvSpPr>
          <p:cNvPr id="12" name="TextBox 11"/>
          <p:cNvSpPr txBox="1"/>
          <p:nvPr/>
        </p:nvSpPr>
        <p:spPr>
          <a:xfrm>
            <a:off x="548640" y="246887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classification-agent</a:t>
            </a:r>
          </a:p>
        </p:txBody>
      </p:sp>
      <p:sp>
        <p:nvSpPr>
          <p:cNvPr id="13" name="TextBox 12"/>
          <p:cNvSpPr txBox="1"/>
          <p:nvPr/>
        </p:nvSpPr>
        <p:spPr>
          <a:xfrm>
            <a:off x="548640" y="261518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Covenant type, collateral category, payment structure classification</a:t>
            </a:r>
          </a:p>
        </p:txBody>
      </p:sp>
      <p:sp>
        <p:nvSpPr>
          <p:cNvPr id="14" name="TextBox 13"/>
          <p:cNvSpPr txBox="1"/>
          <p:nvPr/>
        </p:nvSpPr>
        <p:spPr>
          <a:xfrm>
            <a:off x="548640" y="283463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validation-agent</a:t>
            </a:r>
          </a:p>
        </p:txBody>
      </p:sp>
      <p:sp>
        <p:nvSpPr>
          <p:cNvPr id="15" name="TextBox 14"/>
          <p:cNvSpPr txBox="1"/>
          <p:nvPr/>
        </p:nvSpPr>
        <p:spPr>
          <a:xfrm>
            <a:off x="548640" y="298094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Cross-reference extracted attributes against document structure</a:t>
            </a:r>
          </a:p>
        </p:txBody>
      </p:sp>
      <p:sp>
        <p:nvSpPr>
          <p:cNvPr id="16" name="TextBox 15"/>
          <p:cNvSpPr txBox="1"/>
          <p:nvPr/>
        </p:nvSpPr>
        <p:spPr>
          <a:xfrm>
            <a:off x="6278727" y="1874519"/>
            <a:ext cx="5364327"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MCP SERVERS</a:t>
            </a:r>
          </a:p>
        </p:txBody>
      </p:sp>
      <p:sp>
        <p:nvSpPr>
          <p:cNvPr id="17" name="TextBox 16"/>
          <p:cNvSpPr txBox="1"/>
          <p:nvPr/>
        </p:nvSpPr>
        <p:spPr>
          <a:xfrm>
            <a:off x="6278727" y="2103119"/>
            <a:ext cx="5364327" cy="182880"/>
          </a:xfrm>
          <a:prstGeom prst="rect">
            <a:avLst/>
          </a:prstGeom>
          <a:noFill/>
        </p:spPr>
        <p:txBody>
          <a:bodyPr wrap="square" anchor="t" lIns="0" rIns="0" tIns="0" bIns="0">
            <a:normAutofit/>
          </a:bodyPr>
          <a:lstStyle/>
          <a:p>
            <a:pPr algn="l">
              <a:lnSpc>
                <a:spcPct val="105000"/>
              </a:lnSpc>
              <a:spcBef>
                <a:spcPts val="0"/>
              </a:spcBef>
            </a:pPr>
            <a:r>
              <a:rPr sz="900" b="1" i="0">
                <a:solidFill>
                  <a:srgbClr val="F2A83B"/>
                </a:solidFill>
                <a:latin typeface="Calibri"/>
              </a:rPr>
              <a:t>  Document AI MCP (LayoutLM)  [TO BUILD]</a:t>
            </a:r>
          </a:p>
        </p:txBody>
      </p:sp>
      <p:sp>
        <p:nvSpPr>
          <p:cNvPr id="18" name="TextBox 17"/>
          <p:cNvSpPr txBox="1"/>
          <p:nvPr/>
        </p:nvSpPr>
        <p:spPr>
          <a:xfrm>
            <a:off x="6278727" y="2331719"/>
            <a:ext cx="5364327" cy="182880"/>
          </a:xfrm>
          <a:prstGeom prst="rect">
            <a:avLst/>
          </a:prstGeom>
          <a:noFill/>
        </p:spPr>
        <p:txBody>
          <a:bodyPr wrap="square" anchor="t" lIns="0" rIns="0" tIns="0" bIns="0">
            <a:normAutofit/>
          </a:bodyPr>
          <a:lstStyle/>
          <a:p>
            <a:pPr algn="l">
              <a:lnSpc>
                <a:spcPct val="105000"/>
              </a:lnSpc>
              <a:spcBef>
                <a:spcPts val="0"/>
              </a:spcBef>
            </a:pPr>
            <a:r>
              <a:rPr sz="900" b="1" i="0">
                <a:solidFill>
                  <a:srgbClr val="F2A83B"/>
                </a:solidFill>
                <a:latin typeface="Calibri"/>
              </a:rPr>
              <a:t>  Contract management MCP  [TO BUILD]</a:t>
            </a:r>
          </a:p>
        </p:txBody>
      </p:sp>
      <p:sp>
        <p:nvSpPr>
          <p:cNvPr id="19" name="Rounded Rectangle 18"/>
          <p:cNvSpPr/>
          <p:nvPr/>
        </p:nvSpPr>
        <p:spPr>
          <a:xfrm>
            <a:off x="548640" y="4389120"/>
            <a:ext cx="11094415" cy="777240"/>
          </a:xfrm>
          <a:prstGeom prst="roundRect">
            <a:avLst>
              <a:gd name="adj" fmla="val 5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480560"/>
            <a:ext cx="18288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KEY DIFFERENCE</a:t>
            </a:r>
          </a:p>
        </p:txBody>
      </p:sp>
      <p:sp>
        <p:nvSpPr>
          <p:cNvPr id="21" name="TextBox 20"/>
          <p:cNvSpPr txBox="1"/>
          <p:nvPr/>
        </p:nvSpPr>
        <p:spPr>
          <a:xfrm>
            <a:off x="731520" y="4709160"/>
            <a:ext cx="10728655" cy="320040"/>
          </a:xfrm>
          <a:prstGeom prst="rect">
            <a:avLst/>
          </a:prstGeom>
          <a:noFill/>
        </p:spPr>
        <p:txBody>
          <a:bodyPr wrap="square" anchor="t" lIns="0" rIns="0" tIns="0" bIns="0">
            <a:normAutofit/>
          </a:bodyPr>
          <a:lstStyle/>
          <a:p>
            <a:pPr algn="l">
              <a:lnSpc>
                <a:spcPct val="105000"/>
              </a:lnSpc>
              <a:spcBef>
                <a:spcPts val="0"/>
              </a:spcBef>
            </a:pPr>
            <a:r>
              <a:rPr sz="1000" b="0" i="0">
                <a:solidFill>
                  <a:srgbClr val="0A1628"/>
                </a:solidFill>
                <a:latin typeface="Calibri"/>
              </a:rPr>
              <a:t>COIN is purpose-built ML (not LLM) with 9 years of refinement on JPMorgan's own data. Our modern equivalent uses document understanding models (LayoutLM) + OpenHands agents — but COIN's 9-year data flywheel is not replicable on day one. Honest about that.</a:t>
            </a:r>
          </a:p>
        </p:txBody>
      </p:sp>
      <p:sp>
        <p:nvSpPr>
          <p:cNvPr id="22" name="TextBox 21"/>
          <p:cNvSpPr txBox="1"/>
          <p:nvPr/>
        </p:nvSpPr>
        <p:spPr>
          <a:xfrm>
            <a:off x="548640" y="5349240"/>
            <a:ext cx="11094415" cy="182880"/>
          </a:xfrm>
          <a:prstGeom prst="rect">
            <a:avLst/>
          </a:prstGeom>
          <a:noFill/>
        </p:spPr>
        <p:txBody>
          <a:bodyPr wrap="square" anchor="t" lIns="0" rIns="0" tIns="0" bIns="0">
            <a:normAutofit/>
          </a:bodyPr>
          <a:lstStyle/>
          <a:p>
            <a:pPr algn="l">
              <a:lnSpc>
                <a:spcPct val="105000"/>
              </a:lnSpc>
              <a:spcBef>
                <a:spcPts val="0"/>
              </a:spcBef>
            </a:pPr>
            <a:r>
              <a:rPr sz="850" b="0" i="0">
                <a:solidFill>
                  <a:srgbClr val="5B6B7C"/>
                </a:solidFill>
                <a:latin typeface="Calibri"/>
              </a:rPr>
              <a:t>Pattern: Agent(llm, tools) → Conversation(agent, workspace, plugins) | MCP config at platform level</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66 / 82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COMPETITIVE LANDSCAPE — UC-07 | FINANCIAL SERVICES</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18488"/>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TD Bank</a:t>
            </a:r>
          </a:p>
        </p:txBody>
      </p:sp>
      <p:sp>
        <p:nvSpPr>
          <p:cNvPr id="9" name="TextBox 8"/>
          <p:cNvSpPr txBox="1"/>
          <p:nvPr/>
        </p:nvSpPr>
        <p:spPr>
          <a:xfrm>
            <a:off x="3749040" y="1618488"/>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Agentic AI (2026)</a:t>
            </a:r>
          </a:p>
        </p:txBody>
      </p:sp>
      <p:sp>
        <p:nvSpPr>
          <p:cNvPr id="10" name="TextBox 9"/>
          <p:cNvSpPr txBox="1"/>
          <p:nvPr/>
        </p:nvSpPr>
        <p:spPr>
          <a:xfrm>
            <a:off x="731520" y="1892808"/>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Newer approach: LLM + deterministic — different scope (mortgage vs commercial)</a:t>
            </a:r>
          </a:p>
        </p:txBody>
      </p:sp>
      <p:sp>
        <p:nvSpPr>
          <p:cNvPr id="11" name="Rounded Rectangle 10"/>
          <p:cNvSpPr/>
          <p:nvPr/>
        </p:nvSpPr>
        <p:spPr>
          <a:xfrm>
            <a:off x="548640" y="2395728"/>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05456"/>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Kira Systems (Litera)</a:t>
            </a:r>
          </a:p>
        </p:txBody>
      </p:sp>
      <p:sp>
        <p:nvSpPr>
          <p:cNvPr id="13" name="TextBox 12"/>
          <p:cNvSpPr txBox="1"/>
          <p:nvPr/>
        </p:nvSpPr>
        <p:spPr>
          <a:xfrm>
            <a:off x="3749040" y="2505456"/>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Contract analysis</a:t>
            </a:r>
          </a:p>
        </p:txBody>
      </p:sp>
      <p:sp>
        <p:nvSpPr>
          <p:cNvPr id="14" name="TextBox 13"/>
          <p:cNvSpPr txBox="1"/>
          <p:nvPr/>
        </p:nvSpPr>
        <p:spPr>
          <a:xfrm>
            <a:off x="731520" y="2779776"/>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AI contract review — acquired by Litera, enterprise pricing</a:t>
            </a:r>
          </a:p>
        </p:txBody>
      </p:sp>
      <p:sp>
        <p:nvSpPr>
          <p:cNvPr id="15" name="Rounded Rectangle 14"/>
          <p:cNvSpPr/>
          <p:nvPr/>
        </p:nvSpPr>
        <p:spPr>
          <a:xfrm>
            <a:off x="548640" y="3282696"/>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392424"/>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Eigen Technologies</a:t>
            </a:r>
          </a:p>
        </p:txBody>
      </p:sp>
      <p:sp>
        <p:nvSpPr>
          <p:cNvPr id="17" name="TextBox 16"/>
          <p:cNvSpPr txBox="1"/>
          <p:nvPr/>
        </p:nvSpPr>
        <p:spPr>
          <a:xfrm>
            <a:off x="3749040" y="3392424"/>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Document intelligence</a:t>
            </a:r>
          </a:p>
        </p:txBody>
      </p:sp>
      <p:sp>
        <p:nvSpPr>
          <p:cNvPr id="18" name="TextBox 17"/>
          <p:cNvSpPr txBox="1"/>
          <p:nvPr/>
        </p:nvSpPr>
        <p:spPr>
          <a:xfrm>
            <a:off x="731520" y="3666744"/>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NLP extraction for financial services — narrow focus</a:t>
            </a:r>
          </a:p>
        </p:txBody>
      </p:sp>
      <p:sp>
        <p:nvSpPr>
          <p:cNvPr id="19" name="Rounded Rectangle 18"/>
          <p:cNvSpPr/>
          <p:nvPr/>
        </p:nvSpPr>
        <p:spPr>
          <a:xfrm>
            <a:off x="548640" y="4169664"/>
            <a:ext cx="11094415" cy="7772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279392"/>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FFFFFF"/>
                </a:solidFill>
                <a:latin typeface="Calibri"/>
              </a:rPr>
              <a:t>Our framing</a:t>
            </a:r>
          </a:p>
        </p:txBody>
      </p:sp>
      <p:sp>
        <p:nvSpPr>
          <p:cNvPr id="21" name="TextBox 20"/>
          <p:cNvSpPr txBox="1"/>
          <p:nvPr/>
        </p:nvSpPr>
        <p:spPr>
          <a:xfrm>
            <a:off x="3749040" y="4279392"/>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FFB800"/>
                </a:solidFill>
                <a:latin typeface="Calibri"/>
              </a:rPr>
              <a:t>Lessons learned</a:t>
            </a:r>
          </a:p>
        </p:txBody>
      </p:sp>
      <p:sp>
        <p:nvSpPr>
          <p:cNvPr id="22" name="TextBox 21"/>
          <p:cNvSpPr txBox="1"/>
          <p:nvPr/>
        </p:nvSpPr>
        <p:spPr>
          <a:xfrm>
            <a:off x="731520" y="4553712"/>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9 years proves: narrow domain + own data + continuous refinement = endurance</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67 / 82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1094415"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05</a:t>
            </a:r>
          </a:p>
        </p:txBody>
      </p:sp>
      <p:sp>
        <p:nvSpPr>
          <p:cNvPr id="5" name="TextBox 4"/>
          <p:cNvSpPr txBox="1"/>
          <p:nvPr/>
        </p:nvSpPr>
        <p:spPr>
          <a:xfrm>
            <a:off x="548640" y="2240280"/>
            <a:ext cx="11094415" cy="822960"/>
          </a:xfrm>
          <a:prstGeom prst="rect">
            <a:avLst/>
          </a:prstGeom>
          <a:noFill/>
        </p:spPr>
        <p:txBody>
          <a:bodyPr wrap="square" anchor="t" lIns="0" rIns="0" tIns="0" bIns="0">
            <a:normAutofit/>
          </a:bodyPr>
          <a:lstStyle/>
          <a:p>
            <a:pPr algn="l">
              <a:lnSpc>
                <a:spcPct val="105000"/>
              </a:lnSpc>
              <a:spcBef>
                <a:spcPts val="0"/>
              </a:spcBef>
            </a:pPr>
            <a:r>
              <a:rPr sz="3600" b="1" i="0">
                <a:solidFill>
                  <a:srgbClr val="FFFFFF"/>
                </a:solidFill>
                <a:latin typeface="Calibri"/>
              </a:rPr>
              <a:t>Construction</a:t>
            </a:r>
          </a:p>
        </p:txBody>
      </p:sp>
      <p:sp>
        <p:nvSpPr>
          <p:cNvPr id="6" name="TextBox 5"/>
          <p:cNvSpPr txBox="1"/>
          <p:nvPr/>
        </p:nvSpPr>
        <p:spPr>
          <a:xfrm>
            <a:off x="548640" y="3108960"/>
            <a:ext cx="11094415" cy="274320"/>
          </a:xfrm>
          <a:prstGeom prst="rect">
            <a:avLst/>
          </a:prstGeom>
          <a:noFill/>
        </p:spPr>
        <p:txBody>
          <a:bodyPr wrap="square" anchor="t" lIns="0" rIns="0" tIns="0" bIns="0">
            <a:noAutofit/>
          </a:bodyPr>
          <a:lstStyle/>
          <a:p>
            <a:pPr algn="l">
              <a:lnSpc>
                <a:spcPct val="105000"/>
              </a:lnSpc>
              <a:spcBef>
                <a:spcPts val="0"/>
              </a:spcBef>
            </a:pPr>
            <a:r>
              <a:rPr sz="1400" b="1" i="0">
                <a:solidFill>
                  <a:srgbClr val="FFB800"/>
                </a:solidFill>
                <a:latin typeface="Calibri"/>
              </a:rPr>
              <a:t>UC-08 | UC-09</a:t>
            </a:r>
          </a:p>
        </p:txBody>
      </p:sp>
      <p:sp>
        <p:nvSpPr>
          <p:cNvPr id="7" name="Rectangle 6"/>
          <p:cNvSpPr/>
          <p:nvPr/>
        </p:nvSpPr>
        <p:spPr>
          <a:xfrm>
            <a:off x="548640" y="3566160"/>
            <a:ext cx="3657600" cy="36576"/>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749039"/>
            <a:ext cx="11094415" cy="365760"/>
          </a:xfrm>
          <a:prstGeom prst="rect">
            <a:avLst/>
          </a:prstGeom>
          <a:noFill/>
        </p:spPr>
        <p:txBody>
          <a:bodyPr wrap="square" anchor="t" lIns="0" rIns="0" tIns="0" bIns="0">
            <a:normAutofit/>
          </a:bodyPr>
          <a:lstStyle/>
          <a:p>
            <a:pPr algn="l">
              <a:lnSpc>
                <a:spcPct val="105000"/>
              </a:lnSpc>
              <a:spcBef>
                <a:spcPts val="0"/>
              </a:spcBef>
            </a:pPr>
            <a:r>
              <a:rPr sz="1200" b="0" i="0">
                <a:solidFill>
                  <a:srgbClr val="E0F7F1"/>
                </a:solidFill>
                <a:latin typeface="Calibri"/>
              </a:rPr>
              <a:t>The camera doesn't get tired. The superintendent acts on data.</a:t>
            </a:r>
          </a:p>
        </p:txBody>
      </p:sp>
      <p:sp>
        <p:nvSpPr>
          <p:cNvPr id="9" name="TextBox 8"/>
          <p:cNvSpPr txBox="1"/>
          <p:nvPr/>
        </p:nvSpPr>
        <p:spPr>
          <a:xfrm>
            <a:off x="548640" y="6217920"/>
            <a:ext cx="11094415" cy="2743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AI Market Research · AI Use Cases — Full Pipeline | 2026</a:t>
            </a:r>
          </a:p>
        </p:txBody>
      </p:sp>
      <p:sp>
        <p:nvSpPr>
          <p:cNvPr id="10" name="TextBox 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68 / 82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UC-08 | CONSTRUCTION</a:t>
            </a:r>
          </a:p>
        </p:txBody>
      </p:sp>
      <p:sp>
        <p:nvSpPr>
          <p:cNvPr id="5" name="TextBox 4"/>
          <p:cNvSpPr txBox="1"/>
          <p:nvPr/>
        </p:nvSpPr>
        <p:spPr>
          <a:xfrm>
            <a:off x="548640" y="1691640"/>
            <a:ext cx="11094415" cy="731520"/>
          </a:xfrm>
          <a:prstGeom prst="rect">
            <a:avLst/>
          </a:prstGeom>
          <a:noFill/>
        </p:spPr>
        <p:txBody>
          <a:bodyPr wrap="square" anchor="t" lIns="0" rIns="0" tIns="0" bIns="0">
            <a:normAutofit/>
          </a:bodyPr>
          <a:lstStyle/>
          <a:p>
            <a:pPr algn="l">
              <a:lnSpc>
                <a:spcPct val="105000"/>
              </a:lnSpc>
              <a:spcBef>
                <a:spcPts val="0"/>
              </a:spcBef>
            </a:pPr>
            <a:r>
              <a:rPr sz="2800" b="1" i="0">
                <a:solidFill>
                  <a:srgbClr val="FFFFFF"/>
                </a:solidFill>
                <a:latin typeface="Calibri"/>
              </a:rPr>
              <a:t>DroneDeploy — 34M Annotations, 4 AI Agents, 3M+ Sites</a:t>
            </a:r>
          </a:p>
        </p:txBody>
      </p:sp>
      <p:sp>
        <p:nvSpPr>
          <p:cNvPr id="6" name="TextBox 5"/>
          <p:cNvSpPr txBox="1"/>
          <p:nvPr/>
        </p:nvSpPr>
        <p:spPr>
          <a:xfrm>
            <a:off x="548640" y="2514600"/>
            <a:ext cx="11094415" cy="274320"/>
          </a:xfrm>
          <a:prstGeom prst="rect">
            <a:avLst/>
          </a:prstGeom>
          <a:noFill/>
        </p:spPr>
        <p:txBody>
          <a:bodyPr wrap="square" anchor="t" lIns="0" rIns="0" tIns="0" bIns="0">
            <a:normAutofit/>
          </a:bodyPr>
          <a:lstStyle/>
          <a:p>
            <a:pPr algn="l">
              <a:lnSpc>
                <a:spcPct val="105000"/>
              </a:lnSpc>
              <a:spcBef>
                <a:spcPts val="0"/>
              </a:spcBef>
            </a:pPr>
            <a:r>
              <a:rPr sz="1400" b="1" i="0">
                <a:solidFill>
                  <a:srgbClr val="FFB800"/>
                </a:solidFill>
                <a:latin typeface="Calibri"/>
              </a:rPr>
              <a:t>Autonomous overnight capture → morning reports, 48% injury reduction</a:t>
            </a:r>
          </a:p>
        </p:txBody>
      </p:sp>
      <p:sp>
        <p:nvSpPr>
          <p:cNvPr id="7" name="TextBox 6"/>
          <p:cNvSpPr txBox="1"/>
          <p:nvPr/>
        </p:nvSpPr>
        <p:spPr>
          <a:xfrm>
            <a:off x="548640" y="2926080"/>
            <a:ext cx="11094415" cy="274320"/>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DroneDeploy + Barton Malow  |  Production across 3M+ sites, break-even Sep 2025</a:t>
            </a:r>
          </a:p>
        </p:txBody>
      </p:sp>
      <p:sp>
        <p:nvSpPr>
          <p:cNvPr id="8" name="Rounded Rectangle 7"/>
          <p:cNvSpPr/>
          <p:nvPr/>
        </p:nvSpPr>
        <p:spPr>
          <a:xfrm>
            <a:off x="548640" y="3383280"/>
            <a:ext cx="2011680" cy="29260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383280"/>
            <a:ext cx="1737360" cy="292608"/>
          </a:xfrm>
          <a:prstGeom prst="rect">
            <a:avLst/>
          </a:prstGeom>
          <a:noFill/>
        </p:spPr>
        <p:txBody>
          <a:bodyPr wrap="square" anchor="ctr" lIns="0" rIns="0" tIns="0" bIns="0">
            <a:noAutofit/>
          </a:bodyPr>
          <a:lstStyle/>
          <a:p>
            <a:pPr algn="l">
              <a:lnSpc>
                <a:spcPct val="105000"/>
              </a:lnSpc>
              <a:spcBef>
                <a:spcPts val="0"/>
              </a:spcBef>
            </a:pPr>
            <a:r>
              <a:rPr sz="1000" b="1" i="0">
                <a:solidFill>
                  <a:srgbClr val="FFFFFF"/>
                </a:solidFill>
                <a:latin typeface="Calibri"/>
              </a:rPr>
              <a:t>VERTICAL SCORE: Production (3M+ sites)</a:t>
            </a:r>
          </a:p>
        </p:txBody>
      </p:sp>
      <p:sp>
        <p:nvSpPr>
          <p:cNvPr id="10" name="TextBox 9"/>
          <p:cNvSpPr txBox="1"/>
          <p:nvPr/>
        </p:nvSpPr>
        <p:spPr>
          <a:xfrm>
            <a:off x="548640" y="3931920"/>
            <a:ext cx="11094415" cy="2743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Source: DroneDeploy Blog Apr 2026 + BCG 2026</a:t>
            </a:r>
          </a:p>
        </p:txBody>
      </p:sp>
      <p:sp>
        <p:nvSpPr>
          <p:cNvPr id="11" name="TextBox 1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69 / 82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Construction Sites Are Unstructured and Underdocumented</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UC-08 | CONSTRUCTION — The Problem</a:t>
            </a:r>
          </a:p>
        </p:txBody>
      </p:sp>
      <p:sp>
        <p:nvSpPr>
          <p:cNvPr id="7" name="Rounded Rectangle 6"/>
          <p:cNvSpPr/>
          <p:nvPr/>
        </p:nvSpPr>
        <p:spPr>
          <a:xfrm>
            <a:off x="548640" y="160020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160020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01</a:t>
            </a:r>
          </a:p>
        </p:txBody>
      </p:sp>
      <p:sp>
        <p:nvSpPr>
          <p:cNvPr id="9" name="TextBox 8"/>
          <p:cNvSpPr txBox="1"/>
          <p:nvPr/>
        </p:nvSpPr>
        <p:spPr>
          <a:xfrm>
            <a:off x="1060704" y="165506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Manual site walks miss events, rely entirely on superintendent memory</a:t>
            </a:r>
          </a:p>
        </p:txBody>
      </p:sp>
      <p:sp>
        <p:nvSpPr>
          <p:cNvPr id="10" name="Rounded Rectangle 9"/>
          <p:cNvSpPr/>
          <p:nvPr/>
        </p:nvSpPr>
        <p:spPr>
          <a:xfrm>
            <a:off x="548640" y="2258568"/>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58568"/>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02</a:t>
            </a:r>
          </a:p>
        </p:txBody>
      </p:sp>
      <p:sp>
        <p:nvSpPr>
          <p:cNvPr id="12" name="TextBox 11"/>
          <p:cNvSpPr txBox="1"/>
          <p:nvPr/>
        </p:nvSpPr>
        <p:spPr>
          <a:xfrm>
            <a:off x="1060704" y="2313432"/>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Safety violations go undetected — poor documentation is industry-wide</a:t>
            </a:r>
          </a:p>
        </p:txBody>
      </p:sp>
      <p:sp>
        <p:nvSpPr>
          <p:cNvPr id="13" name="Rounded Rectangle 12"/>
          <p:cNvSpPr/>
          <p:nvPr/>
        </p:nvSpPr>
        <p:spPr>
          <a:xfrm>
            <a:off x="548640" y="2916936"/>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 y="2916936"/>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03</a:t>
            </a:r>
          </a:p>
        </p:txBody>
      </p:sp>
      <p:sp>
        <p:nvSpPr>
          <p:cNvPr id="15" name="TextBox 14"/>
          <p:cNvSpPr txBox="1"/>
          <p:nvPr/>
        </p:nvSpPr>
        <p:spPr>
          <a:xfrm>
            <a:off x="1060704" y="2971800"/>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Progress reporting takes 2 days of manual compilation per project</a:t>
            </a:r>
          </a:p>
        </p:txBody>
      </p:sp>
      <p:sp>
        <p:nvSpPr>
          <p:cNvPr id="16" name="Rounded Rectangle 15"/>
          <p:cNvSpPr/>
          <p:nvPr/>
        </p:nvSpPr>
        <p:spPr>
          <a:xfrm>
            <a:off x="548640" y="3575304"/>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3575304"/>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04</a:t>
            </a:r>
          </a:p>
        </p:txBody>
      </p:sp>
      <p:sp>
        <p:nvSpPr>
          <p:cNvPr id="18" name="TextBox 17"/>
          <p:cNvSpPr txBox="1"/>
          <p:nvPr/>
        </p:nvSpPr>
        <p:spPr>
          <a:xfrm>
            <a:off x="1060704" y="3630168"/>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Generic computer vision doesn't understand what 'installed' means per trade</a:t>
            </a:r>
          </a:p>
        </p:txBody>
      </p:sp>
      <p:sp>
        <p:nvSpPr>
          <p:cNvPr id="19" name="Rounded Rectangle 18"/>
          <p:cNvSpPr/>
          <p:nvPr/>
        </p:nvSpPr>
        <p:spPr>
          <a:xfrm>
            <a:off x="548640" y="4233672"/>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 y="4233672"/>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05</a:t>
            </a:r>
          </a:p>
        </p:txBody>
      </p:sp>
      <p:sp>
        <p:nvSpPr>
          <p:cNvPr id="21" name="TextBox 20"/>
          <p:cNvSpPr txBox="1"/>
          <p:nvPr/>
        </p:nvSpPr>
        <p:spPr>
          <a:xfrm>
            <a:off x="1060704" y="4288536"/>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Subcontractor management: no objective comparison across trades or sites</a:t>
            </a:r>
          </a:p>
        </p:txBody>
      </p:sp>
      <p:sp>
        <p:nvSpPr>
          <p:cNvPr id="22" name="Rounded Rectangle 21"/>
          <p:cNvSpPr/>
          <p:nvPr/>
        </p:nvSpPr>
        <p:spPr>
          <a:xfrm>
            <a:off x="548640" y="489204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489204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06</a:t>
            </a:r>
          </a:p>
        </p:txBody>
      </p:sp>
      <p:sp>
        <p:nvSpPr>
          <p:cNvPr id="24" name="TextBox 23"/>
          <p:cNvSpPr txBox="1"/>
          <p:nvPr/>
        </p:nvSpPr>
        <p:spPr>
          <a:xfrm>
            <a:off x="1060704" y="494690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Data center construction exploding: 300+ projects, users up 128% YoY</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70 / 82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4 Proprietary AI Agents + 13-Year Data Moat</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UC-08 | CONSTRUCTION — How They Solved It</a:t>
            </a:r>
          </a:p>
        </p:txBody>
      </p:sp>
      <p:sp>
        <p:nvSpPr>
          <p:cNvPr id="7" name="Rounded Rectangle 6"/>
          <p:cNvSpPr/>
          <p:nvPr/>
        </p:nvSpPr>
        <p:spPr>
          <a:xfrm>
            <a:off x="548640" y="1463040"/>
            <a:ext cx="1645920" cy="256032"/>
          </a:xfrm>
          <a:prstGeom prst="roundRect">
            <a:avLst>
              <a:gd name="adj" fmla="val 4000"/>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1371600" cy="256032"/>
          </a:xfrm>
          <a:prstGeom prst="rect">
            <a:avLst/>
          </a:prstGeom>
          <a:noFill/>
        </p:spPr>
        <p:txBody>
          <a:bodyPr wrap="square" anchor="ctr" lIns="0" rIns="0" tIns="0" bIns="0">
            <a:noAutofit/>
          </a:bodyPr>
          <a:lstStyle/>
          <a:p>
            <a:pPr algn="l">
              <a:lnSpc>
                <a:spcPct val="105000"/>
              </a:lnSpc>
              <a:spcBef>
                <a:spcPts val="0"/>
              </a:spcBef>
            </a:pPr>
            <a:r>
              <a:rPr sz="850" b="1" i="0">
                <a:solidFill>
                  <a:srgbClr val="FFFFFF"/>
                </a:solidFill>
                <a:latin typeface="Calibri"/>
              </a:rPr>
              <a:t>THEIR PROPRIETARY STACK</a:t>
            </a:r>
          </a:p>
        </p:txBody>
      </p:sp>
      <p:sp>
        <p:nvSpPr>
          <p:cNvPr id="9" name="Rounded Rectangle 8"/>
          <p:cNvSpPr/>
          <p:nvPr/>
        </p:nvSpPr>
        <p:spPr>
          <a:xfrm>
            <a:off x="548640" y="1874519"/>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 y="1874519"/>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01</a:t>
            </a:r>
          </a:p>
        </p:txBody>
      </p:sp>
      <p:sp>
        <p:nvSpPr>
          <p:cNvPr id="11" name="TextBox 10"/>
          <p:cNvSpPr txBox="1"/>
          <p:nvPr/>
        </p:nvSpPr>
        <p:spPr>
          <a:xfrm>
            <a:off x="1060704" y="1929383"/>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DroneDeploy's proprietary 4 AI agents: Progress AI, Safety AI, Inspection AI, Embodied AI</a:t>
            </a:r>
          </a:p>
        </p:txBody>
      </p:sp>
      <p:sp>
        <p:nvSpPr>
          <p:cNvPr id="12" name="Rounded Rectangle 11"/>
          <p:cNvSpPr/>
          <p:nvPr/>
        </p:nvSpPr>
        <p:spPr>
          <a:xfrm>
            <a:off x="548640" y="2532887"/>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504" y="2532887"/>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02</a:t>
            </a:r>
          </a:p>
        </p:txBody>
      </p:sp>
      <p:sp>
        <p:nvSpPr>
          <p:cNvPr id="14" name="TextBox 13"/>
          <p:cNvSpPr txBox="1"/>
          <p:nvPr/>
        </p:nvSpPr>
        <p:spPr>
          <a:xfrm>
            <a:off x="1060704" y="2587751"/>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Autonomous ground robots (Rocos) + docked drones — proprietary hardware integration</a:t>
            </a:r>
          </a:p>
        </p:txBody>
      </p:sp>
      <p:sp>
        <p:nvSpPr>
          <p:cNvPr id="15" name="Rounded Rectangle 14"/>
          <p:cNvSpPr/>
          <p:nvPr/>
        </p:nvSpPr>
        <p:spPr>
          <a:xfrm>
            <a:off x="548640" y="3191255"/>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 y="3191255"/>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03</a:t>
            </a:r>
          </a:p>
        </p:txBody>
      </p:sp>
      <p:sp>
        <p:nvSpPr>
          <p:cNvPr id="17" name="TextBox 16"/>
          <p:cNvSpPr txBox="1"/>
          <p:nvPr/>
        </p:nvSpPr>
        <p:spPr>
          <a:xfrm>
            <a:off x="1060704" y="3246119"/>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13-year annotation corpus: 34M labeled examples across 3M sites in 180 countries</a:t>
            </a:r>
          </a:p>
        </p:txBody>
      </p:sp>
      <p:sp>
        <p:nvSpPr>
          <p:cNvPr id="18" name="Rounded Rectangle 17"/>
          <p:cNvSpPr/>
          <p:nvPr/>
        </p:nvSpPr>
        <p:spPr>
          <a:xfrm>
            <a:off x="548640" y="3849623"/>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 y="3849623"/>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04</a:t>
            </a:r>
          </a:p>
        </p:txBody>
      </p:sp>
      <p:sp>
        <p:nvSpPr>
          <p:cNvPr id="20" name="TextBox 19"/>
          <p:cNvSpPr txBox="1"/>
          <p:nvPr/>
        </p:nvSpPr>
        <p:spPr>
          <a:xfrm>
            <a:off x="1060704" y="3904487"/>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Safety AI trained on 120K labeled examples — proprietary domain-specific model</a:t>
            </a:r>
          </a:p>
        </p:txBody>
      </p:sp>
      <p:sp>
        <p:nvSpPr>
          <p:cNvPr id="21" name="Rounded Rectangle 20"/>
          <p:cNvSpPr/>
          <p:nvPr/>
        </p:nvSpPr>
        <p:spPr>
          <a:xfrm>
            <a:off x="548640" y="4507991"/>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 y="4507991"/>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05</a:t>
            </a:r>
          </a:p>
        </p:txBody>
      </p:sp>
      <p:sp>
        <p:nvSpPr>
          <p:cNvPr id="23" name="TextBox 22"/>
          <p:cNvSpPr txBox="1"/>
          <p:nvPr/>
        </p:nvSpPr>
        <p:spPr>
          <a:xfrm>
            <a:off x="1060704" y="4562855"/>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770M images processed in 2025 alone — proprietary processing pipeline</a:t>
            </a:r>
          </a:p>
        </p:txBody>
      </p:sp>
      <p:sp>
        <p:nvSpPr>
          <p:cNvPr id="24" name="Rounded Rectangle 23"/>
          <p:cNvSpPr/>
          <p:nvPr/>
        </p:nvSpPr>
        <p:spPr>
          <a:xfrm>
            <a:off x="548640" y="5166359"/>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 y="5166359"/>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06</a:t>
            </a:r>
          </a:p>
        </p:txBody>
      </p:sp>
      <p:sp>
        <p:nvSpPr>
          <p:cNvPr id="26" name="TextBox 25"/>
          <p:cNvSpPr txBox="1"/>
          <p:nvPr/>
        </p:nvSpPr>
        <p:spPr>
          <a:xfrm>
            <a:off x="1060704" y="5221223"/>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The 34M annotation corpus is the moat — competitors cannot replicate this data flywheel</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71 / 82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KEY METRICS — UC-08 | CONSTRUCTION</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34M</a:t>
            </a:r>
          </a:p>
        </p:txBody>
      </p:sp>
      <p:sp>
        <p:nvSpPr>
          <p:cNvPr id="9" name="TextBox 8"/>
          <p:cNvSpPr txBox="1"/>
          <p:nvPr/>
        </p:nvSpPr>
        <p:spPr>
          <a:xfrm>
            <a:off x="685800"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Training Annotations</a:t>
            </a:r>
          </a:p>
        </p:txBody>
      </p:sp>
      <p:sp>
        <p:nvSpPr>
          <p:cNvPr id="10" name="TextBox 9"/>
          <p:cNvSpPr txBox="1"/>
          <p:nvPr/>
        </p:nvSpPr>
        <p:spPr>
          <a:xfrm>
            <a:off x="685800"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13-year corpus across 180 countries</a:t>
            </a:r>
          </a:p>
        </p:txBody>
      </p:sp>
      <p:sp>
        <p:nvSpPr>
          <p:cNvPr id="11" name="Rounded Rectangle 10"/>
          <p:cNvSpPr/>
          <p:nvPr/>
        </p:nvSpPr>
        <p:spPr>
          <a:xfrm>
            <a:off x="4313834"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50994"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+340%</a:t>
            </a:r>
          </a:p>
        </p:txBody>
      </p:sp>
      <p:sp>
        <p:nvSpPr>
          <p:cNvPr id="13" name="TextBox 12"/>
          <p:cNvSpPr txBox="1"/>
          <p:nvPr/>
        </p:nvSpPr>
        <p:spPr>
          <a:xfrm>
            <a:off x="4450994"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Safety Catches</a:t>
            </a:r>
          </a:p>
        </p:txBody>
      </p:sp>
      <p:sp>
        <p:nvSpPr>
          <p:cNvPr id="14" name="TextBox 13"/>
          <p:cNvSpPr txBox="1"/>
          <p:nvPr/>
        </p:nvSpPr>
        <p:spPr>
          <a:xfrm>
            <a:off x="4450994"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Real-time violation detection improvement</a:t>
            </a:r>
          </a:p>
        </p:txBody>
      </p:sp>
      <p:sp>
        <p:nvSpPr>
          <p:cNvPr id="15" name="Rounded Rectangle 14"/>
          <p:cNvSpPr/>
          <p:nvPr/>
        </p:nvSpPr>
        <p:spPr>
          <a:xfrm>
            <a:off x="8079028"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6188"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48%</a:t>
            </a:r>
          </a:p>
        </p:txBody>
      </p:sp>
      <p:sp>
        <p:nvSpPr>
          <p:cNvPr id="17" name="TextBox 16"/>
          <p:cNvSpPr txBox="1"/>
          <p:nvPr/>
        </p:nvSpPr>
        <p:spPr>
          <a:xfrm>
            <a:off x="8216188"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Injury Reduction</a:t>
            </a:r>
          </a:p>
        </p:txBody>
      </p:sp>
      <p:sp>
        <p:nvSpPr>
          <p:cNvPr id="18" name="TextBox 17"/>
          <p:cNvSpPr txBox="1"/>
          <p:nvPr/>
        </p:nvSpPr>
        <p:spPr>
          <a:xfrm>
            <a:off x="8216188"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Over 12-month deployment period</a:t>
            </a:r>
          </a:p>
        </p:txBody>
      </p:sp>
      <p:sp>
        <p:nvSpPr>
          <p:cNvPr id="19" name="Rounded Rectangle 18"/>
          <p:cNvSpPr/>
          <p:nvPr/>
        </p:nvSpPr>
        <p:spPr>
          <a:xfrm>
            <a:off x="548640"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3M+</a:t>
            </a:r>
          </a:p>
        </p:txBody>
      </p:sp>
      <p:sp>
        <p:nvSpPr>
          <p:cNvPr id="21" name="TextBox 20"/>
          <p:cNvSpPr txBox="1"/>
          <p:nvPr/>
        </p:nvSpPr>
        <p:spPr>
          <a:xfrm>
            <a:off x="685800"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Sites in Production</a:t>
            </a:r>
          </a:p>
        </p:txBody>
      </p:sp>
      <p:sp>
        <p:nvSpPr>
          <p:cNvPr id="22" name="TextBox 21"/>
          <p:cNvSpPr txBox="1"/>
          <p:nvPr/>
        </p:nvSpPr>
        <p:spPr>
          <a:xfrm>
            <a:off x="685800"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Global deployment scale</a:t>
            </a:r>
          </a:p>
        </p:txBody>
      </p:sp>
      <p:sp>
        <p:nvSpPr>
          <p:cNvPr id="23" name="Rounded Rectangle 22"/>
          <p:cNvSpPr/>
          <p:nvPr/>
        </p:nvSpPr>
        <p:spPr>
          <a:xfrm>
            <a:off x="4313834"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50994"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770M</a:t>
            </a:r>
          </a:p>
        </p:txBody>
      </p:sp>
      <p:sp>
        <p:nvSpPr>
          <p:cNvPr id="25" name="TextBox 24"/>
          <p:cNvSpPr txBox="1"/>
          <p:nvPr/>
        </p:nvSpPr>
        <p:spPr>
          <a:xfrm>
            <a:off x="4450994"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Images (2025)</a:t>
            </a:r>
          </a:p>
        </p:txBody>
      </p:sp>
      <p:sp>
        <p:nvSpPr>
          <p:cNvPr id="26" name="TextBox 25"/>
          <p:cNvSpPr txBox="1"/>
          <p:nvPr/>
        </p:nvSpPr>
        <p:spPr>
          <a:xfrm>
            <a:off x="4450994"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Processed in single calendar year</a:t>
            </a:r>
          </a:p>
        </p:txBody>
      </p:sp>
      <p:sp>
        <p:nvSpPr>
          <p:cNvPr id="27" name="Rounded Rectangle 26"/>
          <p:cNvSpPr/>
          <p:nvPr/>
        </p:nvSpPr>
        <p:spPr>
          <a:xfrm>
            <a:off x="8079028"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6188"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Sep 2025</a:t>
            </a:r>
          </a:p>
        </p:txBody>
      </p:sp>
      <p:sp>
        <p:nvSpPr>
          <p:cNvPr id="29" name="TextBox 28"/>
          <p:cNvSpPr txBox="1"/>
          <p:nvPr/>
        </p:nvSpPr>
        <p:spPr>
          <a:xfrm>
            <a:off x="8216188"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Break-Even</a:t>
            </a:r>
          </a:p>
        </p:txBody>
      </p:sp>
      <p:sp>
        <p:nvSpPr>
          <p:cNvPr id="30" name="TextBox 29"/>
          <p:cNvSpPr txBox="1"/>
          <p:nvPr/>
        </p:nvSpPr>
        <p:spPr>
          <a:xfrm>
            <a:off x="8216188"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Company reached profitability</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72 / 82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How We'd Build It — UC-08 | CONSTRUCTION</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Our OpenHands + MCP replication of the same outcome</a:t>
            </a:r>
          </a:p>
        </p:txBody>
      </p:sp>
      <p:sp>
        <p:nvSpPr>
          <p:cNvPr id="7" name="Rounded Rectangle 6"/>
          <p:cNvSpPr/>
          <p:nvPr/>
        </p:nvSpPr>
        <p:spPr>
          <a:xfrm>
            <a:off x="548640" y="1463040"/>
            <a:ext cx="2011680" cy="256032"/>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1737360" cy="256032"/>
          </a:xfrm>
          <a:prstGeom prst="rect">
            <a:avLst/>
          </a:prstGeom>
          <a:noFill/>
        </p:spPr>
        <p:txBody>
          <a:bodyPr wrap="square" anchor="ctr" lIns="0" rIns="0" tIns="0" bIns="0">
            <a:noAutofit/>
          </a:bodyPr>
          <a:lstStyle/>
          <a:p>
            <a:pPr algn="l">
              <a:lnSpc>
                <a:spcPct val="105000"/>
              </a:lnSpc>
              <a:spcBef>
                <a:spcPts val="0"/>
              </a:spcBef>
            </a:pPr>
            <a:r>
              <a:rPr sz="850" b="1" i="0">
                <a:solidFill>
                  <a:srgbClr val="FFFFFF"/>
                </a:solidFill>
                <a:latin typeface="Calibri"/>
              </a:rPr>
              <a:t>OUR OPEN ARCHITECTURE</a:t>
            </a:r>
          </a:p>
        </p:txBody>
      </p:sp>
      <p:sp>
        <p:nvSpPr>
          <p:cNvPr id="9" name="TextBox 8"/>
          <p:cNvSpPr txBox="1"/>
          <p:nvPr/>
        </p:nvSpPr>
        <p:spPr>
          <a:xfrm>
            <a:off x="548640" y="1874519"/>
            <a:ext cx="1828800"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AGENT STACK</a:t>
            </a:r>
          </a:p>
        </p:txBody>
      </p:sp>
      <p:sp>
        <p:nvSpPr>
          <p:cNvPr id="10" name="TextBox 9"/>
          <p:cNvSpPr txBox="1"/>
          <p:nvPr/>
        </p:nvSpPr>
        <p:spPr>
          <a:xfrm>
            <a:off x="548640" y="210311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progress-tracking-agent</a:t>
            </a:r>
          </a:p>
        </p:txBody>
      </p:sp>
      <p:sp>
        <p:nvSpPr>
          <p:cNvPr id="11" name="TextBox 10"/>
          <p:cNvSpPr txBox="1"/>
          <p:nvPr/>
        </p:nvSpPr>
        <p:spPr>
          <a:xfrm>
            <a:off x="548640" y="224942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Capture vs plan comparison → deviation reports (YOLOv8 + OpenCV)</a:t>
            </a:r>
          </a:p>
        </p:txBody>
      </p:sp>
      <p:sp>
        <p:nvSpPr>
          <p:cNvPr id="12" name="TextBox 11"/>
          <p:cNvSpPr txBox="1"/>
          <p:nvPr/>
        </p:nvSpPr>
        <p:spPr>
          <a:xfrm>
            <a:off x="548640" y="246887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safety-monitoring-agent</a:t>
            </a:r>
          </a:p>
        </p:txBody>
      </p:sp>
      <p:sp>
        <p:nvSpPr>
          <p:cNvPr id="13" name="TextBox 12"/>
          <p:cNvSpPr txBox="1"/>
          <p:nvPr/>
        </p:nvSpPr>
        <p:spPr>
          <a:xfrm>
            <a:off x="548640" y="261518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PPE detection, guardrail violations, zone intrusions</a:t>
            </a:r>
          </a:p>
        </p:txBody>
      </p:sp>
      <p:sp>
        <p:nvSpPr>
          <p:cNvPr id="14" name="TextBox 13"/>
          <p:cNvSpPr txBox="1"/>
          <p:nvPr/>
        </p:nvSpPr>
        <p:spPr>
          <a:xfrm>
            <a:off x="548640" y="283463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inspection-agent</a:t>
            </a:r>
          </a:p>
        </p:txBody>
      </p:sp>
      <p:sp>
        <p:nvSpPr>
          <p:cNvPr id="15" name="TextBox 14"/>
          <p:cNvSpPr txBox="1"/>
          <p:nvPr/>
        </p:nvSpPr>
        <p:spPr>
          <a:xfrm>
            <a:off x="548640" y="298094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Structural analysis, defect identification, compliance documentation</a:t>
            </a:r>
          </a:p>
        </p:txBody>
      </p:sp>
      <p:sp>
        <p:nvSpPr>
          <p:cNvPr id="16" name="TextBox 15"/>
          <p:cNvSpPr txBox="1"/>
          <p:nvPr/>
        </p:nvSpPr>
        <p:spPr>
          <a:xfrm>
            <a:off x="6278727" y="1874519"/>
            <a:ext cx="5364327"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MCP SERVERS</a:t>
            </a:r>
          </a:p>
        </p:txBody>
      </p:sp>
      <p:sp>
        <p:nvSpPr>
          <p:cNvPr id="17" name="TextBox 16"/>
          <p:cNvSpPr txBox="1"/>
          <p:nvPr/>
        </p:nvSpPr>
        <p:spPr>
          <a:xfrm>
            <a:off x="6278727" y="2103119"/>
            <a:ext cx="5364327" cy="182880"/>
          </a:xfrm>
          <a:prstGeom prst="rect">
            <a:avLst/>
          </a:prstGeom>
          <a:noFill/>
        </p:spPr>
        <p:txBody>
          <a:bodyPr wrap="square" anchor="t" lIns="0" rIns="0" tIns="0" bIns="0">
            <a:normAutofit/>
          </a:bodyPr>
          <a:lstStyle/>
          <a:p>
            <a:pPr algn="l">
              <a:lnSpc>
                <a:spcPct val="105000"/>
              </a:lnSpc>
              <a:spcBef>
                <a:spcPts val="0"/>
              </a:spcBef>
            </a:pPr>
            <a:r>
              <a:rPr sz="900" b="1" i="0">
                <a:solidFill>
                  <a:srgbClr val="F2A83B"/>
                </a:solidFill>
                <a:latin typeface="Calibri"/>
              </a:rPr>
              <a:t>  Vision pipeline MCP (YOLOv8)  [TO BUILD]</a:t>
            </a:r>
          </a:p>
        </p:txBody>
      </p:sp>
      <p:sp>
        <p:nvSpPr>
          <p:cNvPr id="18" name="TextBox 17"/>
          <p:cNvSpPr txBox="1"/>
          <p:nvPr/>
        </p:nvSpPr>
        <p:spPr>
          <a:xfrm>
            <a:off x="6278727" y="2331719"/>
            <a:ext cx="5364327" cy="182880"/>
          </a:xfrm>
          <a:prstGeom prst="rect">
            <a:avLst/>
          </a:prstGeom>
          <a:noFill/>
        </p:spPr>
        <p:txBody>
          <a:bodyPr wrap="square" anchor="t" lIns="0" rIns="0" tIns="0" bIns="0">
            <a:normAutofit/>
          </a:bodyPr>
          <a:lstStyle/>
          <a:p>
            <a:pPr algn="l">
              <a:lnSpc>
                <a:spcPct val="105000"/>
              </a:lnSpc>
              <a:spcBef>
                <a:spcPts val="0"/>
              </a:spcBef>
            </a:pPr>
            <a:r>
              <a:rPr sz="900" b="1" i="0">
                <a:solidFill>
                  <a:srgbClr val="F2A83B"/>
                </a:solidFill>
                <a:latin typeface="Calibri"/>
              </a:rPr>
              <a:t>  BIM integration MCP  [TO BUILD]</a:t>
            </a:r>
          </a:p>
        </p:txBody>
      </p:sp>
      <p:sp>
        <p:nvSpPr>
          <p:cNvPr id="19" name="TextBox 18"/>
          <p:cNvSpPr txBox="1"/>
          <p:nvPr/>
        </p:nvSpPr>
        <p:spPr>
          <a:xfrm>
            <a:off x="6278727" y="2560319"/>
            <a:ext cx="5364327" cy="182880"/>
          </a:xfrm>
          <a:prstGeom prst="rect">
            <a:avLst/>
          </a:prstGeom>
          <a:noFill/>
        </p:spPr>
        <p:txBody>
          <a:bodyPr wrap="square" anchor="t" lIns="0" rIns="0" tIns="0" bIns="0">
            <a:normAutofit/>
          </a:bodyPr>
          <a:lstStyle/>
          <a:p>
            <a:pPr algn="l">
              <a:lnSpc>
                <a:spcPct val="105000"/>
              </a:lnSpc>
              <a:spcBef>
                <a:spcPts val="0"/>
              </a:spcBef>
            </a:pPr>
            <a:r>
              <a:rPr sz="900" b="1" i="0">
                <a:solidFill>
                  <a:srgbClr val="F2A83B"/>
                </a:solidFill>
                <a:latin typeface="Calibri"/>
              </a:rPr>
              <a:t>  Procore API MCP  [TO BUILD]</a:t>
            </a:r>
          </a:p>
        </p:txBody>
      </p:sp>
      <p:sp>
        <p:nvSpPr>
          <p:cNvPr id="20" name="Rounded Rectangle 19"/>
          <p:cNvSpPr/>
          <p:nvPr/>
        </p:nvSpPr>
        <p:spPr>
          <a:xfrm>
            <a:off x="548640" y="4389120"/>
            <a:ext cx="11094415" cy="777240"/>
          </a:xfrm>
          <a:prstGeom prst="roundRect">
            <a:avLst>
              <a:gd name="adj" fmla="val 5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480560"/>
            <a:ext cx="18288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KEY DIFFERENCE</a:t>
            </a:r>
          </a:p>
        </p:txBody>
      </p:sp>
      <p:sp>
        <p:nvSpPr>
          <p:cNvPr id="22" name="TextBox 21"/>
          <p:cNvSpPr txBox="1"/>
          <p:nvPr/>
        </p:nvSpPr>
        <p:spPr>
          <a:xfrm>
            <a:off x="731520" y="4709160"/>
            <a:ext cx="10728655" cy="320040"/>
          </a:xfrm>
          <a:prstGeom prst="rect">
            <a:avLst/>
          </a:prstGeom>
          <a:noFill/>
        </p:spPr>
        <p:txBody>
          <a:bodyPr wrap="square" anchor="t" lIns="0" rIns="0" tIns="0" bIns="0">
            <a:normAutofit/>
          </a:bodyPr>
          <a:lstStyle/>
          <a:p>
            <a:pPr algn="l">
              <a:lnSpc>
                <a:spcPct val="105000"/>
              </a:lnSpc>
              <a:spcBef>
                <a:spcPts val="0"/>
              </a:spcBef>
            </a:pPr>
            <a:r>
              <a:rPr sz="1000" b="0" i="0">
                <a:solidFill>
                  <a:srgbClr val="0A1628"/>
                </a:solidFill>
                <a:latin typeface="Calibri"/>
              </a:rPr>
              <a:t>DroneDeploy's moat is 34M annotations over 13 years — not replicable. Our approach: same agent pattern with open-source CV (YOLOv8 + OpenCV) for specific site use cases, without claiming to match their corpus scale.</a:t>
            </a:r>
          </a:p>
        </p:txBody>
      </p:sp>
      <p:sp>
        <p:nvSpPr>
          <p:cNvPr id="23" name="TextBox 22"/>
          <p:cNvSpPr txBox="1"/>
          <p:nvPr/>
        </p:nvSpPr>
        <p:spPr>
          <a:xfrm>
            <a:off x="548640" y="5349240"/>
            <a:ext cx="11094415" cy="182880"/>
          </a:xfrm>
          <a:prstGeom prst="rect">
            <a:avLst/>
          </a:prstGeom>
          <a:noFill/>
        </p:spPr>
        <p:txBody>
          <a:bodyPr wrap="square" anchor="t" lIns="0" rIns="0" tIns="0" bIns="0">
            <a:normAutofit/>
          </a:bodyPr>
          <a:lstStyle/>
          <a:p>
            <a:pPr algn="l">
              <a:lnSpc>
                <a:spcPct val="105000"/>
              </a:lnSpc>
              <a:spcBef>
                <a:spcPts val="0"/>
              </a:spcBef>
            </a:pPr>
            <a:r>
              <a:rPr sz="850" b="0" i="0">
                <a:solidFill>
                  <a:srgbClr val="5B6B7C"/>
                </a:solidFill>
                <a:latin typeface="Calibri"/>
              </a:rPr>
              <a:t>Pattern: Agent(llm, tools) → Conversation(agent, workspace, plugins) | MCP config at platform level</a:t>
            </a:r>
          </a:p>
        </p:txBody>
      </p:sp>
      <p:sp>
        <p:nvSpPr>
          <p:cNvPr id="24" name="TextBox 2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73 / 82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COMPETITIVE LANDSCAPE — UC-08 | CONSTRUCTION</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18488"/>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Buildots</a:t>
            </a:r>
          </a:p>
        </p:txBody>
      </p:sp>
      <p:sp>
        <p:nvSpPr>
          <p:cNvPr id="9" name="TextBox 8"/>
          <p:cNvSpPr txBox="1"/>
          <p:nvPr/>
        </p:nvSpPr>
        <p:spPr>
          <a:xfrm>
            <a:off x="3749040" y="1618488"/>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Indoor CV</a:t>
            </a:r>
          </a:p>
        </p:txBody>
      </p:sp>
      <p:sp>
        <p:nvSpPr>
          <p:cNvPr id="10" name="TextBox 9"/>
          <p:cNvSpPr txBox="1"/>
          <p:nvPr/>
        </p:nvSpPr>
        <p:spPr>
          <a:xfrm>
            <a:off x="731520" y="1892808"/>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Progress tracking via hardhat cameras — indoor only, no outdoor/drone</a:t>
            </a:r>
          </a:p>
        </p:txBody>
      </p:sp>
      <p:sp>
        <p:nvSpPr>
          <p:cNvPr id="11" name="Rounded Rectangle 10"/>
          <p:cNvSpPr/>
          <p:nvPr/>
        </p:nvSpPr>
        <p:spPr>
          <a:xfrm>
            <a:off x="548640" y="2395728"/>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05456"/>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OpenSpace</a:t>
            </a:r>
          </a:p>
        </p:txBody>
      </p:sp>
      <p:sp>
        <p:nvSpPr>
          <p:cNvPr id="13" name="TextBox 12"/>
          <p:cNvSpPr txBox="1"/>
          <p:nvPr/>
        </p:nvSpPr>
        <p:spPr>
          <a:xfrm>
            <a:off x="3749040" y="2505456"/>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360 walk-through</a:t>
            </a:r>
          </a:p>
        </p:txBody>
      </p:sp>
      <p:sp>
        <p:nvSpPr>
          <p:cNvPr id="14" name="TextBox 13"/>
          <p:cNvSpPr txBox="1"/>
          <p:nvPr/>
        </p:nvSpPr>
        <p:spPr>
          <a:xfrm>
            <a:off x="731520" y="2779776"/>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Manual trigger, not autonomous</a:t>
            </a:r>
          </a:p>
        </p:txBody>
      </p:sp>
      <p:sp>
        <p:nvSpPr>
          <p:cNvPr id="15" name="Rounded Rectangle 14"/>
          <p:cNvSpPr/>
          <p:nvPr/>
        </p:nvSpPr>
        <p:spPr>
          <a:xfrm>
            <a:off x="548640" y="3282696"/>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392424"/>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Skydio</a:t>
            </a:r>
          </a:p>
        </p:txBody>
      </p:sp>
      <p:sp>
        <p:nvSpPr>
          <p:cNvPr id="17" name="TextBox 16"/>
          <p:cNvSpPr txBox="1"/>
          <p:nvPr/>
        </p:nvSpPr>
        <p:spPr>
          <a:xfrm>
            <a:off x="3749040" y="3392424"/>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Drone hardware</a:t>
            </a:r>
          </a:p>
        </p:txBody>
      </p:sp>
      <p:sp>
        <p:nvSpPr>
          <p:cNvPr id="18" name="TextBox 17"/>
          <p:cNvSpPr txBox="1"/>
          <p:nvPr/>
        </p:nvSpPr>
        <p:spPr>
          <a:xfrm>
            <a:off x="731520" y="3666744"/>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Autonomous drone — strong flight, limited analytics</a:t>
            </a:r>
          </a:p>
        </p:txBody>
      </p:sp>
      <p:sp>
        <p:nvSpPr>
          <p:cNvPr id="19" name="Rounded Rectangle 18"/>
          <p:cNvSpPr/>
          <p:nvPr/>
        </p:nvSpPr>
        <p:spPr>
          <a:xfrm>
            <a:off x="548640" y="4169664"/>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279392"/>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DroneDeploy edge</a:t>
            </a:r>
          </a:p>
        </p:txBody>
      </p:sp>
      <p:sp>
        <p:nvSpPr>
          <p:cNvPr id="21" name="TextBox 20"/>
          <p:cNvSpPr txBox="1"/>
          <p:nvPr/>
        </p:nvSpPr>
        <p:spPr>
          <a:xfrm>
            <a:off x="3749040" y="4279392"/>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34M annotation moat</a:t>
            </a:r>
          </a:p>
        </p:txBody>
      </p:sp>
      <p:sp>
        <p:nvSpPr>
          <p:cNvPr id="22" name="TextBox 21"/>
          <p:cNvSpPr txBox="1"/>
          <p:nvPr/>
        </p:nvSpPr>
        <p:spPr>
          <a:xfrm>
            <a:off x="731520" y="4553712"/>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13-year corpus across 180 countries — the data flywheel</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74 / 82</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432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UC-09 | CONSTRUCTION</a:t>
            </a:r>
          </a:p>
        </p:txBody>
      </p:sp>
      <p:sp>
        <p:nvSpPr>
          <p:cNvPr id="5" name="TextBox 4"/>
          <p:cNvSpPr txBox="1"/>
          <p:nvPr/>
        </p:nvSpPr>
        <p:spPr>
          <a:xfrm>
            <a:off x="548640" y="1691640"/>
            <a:ext cx="11094415" cy="731520"/>
          </a:xfrm>
          <a:prstGeom prst="rect">
            <a:avLst/>
          </a:prstGeom>
          <a:noFill/>
        </p:spPr>
        <p:txBody>
          <a:bodyPr wrap="square" anchor="t" lIns="0" rIns="0" tIns="0" bIns="0">
            <a:normAutofit/>
          </a:bodyPr>
          <a:lstStyle/>
          <a:p>
            <a:pPr algn="l">
              <a:lnSpc>
                <a:spcPct val="105000"/>
              </a:lnSpc>
              <a:spcBef>
                <a:spcPts val="0"/>
              </a:spcBef>
            </a:pPr>
            <a:r>
              <a:rPr sz="2800" b="1" i="0">
                <a:solidFill>
                  <a:srgbClr val="FFFFFF"/>
                </a:solidFill>
                <a:latin typeface="Calibri"/>
              </a:rPr>
              <a:t>BCG: AI Construction Site Assistant — 6x ROI, 48% Injury Reduction</a:t>
            </a:r>
          </a:p>
        </p:txBody>
      </p:sp>
      <p:sp>
        <p:nvSpPr>
          <p:cNvPr id="6" name="TextBox 5"/>
          <p:cNvSpPr txBox="1"/>
          <p:nvPr/>
        </p:nvSpPr>
        <p:spPr>
          <a:xfrm>
            <a:off x="548640" y="2514600"/>
            <a:ext cx="11094415" cy="274320"/>
          </a:xfrm>
          <a:prstGeom prst="rect">
            <a:avLst/>
          </a:prstGeom>
          <a:noFill/>
        </p:spPr>
        <p:txBody>
          <a:bodyPr wrap="square" anchor="t" lIns="0" rIns="0" tIns="0" bIns="0">
            <a:normAutofit/>
          </a:bodyPr>
          <a:lstStyle/>
          <a:p>
            <a:pPr algn="l">
              <a:lnSpc>
                <a:spcPct val="105000"/>
              </a:lnSpc>
              <a:spcBef>
                <a:spcPts val="0"/>
              </a:spcBef>
            </a:pPr>
            <a:r>
              <a:rPr sz="1400" b="1" i="0">
                <a:solidFill>
                  <a:srgbClr val="FFB800"/>
                </a:solidFill>
                <a:latin typeface="Calibri"/>
              </a:rPr>
              <a:t>Computer vision for risk detection, progress tracking, productivity benchmarking</a:t>
            </a:r>
          </a:p>
        </p:txBody>
      </p:sp>
      <p:sp>
        <p:nvSpPr>
          <p:cNvPr id="7" name="TextBox 6"/>
          <p:cNvSpPr txBox="1"/>
          <p:nvPr/>
        </p:nvSpPr>
        <p:spPr>
          <a:xfrm>
            <a:off x="548640" y="2926080"/>
            <a:ext cx="11094415" cy="274320"/>
          </a:xfrm>
          <a:prstGeom prst="rect">
            <a:avLst/>
          </a:prstGeom>
          <a:noFill/>
        </p:spPr>
        <p:txBody>
          <a:bodyPr wrap="square" anchor="t" lIns="0" rIns="0" tIns="0" bIns="0">
            <a:normAutofit/>
          </a:bodyPr>
          <a:lstStyle/>
          <a:p>
            <a:pPr algn="l">
              <a:lnSpc>
                <a:spcPct val="105000"/>
              </a:lnSpc>
              <a:spcBef>
                <a:spcPts val="0"/>
              </a:spcBef>
            </a:pPr>
            <a:r>
              <a:rPr sz="1100" b="0" i="0">
                <a:solidFill>
                  <a:srgbClr val="E0F7F1"/>
                </a:solidFill>
                <a:latin typeface="Calibri"/>
              </a:rPr>
              <a:t>German DevCo (BCG pilot)  |  Pilot on 2 live projects, BCG 2026 Executive Perspectives</a:t>
            </a:r>
          </a:p>
        </p:txBody>
      </p:sp>
      <p:sp>
        <p:nvSpPr>
          <p:cNvPr id="8" name="Rounded Rectangle 7"/>
          <p:cNvSpPr/>
          <p:nvPr/>
        </p:nvSpPr>
        <p:spPr>
          <a:xfrm>
            <a:off x="548640" y="3383280"/>
            <a:ext cx="2011680" cy="29260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383280"/>
            <a:ext cx="1737360" cy="292608"/>
          </a:xfrm>
          <a:prstGeom prst="rect">
            <a:avLst/>
          </a:prstGeom>
          <a:noFill/>
        </p:spPr>
        <p:txBody>
          <a:bodyPr wrap="square" anchor="ctr" lIns="0" rIns="0" tIns="0" bIns="0">
            <a:noAutofit/>
          </a:bodyPr>
          <a:lstStyle/>
          <a:p>
            <a:pPr algn="l">
              <a:lnSpc>
                <a:spcPct val="105000"/>
              </a:lnSpc>
              <a:spcBef>
                <a:spcPts val="0"/>
              </a:spcBef>
            </a:pPr>
            <a:r>
              <a:rPr sz="1000" b="1" i="0">
                <a:solidFill>
                  <a:srgbClr val="FFFFFF"/>
                </a:solidFill>
                <a:latin typeface="Calibri"/>
              </a:rPr>
              <a:t>VERTICAL SCORE: Pilot (6x ROI validated)</a:t>
            </a:r>
          </a:p>
        </p:txBody>
      </p:sp>
      <p:sp>
        <p:nvSpPr>
          <p:cNvPr id="10" name="TextBox 9"/>
          <p:cNvSpPr txBox="1"/>
          <p:nvPr/>
        </p:nvSpPr>
        <p:spPr>
          <a:xfrm>
            <a:off x="548640" y="3931920"/>
            <a:ext cx="11094415" cy="2743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Source: BCG Executive Perspectives, 2026</a:t>
            </a:r>
          </a:p>
        </p:txBody>
      </p:sp>
      <p:sp>
        <p:nvSpPr>
          <p:cNvPr id="11" name="TextBox 1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75 / 82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Poor Documentation, Manual Walks, Memory-Based Decisions</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UC-09 | CONSTRUCTION — The Problem</a:t>
            </a:r>
          </a:p>
        </p:txBody>
      </p:sp>
      <p:sp>
        <p:nvSpPr>
          <p:cNvPr id="7" name="Rounded Rectangle 6"/>
          <p:cNvSpPr/>
          <p:nvPr/>
        </p:nvSpPr>
        <p:spPr>
          <a:xfrm>
            <a:off x="548640" y="160020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160020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01</a:t>
            </a:r>
          </a:p>
        </p:txBody>
      </p:sp>
      <p:sp>
        <p:nvSpPr>
          <p:cNvPr id="9" name="TextBox 8"/>
          <p:cNvSpPr txBox="1"/>
          <p:nvPr/>
        </p:nvSpPr>
        <p:spPr>
          <a:xfrm>
            <a:off x="1060704" y="165506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Historical poor incident documentation — site walks miss events, rely on memory</a:t>
            </a:r>
          </a:p>
        </p:txBody>
      </p:sp>
      <p:sp>
        <p:nvSpPr>
          <p:cNvPr id="10" name="Rounded Rectangle 9"/>
          <p:cNvSpPr/>
          <p:nvPr/>
        </p:nvSpPr>
        <p:spPr>
          <a:xfrm>
            <a:off x="548640" y="2258568"/>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58568"/>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02</a:t>
            </a:r>
          </a:p>
        </p:txBody>
      </p:sp>
      <p:sp>
        <p:nvSpPr>
          <p:cNvPr id="12" name="TextBox 11"/>
          <p:cNvSpPr txBox="1"/>
          <p:nvPr/>
        </p:nvSpPr>
        <p:spPr>
          <a:xfrm>
            <a:off x="1060704" y="2313432"/>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Productivity benchmarking impossible without objective data across subcontractors</a:t>
            </a:r>
          </a:p>
        </p:txBody>
      </p:sp>
      <p:sp>
        <p:nvSpPr>
          <p:cNvPr id="13" name="Rounded Rectangle 12"/>
          <p:cNvSpPr/>
          <p:nvPr/>
        </p:nvSpPr>
        <p:spPr>
          <a:xfrm>
            <a:off x="548640" y="2916936"/>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 y="2916936"/>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03</a:t>
            </a:r>
          </a:p>
        </p:txBody>
      </p:sp>
      <p:sp>
        <p:nvSpPr>
          <p:cNvPr id="15" name="TextBox 14"/>
          <p:cNvSpPr txBox="1"/>
          <p:nvPr/>
        </p:nvSpPr>
        <p:spPr>
          <a:xfrm>
            <a:off x="1060704" y="2971800"/>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Manual progress reporting delays corrective action by days, not hours</a:t>
            </a:r>
          </a:p>
        </p:txBody>
      </p:sp>
      <p:sp>
        <p:nvSpPr>
          <p:cNvPr id="16" name="Rounded Rectangle 15"/>
          <p:cNvSpPr/>
          <p:nvPr/>
        </p:nvSpPr>
        <p:spPr>
          <a:xfrm>
            <a:off x="548640" y="3575304"/>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3575304"/>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04</a:t>
            </a:r>
          </a:p>
        </p:txBody>
      </p:sp>
      <p:sp>
        <p:nvSpPr>
          <p:cNvPr id="18" name="TextBox 17"/>
          <p:cNvSpPr txBox="1"/>
          <p:nvPr/>
        </p:nvSpPr>
        <p:spPr>
          <a:xfrm>
            <a:off x="1060704" y="3630168"/>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Subcontractor management: no objective comparison metric across trades</a:t>
            </a:r>
          </a:p>
        </p:txBody>
      </p:sp>
      <p:sp>
        <p:nvSpPr>
          <p:cNvPr id="19" name="Rounded Rectangle 18"/>
          <p:cNvSpPr/>
          <p:nvPr/>
        </p:nvSpPr>
        <p:spPr>
          <a:xfrm>
            <a:off x="548640" y="4233672"/>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 y="4233672"/>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05</a:t>
            </a:r>
          </a:p>
        </p:txBody>
      </p:sp>
      <p:sp>
        <p:nvSpPr>
          <p:cNvPr id="21" name="TextBox 20"/>
          <p:cNvSpPr txBox="1"/>
          <p:nvPr/>
        </p:nvSpPr>
        <p:spPr>
          <a:xfrm>
            <a:off x="1060704" y="4288536"/>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Legal liability gaps from inconsistent site documentation practices</a:t>
            </a:r>
          </a:p>
        </p:txBody>
      </p:sp>
      <p:sp>
        <p:nvSpPr>
          <p:cNvPr id="22" name="Rounded Rectangle 21"/>
          <p:cNvSpPr/>
          <p:nvPr/>
        </p:nvSpPr>
        <p:spPr>
          <a:xfrm>
            <a:off x="548640" y="4892040"/>
            <a:ext cx="384048" cy="384048"/>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4892040"/>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FFFFFF"/>
                </a:solidFill>
                <a:latin typeface="Calibri"/>
              </a:rPr>
              <a:t>06</a:t>
            </a:r>
          </a:p>
        </p:txBody>
      </p:sp>
      <p:sp>
        <p:nvSpPr>
          <p:cNvPr id="24" name="TextBox 23"/>
          <p:cNvSpPr txBox="1"/>
          <p:nvPr/>
        </p:nvSpPr>
        <p:spPr>
          <a:xfrm>
            <a:off x="1060704" y="4946904"/>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BCG models 400-700 bps margin uplift achievable across construction vertical</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76 / 82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BCG Consulting Framework — CV Risk Detection + Documentation</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UC-09 | CONSTRUCTION — How They Solved It</a:t>
            </a:r>
          </a:p>
        </p:txBody>
      </p:sp>
      <p:sp>
        <p:nvSpPr>
          <p:cNvPr id="7" name="Rounded Rectangle 6"/>
          <p:cNvSpPr/>
          <p:nvPr/>
        </p:nvSpPr>
        <p:spPr>
          <a:xfrm>
            <a:off x="548640" y="1463040"/>
            <a:ext cx="1645920" cy="256032"/>
          </a:xfrm>
          <a:prstGeom prst="roundRect">
            <a:avLst>
              <a:gd name="adj" fmla="val 4000"/>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1371600" cy="256032"/>
          </a:xfrm>
          <a:prstGeom prst="rect">
            <a:avLst/>
          </a:prstGeom>
          <a:noFill/>
        </p:spPr>
        <p:txBody>
          <a:bodyPr wrap="square" anchor="ctr" lIns="0" rIns="0" tIns="0" bIns="0">
            <a:noAutofit/>
          </a:bodyPr>
          <a:lstStyle/>
          <a:p>
            <a:pPr algn="l">
              <a:lnSpc>
                <a:spcPct val="105000"/>
              </a:lnSpc>
              <a:spcBef>
                <a:spcPts val="0"/>
              </a:spcBef>
            </a:pPr>
            <a:r>
              <a:rPr sz="850" b="1" i="0">
                <a:solidFill>
                  <a:srgbClr val="FFFFFF"/>
                </a:solidFill>
                <a:latin typeface="Calibri"/>
              </a:rPr>
              <a:t>THEIR PROPRIETARY STACK</a:t>
            </a:r>
          </a:p>
        </p:txBody>
      </p:sp>
      <p:sp>
        <p:nvSpPr>
          <p:cNvPr id="9" name="Rounded Rectangle 8"/>
          <p:cNvSpPr/>
          <p:nvPr/>
        </p:nvSpPr>
        <p:spPr>
          <a:xfrm>
            <a:off x="548640" y="1874519"/>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 y="1874519"/>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01</a:t>
            </a:r>
          </a:p>
        </p:txBody>
      </p:sp>
      <p:sp>
        <p:nvSpPr>
          <p:cNvPr id="11" name="TextBox 10"/>
          <p:cNvSpPr txBox="1"/>
          <p:nvPr/>
        </p:nvSpPr>
        <p:spPr>
          <a:xfrm>
            <a:off x="1060704" y="1929383"/>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BCG consulting framework (not a product): computer vision risk detection on pilot sites</a:t>
            </a:r>
          </a:p>
        </p:txBody>
      </p:sp>
      <p:sp>
        <p:nvSpPr>
          <p:cNvPr id="12" name="Rounded Rectangle 11"/>
          <p:cNvSpPr/>
          <p:nvPr/>
        </p:nvSpPr>
        <p:spPr>
          <a:xfrm>
            <a:off x="548640" y="2532887"/>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504" y="2532887"/>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02</a:t>
            </a:r>
          </a:p>
        </p:txBody>
      </p:sp>
      <p:sp>
        <p:nvSpPr>
          <p:cNvPr id="14" name="TextBox 13"/>
          <p:cNvSpPr txBox="1"/>
          <p:nvPr/>
        </p:nvSpPr>
        <p:spPr>
          <a:xfrm>
            <a:off x="1060704" y="2587751"/>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AI-driven progress tracking: automated documentation vs plan comparison</a:t>
            </a:r>
          </a:p>
        </p:txBody>
      </p:sp>
      <p:sp>
        <p:nvSpPr>
          <p:cNvPr id="15" name="Rounded Rectangle 14"/>
          <p:cNvSpPr/>
          <p:nvPr/>
        </p:nvSpPr>
        <p:spPr>
          <a:xfrm>
            <a:off x="548640" y="3191255"/>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 y="3191255"/>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03</a:t>
            </a:r>
          </a:p>
        </p:txBody>
      </p:sp>
      <p:sp>
        <p:nvSpPr>
          <p:cNvPr id="17" name="TextBox 16"/>
          <p:cNvSpPr txBox="1"/>
          <p:nvPr/>
        </p:nvSpPr>
        <p:spPr>
          <a:xfrm>
            <a:off x="1060704" y="3246119"/>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Productivity benchmarking: objective metrics across subcontractors and trades</a:t>
            </a:r>
          </a:p>
        </p:txBody>
      </p:sp>
      <p:sp>
        <p:nvSpPr>
          <p:cNvPr id="18" name="Rounded Rectangle 17"/>
          <p:cNvSpPr/>
          <p:nvPr/>
        </p:nvSpPr>
        <p:spPr>
          <a:xfrm>
            <a:off x="548640" y="3849623"/>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 y="3849623"/>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04</a:t>
            </a:r>
          </a:p>
        </p:txBody>
      </p:sp>
      <p:sp>
        <p:nvSpPr>
          <p:cNvPr id="20" name="TextBox 19"/>
          <p:cNvSpPr txBox="1"/>
          <p:nvPr/>
        </p:nvSpPr>
        <p:spPr>
          <a:xfrm>
            <a:off x="1060704" y="3904487"/>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Smart notifications: immediate alerts when risks or deviations detected</a:t>
            </a:r>
          </a:p>
        </p:txBody>
      </p:sp>
      <p:sp>
        <p:nvSpPr>
          <p:cNvPr id="21" name="Rounded Rectangle 20"/>
          <p:cNvSpPr/>
          <p:nvPr/>
        </p:nvSpPr>
        <p:spPr>
          <a:xfrm>
            <a:off x="548640" y="4507991"/>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 y="4507991"/>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05</a:t>
            </a:r>
          </a:p>
        </p:txBody>
      </p:sp>
      <p:sp>
        <p:nvSpPr>
          <p:cNvPr id="23" name="TextBox 22"/>
          <p:cNvSpPr txBox="1"/>
          <p:nvPr/>
        </p:nvSpPr>
        <p:spPr>
          <a:xfrm>
            <a:off x="1060704" y="4562855"/>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Validated on 2 live pilot projects by a German development company</a:t>
            </a:r>
          </a:p>
        </p:txBody>
      </p:sp>
      <p:sp>
        <p:nvSpPr>
          <p:cNvPr id="24" name="Rounded Rectangle 23"/>
          <p:cNvSpPr/>
          <p:nvPr/>
        </p:nvSpPr>
        <p:spPr>
          <a:xfrm>
            <a:off x="548640" y="5166359"/>
            <a:ext cx="384048" cy="384048"/>
          </a:xfrm>
          <a:prstGeom prst="roundRect">
            <a:avLst>
              <a:gd name="adj" fmla="val 4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 y="5166359"/>
            <a:ext cx="274320" cy="384048"/>
          </a:xfrm>
          <a:prstGeom prst="rect">
            <a:avLst/>
          </a:prstGeom>
          <a:noFill/>
        </p:spPr>
        <p:txBody>
          <a:bodyPr wrap="square" anchor="ctr" lIns="0" rIns="0" tIns="0" bIns="0">
            <a:noAutofit/>
          </a:bodyPr>
          <a:lstStyle/>
          <a:p>
            <a:pPr algn="ctr">
              <a:lnSpc>
                <a:spcPct val="105000"/>
              </a:lnSpc>
              <a:spcBef>
                <a:spcPts val="0"/>
              </a:spcBef>
            </a:pPr>
            <a:r>
              <a:rPr sz="1400" b="1" i="0">
                <a:solidFill>
                  <a:srgbClr val="0A1628"/>
                </a:solidFill>
                <a:latin typeface="Calibri"/>
              </a:rPr>
              <a:t>06</a:t>
            </a:r>
          </a:p>
        </p:txBody>
      </p:sp>
      <p:sp>
        <p:nvSpPr>
          <p:cNvPr id="26" name="TextBox 25"/>
          <p:cNvSpPr txBox="1"/>
          <p:nvPr/>
        </p:nvSpPr>
        <p:spPr>
          <a:xfrm>
            <a:off x="1060704" y="5221223"/>
            <a:ext cx="10454335" cy="329184"/>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BCG Executive Perspectives report validates 400-700 bps margin uplift potential</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77 / 82</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KEY METRICS — UC-09 | CONSTRUCTION</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6x</a:t>
            </a:r>
          </a:p>
        </p:txBody>
      </p:sp>
      <p:sp>
        <p:nvSpPr>
          <p:cNvPr id="9" name="TextBox 8"/>
          <p:cNvSpPr txBox="1"/>
          <p:nvPr/>
        </p:nvSpPr>
        <p:spPr>
          <a:xfrm>
            <a:off x="685800"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ROI</a:t>
            </a:r>
          </a:p>
        </p:txBody>
      </p:sp>
      <p:sp>
        <p:nvSpPr>
          <p:cNvPr id="10" name="TextBox 9"/>
          <p:cNvSpPr txBox="1"/>
          <p:nvPr/>
        </p:nvSpPr>
        <p:spPr>
          <a:xfrm>
            <a:off x="685800"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Across deployed pilot projects</a:t>
            </a:r>
          </a:p>
        </p:txBody>
      </p:sp>
      <p:sp>
        <p:nvSpPr>
          <p:cNvPr id="11" name="Rounded Rectangle 10"/>
          <p:cNvSpPr/>
          <p:nvPr/>
        </p:nvSpPr>
        <p:spPr>
          <a:xfrm>
            <a:off x="4313834"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50994"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12%</a:t>
            </a:r>
          </a:p>
        </p:txBody>
      </p:sp>
      <p:sp>
        <p:nvSpPr>
          <p:cNvPr id="13" name="TextBox 12"/>
          <p:cNvSpPr txBox="1"/>
          <p:nvPr/>
        </p:nvSpPr>
        <p:spPr>
          <a:xfrm>
            <a:off x="4450994"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Productivity Boost</a:t>
            </a:r>
          </a:p>
        </p:txBody>
      </p:sp>
      <p:sp>
        <p:nvSpPr>
          <p:cNvPr id="14" name="TextBox 13"/>
          <p:cNvSpPr txBox="1"/>
          <p:nvPr/>
        </p:nvSpPr>
        <p:spPr>
          <a:xfrm>
            <a:off x="4450994"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In first 6 months of deployment</a:t>
            </a:r>
          </a:p>
        </p:txBody>
      </p:sp>
      <p:sp>
        <p:nvSpPr>
          <p:cNvPr id="15" name="Rounded Rectangle 14"/>
          <p:cNvSpPr/>
          <p:nvPr/>
        </p:nvSpPr>
        <p:spPr>
          <a:xfrm>
            <a:off x="8079028" y="1508760"/>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6188" y="1618488"/>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48%</a:t>
            </a:r>
          </a:p>
        </p:txBody>
      </p:sp>
      <p:sp>
        <p:nvSpPr>
          <p:cNvPr id="17" name="TextBox 16"/>
          <p:cNvSpPr txBox="1"/>
          <p:nvPr/>
        </p:nvSpPr>
        <p:spPr>
          <a:xfrm>
            <a:off x="8216188" y="2011680"/>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Injury Reduction</a:t>
            </a:r>
          </a:p>
        </p:txBody>
      </p:sp>
      <p:sp>
        <p:nvSpPr>
          <p:cNvPr id="18" name="TextBox 17"/>
          <p:cNvSpPr txBox="1"/>
          <p:nvPr/>
        </p:nvSpPr>
        <p:spPr>
          <a:xfrm>
            <a:off x="8216188" y="2240280"/>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Over 12-month deployment period</a:t>
            </a:r>
          </a:p>
        </p:txBody>
      </p:sp>
      <p:sp>
        <p:nvSpPr>
          <p:cNvPr id="19" name="Rounded Rectangle 18"/>
          <p:cNvSpPr/>
          <p:nvPr/>
        </p:nvSpPr>
        <p:spPr>
          <a:xfrm>
            <a:off x="548640"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30%</a:t>
            </a:r>
          </a:p>
        </p:txBody>
      </p:sp>
      <p:sp>
        <p:nvSpPr>
          <p:cNvPr id="21" name="TextBox 20"/>
          <p:cNvSpPr txBox="1"/>
          <p:nvPr/>
        </p:nvSpPr>
        <p:spPr>
          <a:xfrm>
            <a:off x="685800"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Timeline Compression</a:t>
            </a:r>
          </a:p>
        </p:txBody>
      </p:sp>
      <p:sp>
        <p:nvSpPr>
          <p:cNvPr id="22" name="TextBox 21"/>
          <p:cNvSpPr txBox="1"/>
          <p:nvPr/>
        </p:nvSpPr>
        <p:spPr>
          <a:xfrm>
            <a:off x="685800"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Project timeline reduction (BCG model)</a:t>
            </a:r>
          </a:p>
        </p:txBody>
      </p:sp>
      <p:sp>
        <p:nvSpPr>
          <p:cNvPr id="23" name="Rounded Rectangle 22"/>
          <p:cNvSpPr/>
          <p:nvPr/>
        </p:nvSpPr>
        <p:spPr>
          <a:xfrm>
            <a:off x="4313834"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50994"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400-700</a:t>
            </a:r>
          </a:p>
        </p:txBody>
      </p:sp>
      <p:sp>
        <p:nvSpPr>
          <p:cNvPr id="25" name="TextBox 24"/>
          <p:cNvSpPr txBox="1"/>
          <p:nvPr/>
        </p:nvSpPr>
        <p:spPr>
          <a:xfrm>
            <a:off x="4450994"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bps Margin Uplift</a:t>
            </a:r>
          </a:p>
        </p:txBody>
      </p:sp>
      <p:sp>
        <p:nvSpPr>
          <p:cNvPr id="26" name="TextBox 25"/>
          <p:cNvSpPr txBox="1"/>
          <p:nvPr/>
        </p:nvSpPr>
        <p:spPr>
          <a:xfrm>
            <a:off x="4450994"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BCG model across construction vertical</a:t>
            </a:r>
          </a:p>
        </p:txBody>
      </p:sp>
      <p:sp>
        <p:nvSpPr>
          <p:cNvPr id="27" name="Rounded Rectangle 26"/>
          <p:cNvSpPr/>
          <p:nvPr/>
        </p:nvSpPr>
        <p:spPr>
          <a:xfrm>
            <a:off x="8079028" y="2770632"/>
            <a:ext cx="3564026" cy="1097280"/>
          </a:xfrm>
          <a:prstGeom prst="roundRect">
            <a:avLst>
              <a:gd name="adj" fmla="val 6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6188" y="2880360"/>
            <a:ext cx="3289706" cy="365760"/>
          </a:xfrm>
          <a:prstGeom prst="rect">
            <a:avLst/>
          </a:prstGeom>
          <a:noFill/>
        </p:spPr>
        <p:txBody>
          <a:bodyPr wrap="square" anchor="t" lIns="0" rIns="0" tIns="0" bIns="0">
            <a:normAutofit/>
          </a:bodyPr>
          <a:lstStyle/>
          <a:p>
            <a:pPr algn="ctr">
              <a:lnSpc>
                <a:spcPct val="105000"/>
              </a:lnSpc>
              <a:spcBef>
                <a:spcPts val="0"/>
              </a:spcBef>
            </a:pPr>
            <a:r>
              <a:rPr sz="2800" b="1" i="0">
                <a:solidFill>
                  <a:srgbClr val="00C9A7"/>
                </a:solidFill>
                <a:latin typeface="Calibri"/>
              </a:rPr>
              <a:t>2</a:t>
            </a:r>
          </a:p>
        </p:txBody>
      </p:sp>
      <p:sp>
        <p:nvSpPr>
          <p:cNvPr id="29" name="TextBox 28"/>
          <p:cNvSpPr txBox="1"/>
          <p:nvPr/>
        </p:nvSpPr>
        <p:spPr>
          <a:xfrm>
            <a:off x="8216188" y="3273552"/>
            <a:ext cx="3289706" cy="201168"/>
          </a:xfrm>
          <a:prstGeom prst="rect">
            <a:avLst/>
          </a:prstGeom>
          <a:noFill/>
        </p:spPr>
        <p:txBody>
          <a:bodyPr wrap="square" anchor="t" lIns="0" rIns="0" tIns="0" bIns="0">
            <a:normAutofit/>
          </a:bodyPr>
          <a:lstStyle/>
          <a:p>
            <a:pPr algn="ctr">
              <a:lnSpc>
                <a:spcPct val="105000"/>
              </a:lnSpc>
              <a:spcBef>
                <a:spcPts val="0"/>
              </a:spcBef>
            </a:pPr>
            <a:r>
              <a:rPr sz="1100" b="1" i="0">
                <a:solidFill>
                  <a:srgbClr val="FFFFFF"/>
                </a:solidFill>
                <a:latin typeface="Calibri"/>
              </a:rPr>
              <a:t>Live Pilots</a:t>
            </a:r>
          </a:p>
        </p:txBody>
      </p:sp>
      <p:sp>
        <p:nvSpPr>
          <p:cNvPr id="30" name="TextBox 29"/>
          <p:cNvSpPr txBox="1"/>
          <p:nvPr/>
        </p:nvSpPr>
        <p:spPr>
          <a:xfrm>
            <a:off x="8216188" y="3502152"/>
            <a:ext cx="3289706" cy="256032"/>
          </a:xfrm>
          <a:prstGeom prst="rect">
            <a:avLst/>
          </a:prstGeom>
          <a:noFill/>
        </p:spPr>
        <p:txBody>
          <a:bodyPr wrap="square" anchor="t" lIns="0" rIns="0" tIns="0" bIns="0">
            <a:normAutofit/>
          </a:bodyPr>
          <a:lstStyle/>
          <a:p>
            <a:pPr algn="ctr">
              <a:lnSpc>
                <a:spcPct val="105000"/>
              </a:lnSpc>
              <a:spcBef>
                <a:spcPts val="0"/>
              </a:spcBef>
            </a:pPr>
            <a:r>
              <a:rPr sz="850" b="0" i="0">
                <a:solidFill>
                  <a:srgbClr val="E0F7F1"/>
                </a:solidFill>
                <a:latin typeface="Calibri"/>
              </a:rPr>
              <a:t>German DevCo projects in production</a:t>
            </a:r>
          </a:p>
        </p:txBody>
      </p:sp>
      <p:sp>
        <p:nvSpPr>
          <p:cNvPr id="31" name="TextBox 3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78 / 82</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How We'd Build It — UC-09 | CONSTRUCTION</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Our OpenHands + MCP replication of the same outcome</a:t>
            </a:r>
          </a:p>
        </p:txBody>
      </p:sp>
      <p:sp>
        <p:nvSpPr>
          <p:cNvPr id="7" name="Rounded Rectangle 6"/>
          <p:cNvSpPr/>
          <p:nvPr/>
        </p:nvSpPr>
        <p:spPr>
          <a:xfrm>
            <a:off x="548640" y="1463040"/>
            <a:ext cx="2011680" cy="256032"/>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1737360" cy="256032"/>
          </a:xfrm>
          <a:prstGeom prst="rect">
            <a:avLst/>
          </a:prstGeom>
          <a:noFill/>
        </p:spPr>
        <p:txBody>
          <a:bodyPr wrap="square" anchor="ctr" lIns="0" rIns="0" tIns="0" bIns="0">
            <a:noAutofit/>
          </a:bodyPr>
          <a:lstStyle/>
          <a:p>
            <a:pPr algn="l">
              <a:lnSpc>
                <a:spcPct val="105000"/>
              </a:lnSpc>
              <a:spcBef>
                <a:spcPts val="0"/>
              </a:spcBef>
            </a:pPr>
            <a:r>
              <a:rPr sz="850" b="1" i="0">
                <a:solidFill>
                  <a:srgbClr val="FFFFFF"/>
                </a:solidFill>
                <a:latin typeface="Calibri"/>
              </a:rPr>
              <a:t>OUR OPEN ARCHITECTURE</a:t>
            </a:r>
          </a:p>
        </p:txBody>
      </p:sp>
      <p:sp>
        <p:nvSpPr>
          <p:cNvPr id="9" name="TextBox 8"/>
          <p:cNvSpPr txBox="1"/>
          <p:nvPr/>
        </p:nvSpPr>
        <p:spPr>
          <a:xfrm>
            <a:off x="548640" y="1874519"/>
            <a:ext cx="1828800"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AGENT STACK</a:t>
            </a:r>
          </a:p>
        </p:txBody>
      </p:sp>
      <p:sp>
        <p:nvSpPr>
          <p:cNvPr id="10" name="TextBox 9"/>
          <p:cNvSpPr txBox="1"/>
          <p:nvPr/>
        </p:nvSpPr>
        <p:spPr>
          <a:xfrm>
            <a:off x="548640" y="210311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risk-detection-agent</a:t>
            </a:r>
          </a:p>
        </p:txBody>
      </p:sp>
      <p:sp>
        <p:nvSpPr>
          <p:cNvPr id="11" name="TextBox 10"/>
          <p:cNvSpPr txBox="1"/>
          <p:nvPr/>
        </p:nvSpPr>
        <p:spPr>
          <a:xfrm>
            <a:off x="548640" y="224942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Real-time CV analysis → risk identification → smart notifications</a:t>
            </a:r>
          </a:p>
        </p:txBody>
      </p:sp>
      <p:sp>
        <p:nvSpPr>
          <p:cNvPr id="12" name="TextBox 11"/>
          <p:cNvSpPr txBox="1"/>
          <p:nvPr/>
        </p:nvSpPr>
        <p:spPr>
          <a:xfrm>
            <a:off x="548640" y="246887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progress-tracking-agent</a:t>
            </a:r>
          </a:p>
        </p:txBody>
      </p:sp>
      <p:sp>
        <p:nvSpPr>
          <p:cNvPr id="13" name="TextBox 12"/>
          <p:cNvSpPr txBox="1"/>
          <p:nvPr/>
        </p:nvSpPr>
        <p:spPr>
          <a:xfrm>
            <a:off x="548640" y="261518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Capture vs plan comparison → automated deviation reports</a:t>
            </a:r>
          </a:p>
        </p:txBody>
      </p:sp>
      <p:sp>
        <p:nvSpPr>
          <p:cNvPr id="14" name="TextBox 13"/>
          <p:cNvSpPr txBox="1"/>
          <p:nvPr/>
        </p:nvSpPr>
        <p:spPr>
          <a:xfrm>
            <a:off x="548640" y="2834639"/>
            <a:ext cx="2743200" cy="164592"/>
          </a:xfrm>
          <a:prstGeom prst="rect">
            <a:avLst/>
          </a:prstGeom>
          <a:noFill/>
        </p:spPr>
        <p:txBody>
          <a:bodyPr wrap="square" anchor="t" lIns="0" rIns="0" tIns="0" bIns="0">
            <a:normAutofit/>
          </a:bodyPr>
          <a:lstStyle/>
          <a:p>
            <a:pPr algn="l">
              <a:lnSpc>
                <a:spcPct val="105000"/>
              </a:lnSpc>
              <a:spcBef>
                <a:spcPts val="0"/>
              </a:spcBef>
            </a:pPr>
            <a:r>
              <a:rPr sz="900" b="1" i="0">
                <a:solidFill>
                  <a:srgbClr val="00C9A7"/>
                </a:solidFill>
                <a:latin typeface="Calibri"/>
              </a:rPr>
              <a:t>  benchmarking-agent</a:t>
            </a:r>
          </a:p>
        </p:txBody>
      </p:sp>
      <p:sp>
        <p:nvSpPr>
          <p:cNvPr id="15" name="TextBox 14"/>
          <p:cNvSpPr txBox="1"/>
          <p:nvPr/>
        </p:nvSpPr>
        <p:spPr>
          <a:xfrm>
            <a:off x="548640" y="2980943"/>
            <a:ext cx="5547207" cy="201168"/>
          </a:xfrm>
          <a:prstGeom prst="rect">
            <a:avLst/>
          </a:prstGeom>
          <a:noFill/>
        </p:spPr>
        <p:txBody>
          <a:bodyPr wrap="square" anchor="t" lIns="0" rIns="0" tIns="0" bIns="0">
            <a:normAutofit/>
          </a:bodyPr>
          <a:lstStyle/>
          <a:p>
            <a:pPr algn="l">
              <a:lnSpc>
                <a:spcPct val="105000"/>
              </a:lnSpc>
              <a:spcBef>
                <a:spcPts val="0"/>
              </a:spcBef>
            </a:pPr>
            <a:r>
              <a:rPr sz="850" b="0" i="0">
                <a:solidFill>
                  <a:srgbClr val="1B2B3C"/>
                </a:solidFill>
                <a:latin typeface="Calibri"/>
              </a:rPr>
              <a:t>    Productivity metrics per subcontractor/trade → objective comparison</a:t>
            </a:r>
          </a:p>
        </p:txBody>
      </p:sp>
      <p:sp>
        <p:nvSpPr>
          <p:cNvPr id="16" name="TextBox 15"/>
          <p:cNvSpPr txBox="1"/>
          <p:nvPr/>
        </p:nvSpPr>
        <p:spPr>
          <a:xfrm>
            <a:off x="6278727" y="1874519"/>
            <a:ext cx="5364327" cy="182880"/>
          </a:xfrm>
          <a:prstGeom prst="rect">
            <a:avLst/>
          </a:prstGeom>
          <a:noFill/>
        </p:spPr>
        <p:txBody>
          <a:bodyPr wrap="square" anchor="t" lIns="0" rIns="0" tIns="0" bIns="0">
            <a:noAutofit/>
          </a:bodyPr>
          <a:lstStyle/>
          <a:p>
            <a:pPr algn="l">
              <a:lnSpc>
                <a:spcPct val="105000"/>
              </a:lnSpc>
              <a:spcBef>
                <a:spcPts val="0"/>
              </a:spcBef>
            </a:pPr>
            <a:r>
              <a:rPr sz="1000" b="1" i="0">
                <a:solidFill>
                  <a:srgbClr val="0A1628"/>
                </a:solidFill>
                <a:latin typeface="Calibri"/>
              </a:rPr>
              <a:t>MCP SERVERS</a:t>
            </a:r>
          </a:p>
        </p:txBody>
      </p:sp>
      <p:sp>
        <p:nvSpPr>
          <p:cNvPr id="17" name="TextBox 16"/>
          <p:cNvSpPr txBox="1"/>
          <p:nvPr/>
        </p:nvSpPr>
        <p:spPr>
          <a:xfrm>
            <a:off x="6278727" y="2103119"/>
            <a:ext cx="5364327" cy="182880"/>
          </a:xfrm>
          <a:prstGeom prst="rect">
            <a:avLst/>
          </a:prstGeom>
          <a:noFill/>
        </p:spPr>
        <p:txBody>
          <a:bodyPr wrap="square" anchor="t" lIns="0" rIns="0" tIns="0" bIns="0">
            <a:normAutofit/>
          </a:bodyPr>
          <a:lstStyle/>
          <a:p>
            <a:pPr algn="l">
              <a:lnSpc>
                <a:spcPct val="105000"/>
              </a:lnSpc>
              <a:spcBef>
                <a:spcPts val="0"/>
              </a:spcBef>
            </a:pPr>
            <a:r>
              <a:rPr sz="900" b="1" i="0">
                <a:solidFill>
                  <a:srgbClr val="F2A83B"/>
                </a:solidFill>
                <a:latin typeface="Calibri"/>
              </a:rPr>
              <a:t>  CV pipeline MCP (YOLOv8)  [TO BUILD]</a:t>
            </a:r>
          </a:p>
        </p:txBody>
      </p:sp>
      <p:sp>
        <p:nvSpPr>
          <p:cNvPr id="18" name="TextBox 17"/>
          <p:cNvSpPr txBox="1"/>
          <p:nvPr/>
        </p:nvSpPr>
        <p:spPr>
          <a:xfrm>
            <a:off x="6278727" y="2331719"/>
            <a:ext cx="5364327" cy="182880"/>
          </a:xfrm>
          <a:prstGeom prst="rect">
            <a:avLst/>
          </a:prstGeom>
          <a:noFill/>
        </p:spPr>
        <p:txBody>
          <a:bodyPr wrap="square" anchor="t" lIns="0" rIns="0" tIns="0" bIns="0">
            <a:normAutofit/>
          </a:bodyPr>
          <a:lstStyle/>
          <a:p>
            <a:pPr algn="l">
              <a:lnSpc>
                <a:spcPct val="105000"/>
              </a:lnSpc>
              <a:spcBef>
                <a:spcPts val="0"/>
              </a:spcBef>
            </a:pPr>
            <a:r>
              <a:rPr sz="900" b="1" i="0">
                <a:solidFill>
                  <a:srgbClr val="F2A83B"/>
                </a:solidFill>
                <a:latin typeface="Calibri"/>
              </a:rPr>
              <a:t>  Project management MCP (BIM/ERP)  [TO BUILD]</a:t>
            </a:r>
          </a:p>
        </p:txBody>
      </p:sp>
      <p:sp>
        <p:nvSpPr>
          <p:cNvPr id="19" name="Rounded Rectangle 18"/>
          <p:cNvSpPr/>
          <p:nvPr/>
        </p:nvSpPr>
        <p:spPr>
          <a:xfrm>
            <a:off x="548640" y="4389120"/>
            <a:ext cx="11094415" cy="777240"/>
          </a:xfrm>
          <a:prstGeom prst="roundRect">
            <a:avLst>
              <a:gd name="adj" fmla="val 5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480560"/>
            <a:ext cx="1828800" cy="182880"/>
          </a:xfrm>
          <a:prstGeom prst="rect">
            <a:avLst/>
          </a:prstGeom>
          <a:noFill/>
        </p:spPr>
        <p:txBody>
          <a:bodyPr wrap="square" anchor="t" lIns="0" rIns="0" tIns="0" bIns="0">
            <a:noAutofit/>
          </a:bodyPr>
          <a:lstStyle/>
          <a:p>
            <a:pPr algn="l">
              <a:lnSpc>
                <a:spcPct val="105000"/>
              </a:lnSpc>
              <a:spcBef>
                <a:spcPts val="0"/>
              </a:spcBef>
            </a:pPr>
            <a:r>
              <a:rPr sz="1100" b="1" i="0">
                <a:solidFill>
                  <a:srgbClr val="0A1628"/>
                </a:solidFill>
                <a:latin typeface="Calibri"/>
              </a:rPr>
              <a:t>KEY DIFFERENCE</a:t>
            </a:r>
          </a:p>
        </p:txBody>
      </p:sp>
      <p:sp>
        <p:nvSpPr>
          <p:cNvPr id="21" name="TextBox 20"/>
          <p:cNvSpPr txBox="1"/>
          <p:nvPr/>
        </p:nvSpPr>
        <p:spPr>
          <a:xfrm>
            <a:off x="731520" y="4709160"/>
            <a:ext cx="10728655" cy="320040"/>
          </a:xfrm>
          <a:prstGeom prst="rect">
            <a:avLst/>
          </a:prstGeom>
          <a:noFill/>
        </p:spPr>
        <p:txBody>
          <a:bodyPr wrap="square" anchor="t" lIns="0" rIns="0" tIns="0" bIns="0">
            <a:normAutofit/>
          </a:bodyPr>
          <a:lstStyle/>
          <a:p>
            <a:pPr algn="l">
              <a:lnSpc>
                <a:spcPct val="105000"/>
              </a:lnSpc>
              <a:spcBef>
                <a:spcPts val="0"/>
              </a:spcBef>
            </a:pPr>
            <a:r>
              <a:rPr sz="1000" b="0" i="0">
                <a:solidFill>
                  <a:srgbClr val="0A1628"/>
                </a:solidFill>
                <a:latin typeface="Calibri"/>
              </a:rPr>
              <a:t>BCG validated the ROI model (400-700 bps). We'd build the actual product: lighter CV stack with OpenHands agents for risk detection + progress tracking as a services play.</a:t>
            </a:r>
          </a:p>
        </p:txBody>
      </p:sp>
      <p:sp>
        <p:nvSpPr>
          <p:cNvPr id="22" name="TextBox 21"/>
          <p:cNvSpPr txBox="1"/>
          <p:nvPr/>
        </p:nvSpPr>
        <p:spPr>
          <a:xfrm>
            <a:off x="548640" y="5349240"/>
            <a:ext cx="11094415" cy="182880"/>
          </a:xfrm>
          <a:prstGeom prst="rect">
            <a:avLst/>
          </a:prstGeom>
          <a:noFill/>
        </p:spPr>
        <p:txBody>
          <a:bodyPr wrap="square" anchor="t" lIns="0" rIns="0" tIns="0" bIns="0">
            <a:normAutofit/>
          </a:bodyPr>
          <a:lstStyle/>
          <a:p>
            <a:pPr algn="l">
              <a:lnSpc>
                <a:spcPct val="105000"/>
              </a:lnSpc>
              <a:spcBef>
                <a:spcPts val="0"/>
              </a:spcBef>
            </a:pPr>
            <a:r>
              <a:rPr sz="850" b="0" i="0">
                <a:solidFill>
                  <a:srgbClr val="5B6B7C"/>
                </a:solidFill>
                <a:latin typeface="Calibri"/>
              </a:rPr>
              <a:t>Pattern: Agent(llm, tools) → Conversation(agent, workspace, plugins) | MCP config at platform level</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79 / 82</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COMPETITIVE LANDSCAPE — UC-09 | CONSTRUCTION</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18488"/>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DroneDeploy</a:t>
            </a:r>
          </a:p>
        </p:txBody>
      </p:sp>
      <p:sp>
        <p:nvSpPr>
          <p:cNvPr id="9" name="TextBox 8"/>
          <p:cNvSpPr txBox="1"/>
          <p:nvPr/>
        </p:nvSpPr>
        <p:spPr>
          <a:xfrm>
            <a:off x="3749040" y="1618488"/>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Market leader, 34M annotations</a:t>
            </a:r>
          </a:p>
        </p:txBody>
      </p:sp>
      <p:sp>
        <p:nvSpPr>
          <p:cNvPr id="10" name="TextBox 9"/>
          <p:cNvSpPr txBox="1"/>
          <p:nvPr/>
        </p:nvSpPr>
        <p:spPr>
          <a:xfrm>
            <a:off x="731520" y="1892808"/>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The benchmark for construction AI — autonomous capture + AI agents</a:t>
            </a:r>
          </a:p>
        </p:txBody>
      </p:sp>
      <p:sp>
        <p:nvSpPr>
          <p:cNvPr id="11" name="Rounded Rectangle 10"/>
          <p:cNvSpPr/>
          <p:nvPr/>
        </p:nvSpPr>
        <p:spPr>
          <a:xfrm>
            <a:off x="548640" y="2395728"/>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05456"/>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Buildots</a:t>
            </a:r>
          </a:p>
        </p:txBody>
      </p:sp>
      <p:sp>
        <p:nvSpPr>
          <p:cNvPr id="13" name="TextBox 12"/>
          <p:cNvSpPr txBox="1"/>
          <p:nvPr/>
        </p:nvSpPr>
        <p:spPr>
          <a:xfrm>
            <a:off x="3749040" y="2505456"/>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Indoor progress tracking</a:t>
            </a:r>
          </a:p>
        </p:txBody>
      </p:sp>
      <p:sp>
        <p:nvSpPr>
          <p:cNvPr id="14" name="TextBox 13"/>
          <p:cNvSpPr txBox="1"/>
          <p:nvPr/>
        </p:nvSpPr>
        <p:spPr>
          <a:xfrm>
            <a:off x="731520" y="2779776"/>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Hardhat cameras — strong indoor, limited outdoor/safety</a:t>
            </a:r>
          </a:p>
        </p:txBody>
      </p:sp>
      <p:sp>
        <p:nvSpPr>
          <p:cNvPr id="15" name="Rounded Rectangle 14"/>
          <p:cNvSpPr/>
          <p:nvPr/>
        </p:nvSpPr>
        <p:spPr>
          <a:xfrm>
            <a:off x="548640" y="3282696"/>
            <a:ext cx="11094415" cy="777240"/>
          </a:xfrm>
          <a:prstGeom prst="roundRect">
            <a:avLst>
              <a:gd name="adj" fmla="val 5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392424"/>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OpenSpace</a:t>
            </a:r>
          </a:p>
        </p:txBody>
      </p:sp>
      <p:sp>
        <p:nvSpPr>
          <p:cNvPr id="17" name="TextBox 16"/>
          <p:cNvSpPr txBox="1"/>
          <p:nvPr/>
        </p:nvSpPr>
        <p:spPr>
          <a:xfrm>
            <a:off x="3749040" y="3392424"/>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5B6B7C"/>
                </a:solidFill>
                <a:latin typeface="Calibri"/>
              </a:rPr>
              <a:t>360 capture</a:t>
            </a:r>
          </a:p>
        </p:txBody>
      </p:sp>
      <p:sp>
        <p:nvSpPr>
          <p:cNvPr id="18" name="TextBox 17"/>
          <p:cNvSpPr txBox="1"/>
          <p:nvPr/>
        </p:nvSpPr>
        <p:spPr>
          <a:xfrm>
            <a:off x="731520" y="3666744"/>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1B2B3C"/>
                </a:solidFill>
                <a:latin typeface="Calibri"/>
              </a:rPr>
              <a:t>Manual walk-through — not automated, not real-time</a:t>
            </a:r>
          </a:p>
        </p:txBody>
      </p:sp>
      <p:sp>
        <p:nvSpPr>
          <p:cNvPr id="19" name="Rounded Rectangle 18"/>
          <p:cNvSpPr/>
          <p:nvPr/>
        </p:nvSpPr>
        <p:spPr>
          <a:xfrm>
            <a:off x="548640" y="4169664"/>
            <a:ext cx="11094415" cy="77724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279392"/>
            <a:ext cx="2743200" cy="219456"/>
          </a:xfrm>
          <a:prstGeom prst="rect">
            <a:avLst/>
          </a:prstGeom>
          <a:noFill/>
        </p:spPr>
        <p:txBody>
          <a:bodyPr wrap="square" anchor="t" lIns="0" rIns="0" tIns="0" bIns="0">
            <a:normAutofit/>
          </a:bodyPr>
          <a:lstStyle/>
          <a:p>
            <a:pPr algn="l">
              <a:lnSpc>
                <a:spcPct val="105000"/>
              </a:lnSpc>
              <a:spcBef>
                <a:spcPts val="0"/>
              </a:spcBef>
            </a:pPr>
            <a:r>
              <a:rPr sz="1300" b="1" i="0">
                <a:solidFill>
                  <a:srgbClr val="FFFFFF"/>
                </a:solidFill>
                <a:latin typeface="Calibri"/>
              </a:rPr>
              <a:t>Our positioning</a:t>
            </a:r>
          </a:p>
        </p:txBody>
      </p:sp>
      <p:sp>
        <p:nvSpPr>
          <p:cNvPr id="21" name="TextBox 20"/>
          <p:cNvSpPr txBox="1"/>
          <p:nvPr/>
        </p:nvSpPr>
        <p:spPr>
          <a:xfrm>
            <a:off x="3749040" y="4279392"/>
            <a:ext cx="2286000" cy="219456"/>
          </a:xfrm>
          <a:prstGeom prst="rect">
            <a:avLst/>
          </a:prstGeom>
          <a:noFill/>
        </p:spPr>
        <p:txBody>
          <a:bodyPr wrap="square" anchor="t" lIns="0" rIns="0" tIns="0" bIns="0">
            <a:normAutofit/>
          </a:bodyPr>
          <a:lstStyle/>
          <a:p>
            <a:pPr algn="l">
              <a:lnSpc>
                <a:spcPct val="105000"/>
              </a:lnSpc>
              <a:spcBef>
                <a:spcPts val="0"/>
              </a:spcBef>
            </a:pPr>
            <a:r>
              <a:rPr sz="1000" b="1" i="0">
                <a:solidFill>
                  <a:srgbClr val="FFB800"/>
                </a:solidFill>
                <a:latin typeface="Calibri"/>
              </a:rPr>
              <a:t>BCG-validated ROI</a:t>
            </a:r>
          </a:p>
        </p:txBody>
      </p:sp>
      <p:sp>
        <p:nvSpPr>
          <p:cNvPr id="22" name="TextBox 21"/>
          <p:cNvSpPr txBox="1"/>
          <p:nvPr/>
        </p:nvSpPr>
        <p:spPr>
          <a:xfrm>
            <a:off x="731520" y="4553712"/>
            <a:ext cx="10728655" cy="274320"/>
          </a:xfrm>
          <a:prstGeom prst="rect">
            <a:avLst/>
          </a:prstGeom>
          <a:noFill/>
        </p:spPr>
        <p:txBody>
          <a:bodyPr wrap="square" anchor="t" lIns="0" rIns="0" tIns="0" bIns="0">
            <a:normAutofit/>
          </a:bodyPr>
          <a:lstStyle/>
          <a:p>
            <a:pPr algn="l">
              <a:lnSpc>
                <a:spcPct val="105000"/>
              </a:lnSpc>
              <a:spcBef>
                <a:spcPts val="0"/>
              </a:spcBef>
            </a:pPr>
            <a:r>
              <a:rPr sz="950" b="0" i="0">
                <a:solidFill>
                  <a:srgbClr val="FFFFFF"/>
                </a:solidFill>
                <a:latin typeface="Calibri"/>
              </a:rPr>
              <a:t>BCG validates 400-700 bps uplift — we build the product</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80 / 82</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786384"/>
          </a:xfrm>
          <a:prstGeom prst="rect">
            <a:avLst/>
          </a:prstGeom>
          <a:noFill/>
        </p:spPr>
        <p:txBody>
          <a:bodyPr wrap="square" anchor="t" lIns="0" rIns="0" tIns="0" bIns="0">
            <a:normAutofit/>
          </a:bodyPr>
          <a:lstStyle/>
          <a:p>
            <a:pPr algn="l">
              <a:lnSpc>
                <a:spcPct val="105000"/>
              </a:lnSpc>
              <a:spcBef>
                <a:spcPts val="0"/>
              </a:spcBef>
            </a:pPr>
            <a:r>
              <a:rPr sz="1900" b="1" i="0">
                <a:solidFill>
                  <a:srgbClr val="0A1628"/>
                </a:solidFill>
                <a:latin typeface="Calibri"/>
              </a:rPr>
              <a:t>WHAT THE WINNERS HAVE IN COMMON</a:t>
            </a:r>
          </a:p>
        </p:txBody>
      </p:sp>
      <p:sp>
        <p:nvSpPr>
          <p:cNvPr id="5" name="Rectangle 4"/>
          <p:cNvSpPr/>
          <p:nvPr/>
        </p:nvSpPr>
        <p:spPr>
          <a:xfrm>
            <a:off x="548640" y="107899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43584"/>
            <a:ext cx="11094415" cy="237744"/>
          </a:xfrm>
          <a:prstGeom prst="rect">
            <a:avLst/>
          </a:prstGeom>
          <a:noFill/>
        </p:spPr>
        <p:txBody>
          <a:bodyPr wrap="square" anchor="t" lIns="0" rIns="0" tIns="0" bIns="0">
            <a:normAutofit/>
          </a:bodyPr>
          <a:lstStyle/>
          <a:p>
            <a:pPr algn="l">
              <a:lnSpc>
                <a:spcPct val="105000"/>
              </a:lnSpc>
              <a:spcBef>
                <a:spcPts val="0"/>
              </a:spcBef>
            </a:pPr>
            <a:r>
              <a:rPr sz="1080" b="0" i="0">
                <a:solidFill>
                  <a:srgbClr val="5B6B7C"/>
                </a:solidFill>
                <a:latin typeface="Calibri"/>
              </a:rPr>
              <a:t/>
            </a:r>
          </a:p>
        </p:txBody>
      </p:sp>
      <p:sp>
        <p:nvSpPr>
          <p:cNvPr id="7" name="Rounded Rectangle 6"/>
          <p:cNvSpPr/>
          <p:nvPr/>
        </p:nvSpPr>
        <p:spPr>
          <a:xfrm>
            <a:off x="548640" y="1508760"/>
            <a:ext cx="457200" cy="457200"/>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08760"/>
            <a:ext cx="365760" cy="457200"/>
          </a:xfrm>
          <a:prstGeom prst="rect">
            <a:avLst/>
          </a:prstGeom>
          <a:noFill/>
        </p:spPr>
        <p:txBody>
          <a:bodyPr wrap="square" anchor="ctr" lIns="0" rIns="0" tIns="0" bIns="0">
            <a:noAutofit/>
          </a:bodyPr>
          <a:lstStyle/>
          <a:p>
            <a:pPr algn="ctr">
              <a:lnSpc>
                <a:spcPct val="105000"/>
              </a:lnSpc>
              <a:spcBef>
                <a:spcPts val="0"/>
              </a:spcBef>
            </a:pPr>
            <a:r>
              <a:rPr sz="1600" b="1" i="0">
                <a:solidFill>
                  <a:srgbClr val="FFFFFF"/>
                </a:solidFill>
                <a:latin typeface="Calibri"/>
              </a:rPr>
              <a:t>01</a:t>
            </a:r>
          </a:p>
        </p:txBody>
      </p:sp>
      <p:sp>
        <p:nvSpPr>
          <p:cNvPr id="9" name="TextBox 8"/>
          <p:cNvSpPr txBox="1"/>
          <p:nvPr/>
        </p:nvSpPr>
        <p:spPr>
          <a:xfrm>
            <a:off x="1143000" y="1545336"/>
            <a:ext cx="10362895" cy="23774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Define the number before writing code</a:t>
            </a:r>
          </a:p>
        </p:txBody>
      </p:sp>
      <p:sp>
        <p:nvSpPr>
          <p:cNvPr id="10" name="TextBox 9"/>
          <p:cNvSpPr txBox="1"/>
          <p:nvPr/>
        </p:nvSpPr>
        <p:spPr>
          <a:xfrm>
            <a:off x="1143000" y="1801368"/>
            <a:ext cx="10362895" cy="457200"/>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TD Bank: processing hours. C.H. Robinson: quote time. Unilever: downtime %. A metric with a baseline before day 1.</a:t>
            </a:r>
          </a:p>
        </p:txBody>
      </p:sp>
      <p:sp>
        <p:nvSpPr>
          <p:cNvPr id="11" name="Rounded Rectangle 10"/>
          <p:cNvSpPr/>
          <p:nvPr/>
        </p:nvSpPr>
        <p:spPr>
          <a:xfrm>
            <a:off x="548640" y="2468880"/>
            <a:ext cx="457200" cy="457200"/>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468880"/>
            <a:ext cx="365760" cy="457200"/>
          </a:xfrm>
          <a:prstGeom prst="rect">
            <a:avLst/>
          </a:prstGeom>
          <a:noFill/>
        </p:spPr>
        <p:txBody>
          <a:bodyPr wrap="square" anchor="ctr" lIns="0" rIns="0" tIns="0" bIns="0">
            <a:noAutofit/>
          </a:bodyPr>
          <a:lstStyle/>
          <a:p>
            <a:pPr algn="ctr">
              <a:lnSpc>
                <a:spcPct val="105000"/>
              </a:lnSpc>
              <a:spcBef>
                <a:spcPts val="0"/>
              </a:spcBef>
            </a:pPr>
            <a:r>
              <a:rPr sz="1600" b="1" i="0">
                <a:solidFill>
                  <a:srgbClr val="FFFFFF"/>
                </a:solidFill>
                <a:latin typeface="Calibri"/>
              </a:rPr>
              <a:t>02</a:t>
            </a:r>
          </a:p>
        </p:txBody>
      </p:sp>
      <p:sp>
        <p:nvSpPr>
          <p:cNvPr id="13" name="TextBox 12"/>
          <p:cNvSpPr txBox="1"/>
          <p:nvPr/>
        </p:nvSpPr>
        <p:spPr>
          <a:xfrm>
            <a:off x="1143000" y="2505456"/>
            <a:ext cx="10362895" cy="23774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Automate the boring part, not the judgment</a:t>
            </a:r>
          </a:p>
        </p:txBody>
      </p:sp>
      <p:sp>
        <p:nvSpPr>
          <p:cNvPr id="14" name="TextBox 13"/>
          <p:cNvSpPr txBox="1"/>
          <p:nvPr/>
        </p:nvSpPr>
        <p:spPr>
          <a:xfrm>
            <a:off x="1143000" y="2761488"/>
            <a:ext cx="10362895" cy="457200"/>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AI handles extraction, matching, triage. Lawyers still decide. Underwriters still sign. Superintendents still prioritize.</a:t>
            </a:r>
          </a:p>
        </p:txBody>
      </p:sp>
      <p:sp>
        <p:nvSpPr>
          <p:cNvPr id="15" name="Rounded Rectangle 14"/>
          <p:cNvSpPr/>
          <p:nvPr/>
        </p:nvSpPr>
        <p:spPr>
          <a:xfrm>
            <a:off x="548640" y="3429000"/>
            <a:ext cx="457200" cy="457200"/>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429000"/>
            <a:ext cx="365760" cy="457200"/>
          </a:xfrm>
          <a:prstGeom prst="rect">
            <a:avLst/>
          </a:prstGeom>
          <a:noFill/>
        </p:spPr>
        <p:txBody>
          <a:bodyPr wrap="square" anchor="ctr" lIns="0" rIns="0" tIns="0" bIns="0">
            <a:noAutofit/>
          </a:bodyPr>
          <a:lstStyle/>
          <a:p>
            <a:pPr algn="ctr">
              <a:lnSpc>
                <a:spcPct val="105000"/>
              </a:lnSpc>
              <a:spcBef>
                <a:spcPts val="0"/>
              </a:spcBef>
            </a:pPr>
            <a:r>
              <a:rPr sz="1600" b="1" i="0">
                <a:solidFill>
                  <a:srgbClr val="FFFFFF"/>
                </a:solidFill>
                <a:latin typeface="Calibri"/>
              </a:rPr>
              <a:t>03</a:t>
            </a:r>
          </a:p>
        </p:txBody>
      </p:sp>
      <p:sp>
        <p:nvSpPr>
          <p:cNvPr id="17" name="TextBox 16"/>
          <p:cNvSpPr txBox="1"/>
          <p:nvPr/>
        </p:nvSpPr>
        <p:spPr>
          <a:xfrm>
            <a:off x="1143000" y="3465576"/>
            <a:ext cx="10362895" cy="23774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Proprietary data is the moat, not the model</a:t>
            </a:r>
          </a:p>
        </p:txBody>
      </p:sp>
      <p:sp>
        <p:nvSpPr>
          <p:cNvPr id="18" name="TextBox 17"/>
          <p:cNvSpPr txBox="1"/>
          <p:nvPr/>
        </p:nvSpPr>
        <p:spPr>
          <a:xfrm>
            <a:off x="1143000" y="3721608"/>
            <a:ext cx="10362895" cy="457200"/>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DroneDeploy 34M annotations. JPMorgan 9 years of contract data. Same models, different data, wildly different outcomes.</a:t>
            </a:r>
          </a:p>
        </p:txBody>
      </p:sp>
      <p:sp>
        <p:nvSpPr>
          <p:cNvPr id="19" name="Rounded Rectangle 18"/>
          <p:cNvSpPr/>
          <p:nvPr/>
        </p:nvSpPr>
        <p:spPr>
          <a:xfrm>
            <a:off x="548640" y="4389120"/>
            <a:ext cx="457200" cy="457200"/>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389120"/>
            <a:ext cx="365760" cy="457200"/>
          </a:xfrm>
          <a:prstGeom prst="rect">
            <a:avLst/>
          </a:prstGeom>
          <a:noFill/>
        </p:spPr>
        <p:txBody>
          <a:bodyPr wrap="square" anchor="ctr" lIns="0" rIns="0" tIns="0" bIns="0">
            <a:noAutofit/>
          </a:bodyPr>
          <a:lstStyle/>
          <a:p>
            <a:pPr algn="ctr">
              <a:lnSpc>
                <a:spcPct val="105000"/>
              </a:lnSpc>
              <a:spcBef>
                <a:spcPts val="0"/>
              </a:spcBef>
            </a:pPr>
            <a:r>
              <a:rPr sz="1600" b="1" i="0">
                <a:solidFill>
                  <a:srgbClr val="FFFFFF"/>
                </a:solidFill>
                <a:latin typeface="Calibri"/>
              </a:rPr>
              <a:t>04</a:t>
            </a:r>
          </a:p>
        </p:txBody>
      </p:sp>
      <p:sp>
        <p:nvSpPr>
          <p:cNvPr id="21" name="TextBox 20"/>
          <p:cNvSpPr txBox="1"/>
          <p:nvPr/>
        </p:nvSpPr>
        <p:spPr>
          <a:xfrm>
            <a:off x="1143000" y="4425696"/>
            <a:ext cx="10362895" cy="23774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Composite AI beats pure LLM</a:t>
            </a:r>
          </a:p>
        </p:txBody>
      </p:sp>
      <p:sp>
        <p:nvSpPr>
          <p:cNvPr id="22" name="TextBox 21"/>
          <p:cNvSpPr txBox="1"/>
          <p:nvPr/>
        </p:nvSpPr>
        <p:spPr>
          <a:xfrm>
            <a:off x="1143000" y="4681728"/>
            <a:ext cx="10362895" cy="457200"/>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TD Bank: deterministic math for arithmetic, LLM for reading. Unilever: XGBoost+LSTM ensemble, not single model. Use the right tool per sub-task.</a:t>
            </a:r>
          </a:p>
        </p:txBody>
      </p:sp>
      <p:sp>
        <p:nvSpPr>
          <p:cNvPr id="23" name="Rounded Rectangle 22"/>
          <p:cNvSpPr/>
          <p:nvPr/>
        </p:nvSpPr>
        <p:spPr>
          <a:xfrm>
            <a:off x="548640" y="5349240"/>
            <a:ext cx="457200" cy="457200"/>
          </a:xfrm>
          <a:prstGeom prst="roundRect">
            <a:avLst>
              <a:gd name="adj" fmla="val 4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349240"/>
            <a:ext cx="365760" cy="457200"/>
          </a:xfrm>
          <a:prstGeom prst="rect">
            <a:avLst/>
          </a:prstGeom>
          <a:noFill/>
        </p:spPr>
        <p:txBody>
          <a:bodyPr wrap="square" anchor="ctr" lIns="0" rIns="0" tIns="0" bIns="0">
            <a:noAutofit/>
          </a:bodyPr>
          <a:lstStyle/>
          <a:p>
            <a:pPr algn="ctr">
              <a:lnSpc>
                <a:spcPct val="105000"/>
              </a:lnSpc>
              <a:spcBef>
                <a:spcPts val="0"/>
              </a:spcBef>
            </a:pPr>
            <a:r>
              <a:rPr sz="1600" b="1" i="0">
                <a:solidFill>
                  <a:srgbClr val="FFFFFF"/>
                </a:solidFill>
                <a:latin typeface="Calibri"/>
              </a:rPr>
              <a:t>05</a:t>
            </a:r>
          </a:p>
        </p:txBody>
      </p:sp>
      <p:sp>
        <p:nvSpPr>
          <p:cNvPr id="25" name="TextBox 24"/>
          <p:cNvSpPr txBox="1"/>
          <p:nvPr/>
        </p:nvSpPr>
        <p:spPr>
          <a:xfrm>
            <a:off x="1143000" y="5385816"/>
            <a:ext cx="10362895" cy="23774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Trust is a deployment phase, not a launch event</a:t>
            </a:r>
          </a:p>
        </p:txBody>
      </p:sp>
      <p:sp>
        <p:nvSpPr>
          <p:cNvPr id="26" name="TextBox 25"/>
          <p:cNvSpPr txBox="1"/>
          <p:nvPr/>
        </p:nvSpPr>
        <p:spPr>
          <a:xfrm>
            <a:off x="1143000" y="5641848"/>
            <a:ext cx="10362895" cy="457200"/>
          </a:xfrm>
          <a:prstGeom prst="rect">
            <a:avLst/>
          </a:prstGeom>
          <a:noFill/>
        </p:spPr>
        <p:txBody>
          <a:bodyPr wrap="square" anchor="t" lIns="0" rIns="0" tIns="0" bIns="0">
            <a:normAutofit/>
          </a:bodyPr>
          <a:lstStyle/>
          <a:p>
            <a:pPr algn="l">
              <a:lnSpc>
                <a:spcPct val="105000"/>
              </a:lnSpc>
              <a:spcBef>
                <a:spcPts val="0"/>
              </a:spcBef>
            </a:pPr>
            <a:r>
              <a:rPr sz="1000" b="0" i="0">
                <a:solidFill>
                  <a:srgbClr val="1B2B3C"/>
                </a:solidFill>
                <a:latin typeface="Calibri"/>
              </a:rPr>
              <a:t>Unilever: 6-month technician trust-building before full reliance. Budget time for humans to catch up with the machine.</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81 / 82</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1094415" cy="914400"/>
          </a:xfrm>
          <a:prstGeom prst="rect">
            <a:avLst/>
          </a:prstGeom>
          <a:noFill/>
        </p:spPr>
        <p:txBody>
          <a:bodyPr wrap="square" anchor="t" lIns="0" rIns="0" tIns="0" bIns="0">
            <a:normAutofit/>
          </a:bodyPr>
          <a:lstStyle/>
          <a:p>
            <a:pPr algn="l">
              <a:lnSpc>
                <a:spcPct val="105000"/>
              </a:lnSpc>
              <a:spcBef>
                <a:spcPts val="0"/>
              </a:spcBef>
            </a:pPr>
            <a:r>
              <a:rPr sz="3000" b="1" i="0">
                <a:solidFill>
                  <a:srgbClr val="FFFFFF"/>
                </a:solidFill>
                <a:latin typeface="Calibri"/>
              </a:rPr>
              <a:t>The best AI project is the one that actually ships.</a:t>
            </a:r>
          </a:p>
        </p:txBody>
      </p:sp>
      <p:sp>
        <p:nvSpPr>
          <p:cNvPr id="5" name="TextBox 4"/>
          <p:cNvSpPr txBox="1"/>
          <p:nvPr/>
        </p:nvSpPr>
        <p:spPr>
          <a:xfrm>
            <a:off x="548640" y="2834640"/>
            <a:ext cx="11094415" cy="731520"/>
          </a:xfrm>
          <a:prstGeom prst="rect">
            <a:avLst/>
          </a:prstGeom>
          <a:noFill/>
        </p:spPr>
        <p:txBody>
          <a:bodyPr wrap="square" anchor="t" lIns="0" rIns="0" tIns="0" bIns="0">
            <a:normAutofit/>
          </a:bodyPr>
          <a:lstStyle/>
          <a:p>
            <a:pPr algn="l">
              <a:lnSpc>
                <a:spcPct val="120000"/>
              </a:lnSpc>
              <a:spcBef>
                <a:spcPts val="0"/>
              </a:spcBef>
            </a:pPr>
            <a:r>
              <a:rPr sz="1400" b="0" i="0">
                <a:solidFill>
                  <a:srgbClr val="E0F7F1"/>
                </a:solidFill>
                <a:latin typeface="Calibri"/>
              </a:rPr>
              <a:t>Not the one with the cleanest architecture, the most sophisticated model,
or the biggest budget. The one that ships. With a number attached.</a:t>
            </a:r>
          </a:p>
        </p:txBody>
      </p:sp>
      <p:sp>
        <p:nvSpPr>
          <p:cNvPr id="6" name="TextBox 5"/>
          <p:cNvSpPr txBox="1"/>
          <p:nvPr/>
        </p:nvSpPr>
        <p:spPr>
          <a:xfrm>
            <a:off x="548640" y="3840480"/>
            <a:ext cx="11094415" cy="365760"/>
          </a:xfrm>
          <a:prstGeom prst="rect">
            <a:avLst/>
          </a:prstGeom>
          <a:noFill/>
        </p:spPr>
        <p:txBody>
          <a:bodyPr wrap="square" anchor="t" lIns="0" rIns="0" tIns="0" bIns="0">
            <a:noAutofit/>
          </a:bodyPr>
          <a:lstStyle/>
          <a:p>
            <a:pPr algn="ctr">
              <a:lnSpc>
                <a:spcPct val="105000"/>
              </a:lnSpc>
              <a:spcBef>
                <a:spcPts val="0"/>
              </a:spcBef>
            </a:pPr>
            <a:r>
              <a:rPr sz="1600" b="1" i="0">
                <a:solidFill>
                  <a:srgbClr val="FFB800"/>
                </a:solidFill>
                <a:latin typeface="Calibri"/>
              </a:rPr>
              <a:t>10 use cases. 5 industries. One honest architecture.</a:t>
            </a:r>
          </a:p>
        </p:txBody>
      </p:sp>
      <p:sp>
        <p:nvSpPr>
          <p:cNvPr id="7" name="TextBox 6"/>
          <p:cNvSpPr txBox="1"/>
          <p:nvPr/>
        </p:nvSpPr>
        <p:spPr>
          <a:xfrm>
            <a:off x="548640" y="4754880"/>
            <a:ext cx="11094415" cy="365760"/>
          </a:xfrm>
          <a:prstGeom prst="rect">
            <a:avLst/>
          </a:prstGeom>
          <a:noFill/>
        </p:spPr>
        <p:txBody>
          <a:bodyPr wrap="square" anchor="t" lIns="0" rIns="0" tIns="0" bIns="0">
            <a:noAutofit/>
          </a:bodyPr>
          <a:lstStyle/>
          <a:p>
            <a:pPr algn="ctr">
              <a:lnSpc>
                <a:spcPct val="105000"/>
              </a:lnSpc>
              <a:spcBef>
                <a:spcPts val="0"/>
              </a:spcBef>
            </a:pPr>
            <a:r>
              <a:rPr sz="1800" b="1" i="0">
                <a:solidFill>
                  <a:srgbClr val="FFFFFF"/>
                </a:solidFill>
                <a:latin typeface="Calibri"/>
              </a:rPr>
              <a:t>AI Market Research</a:t>
            </a:r>
          </a:p>
        </p:txBody>
      </p:sp>
      <p:sp>
        <p:nvSpPr>
          <p:cNvPr id="8" name="TextBox 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82 / 82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