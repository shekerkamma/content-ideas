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01  ·  MANUFACTURING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1215" y="201168"/>
            <a:ext cx="1371600" cy="274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2655" y="2011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SCORE: 32/35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695" y="201168"/>
            <a:ext cx="1737360" cy="274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201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$5-10K/mo per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From Reactive to Predictive — Two AI Wedges That Ship in Weeks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987552"/>
            <a:ext cx="10972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Predictive maintenance + visual quality inspection — production-proven, MCP-connected, SAP-integrated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Predictive Maintenance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Unilever (Brazil)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$2.3M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saved annually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9525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4389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4389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prediction accuracy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753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239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6.5mo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239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payback period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Sensor data (MQTT/OPC-UA) → anomaly detection → SAP PM work orders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52-endpoint MCP server bridges PdM models to planner workflows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Started with 1 asset family at Indaiatuba, expanded to 7+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Visual Quality Inspection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5887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Hyundai Framework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588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99.2%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detection accuracy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3892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8756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false positive 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189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76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1.2ms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76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edge inference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5887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YOLOv8 on Jetson Orin NX — real-time line-speed defect detection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Active learning: human corrections feed model retraining pipeline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SAP MES integration for quality holds + disposition routing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3883045" cy="86868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376672"/>
            <a:ext cx="35538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BUYER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05272"/>
            <a:ext cx="3553861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VP Manufacturing · Plant Manager · VP Quality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565" y="5285232"/>
            <a:ext cx="702848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9157" y="5376672"/>
            <a:ext cx="669930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MARKET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9157" y="5605272"/>
            <a:ext cx="669930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PdM market: $2.6B → $19.3B by 2032 (39.5% CAGR). BMW AIQX deployed across all plants worldwide.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02  · 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1215" y="201168"/>
            <a:ext cx="1371600" cy="274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2655" y="2011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SCORE: Viable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695" y="201168"/>
            <a:ext cx="1737360" cy="274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201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$3-5K/mo per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Automate the Bureaucracy, Augment the Clinician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987552"/>
            <a:ext cx="10972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Patient intake automation + clinical AI sepsis detection — HIPAA-compliant, FHIR-native, clinician-in-the-loop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Patient Intake Automation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Reference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staff time saved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9525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4389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&lt;30s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4389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insurance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753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239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239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agent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3-agent pipeline: intake → insurance verification → scheduling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FHIR R4 APIs + Twilio SMS + Calendly booking — all MCP-connected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PHI stays inside customer boundary; failed verifications escalate to humans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Clinical AI — Sepsis Detection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5887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Tampa General Hospital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588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700+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lives saved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3892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8756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61K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care gap orders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189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76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76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mortality 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5887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TGH + Palantir: real-time EHR vitals → ML detects deterioration → alerts care team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CommonSpirit Health: 61K care gap orders closed across 142 hospitals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Clinician-in-the-loop: AI recommends, clinician reviews and acts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3883045" cy="86868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376672"/>
            <a:ext cx="35538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BUYER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05272"/>
            <a:ext cx="3553861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Practice Manager · CMO · VP Clinical Operations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565" y="5285232"/>
            <a:ext cx="702848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9157" y="5376672"/>
            <a:ext cx="669930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MARKET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9157" y="5605272"/>
            <a:ext cx="669930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Healthcare AI verification market accelerating. Mastercard proved same &lt;50ms decisioning pattern at 143B txns/year.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03  ·  LEGAL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1215" y="201168"/>
            <a:ext cx="1371600" cy="274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2655" y="2011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SCORE: 30/35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695" y="201168"/>
            <a:ext cx="1737360" cy="274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201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$3-5K/mo per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67 Review Agents + Source-Grounded Research = Lawyer Time Recaptured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987552"/>
            <a:ext cx="10972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Contract generation &amp; review + LexisNexis AI research — auditable, source-cited, no hallucinated case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Contract Gen &amp;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Top-100 Global Law Firm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review time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9525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4389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$2.4M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4389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recaptured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753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239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99.1%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239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clause accuracy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3 agents: generation + 67-agent debate review + legal research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40+ templates as MCP server endpoints; DocuSign signature routing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22-week build, production by week 10; 45K-contract training corpus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LexisNexis Lexis+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5887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Forrester TEI Study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588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284%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3-year ROI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3892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8756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$1.2M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total benefits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189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76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76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outside counsel 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5887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Gen AI grounded in verified LexisNexis primary law corpus — zero fabricated citations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Research time reduced up to 80%; payback under 6 months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Practice-area scoped: jurisdiction + domain boundaries enforced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3883045" cy="86868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376672"/>
            <a:ext cx="35538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BUYER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05272"/>
            <a:ext cx="3553861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Legal Ops · Managing Partner · General Counsel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565" y="5285232"/>
            <a:ext cx="702848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9157" y="5376672"/>
            <a:ext cx="669930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MARKET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9157" y="5605272"/>
            <a:ext cx="669930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Harvey AI: $300M ARR, $11B valuation, 142K lawyers. Legal AI adoption doubled 14% → 26% in 12 months.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04  ·  FINANCIAL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1215" y="201168"/>
            <a:ext cx="1371600" cy="274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2655" y="2011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SCORE: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695" y="201168"/>
            <a:ext cx="1737360" cy="274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201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$5-10K/mo per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Two Banks, Two Eras of AI — Both Ship, Both Save Millions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987552"/>
            <a:ext cx="10972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TD Bank agentic mortgage processing + JPMorgan COIN contract extraction — deterministic math, LLM reading, human gates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TD Bank Mortgage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TD Bank (Jan 2026)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15hr→min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processing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9525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4389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$826M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4389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origination volume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753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239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Day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239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compliance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Agentic AI reads entire borrower packages — purchase agreements, IDs, bank stmts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Deterministic tools for arithmetic; LLM for document reading — sharp task boundaries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Human adjudicator signs off every credit decision; AI recommends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JPMorgan COIN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5887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JPMorgan Chase (2016→now)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588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360K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attorney-hours saved/yr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3892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8756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12K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contracts/year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189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76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9+yr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76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in production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5887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Purpose-built ML extracts 150 attributes from commercial credit agreements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Not an LLM — narrow domain, closed text, static rules; precision extraction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9+ years running proves staying power; human corrections feed retraining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3883045" cy="86868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376672"/>
            <a:ext cx="35538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BUYER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05272"/>
            <a:ext cx="3553861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VP Mortgage Ops · CTO · VP Legal Operations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565" y="5285232"/>
            <a:ext cx="702848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9157" y="5376672"/>
            <a:ext cx="669930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MARKET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9157" y="5605272"/>
            <a:ext cx="669930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Mastercard Decision Intelligence: 143B txns/year, 20-300% fraud detection lift, &lt;50ms decisioning.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"/>
            <a:ext cx="4572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INDUSTRY 05  · 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51215" y="201168"/>
            <a:ext cx="1371600" cy="27432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42655" y="201168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SCORE: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05695" y="201168"/>
            <a:ext cx="1737360" cy="27432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97135" y="201168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0A1628"/>
                </a:solidFill>
                <a:latin typeface="Calibri"/>
              </a:rPr>
              <a:t>$3-8K/mo per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0A1628"/>
                </a:solidFill>
                <a:latin typeface="Calibri"/>
              </a:rPr>
              <a:t>The Superintendent Now Acts on Data, Not 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987552"/>
            <a:ext cx="1097280" cy="3657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78992"/>
            <a:ext cx="1109441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Autonomous site capture + CV risk detection — 34M annotations, 48% injury reduction, 6x ROI 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DroneDeploy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DroneDeploy + Barton Malow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training annotations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49525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4389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+340%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4389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progress tracking 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7530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22394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48%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2394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injury reduction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4 AI agents: Progress AI, Safety AI, Inspection AI, Embodied AI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Overnight autonomous capture → structured morning reports by trade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13-year corpus across 180 countries — 770M images; break-even Sep 2025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1444752"/>
            <a:ext cx="5410047" cy="36576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5887" y="158191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UC-09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5887" y="1773936"/>
            <a:ext cx="50442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BCG AI Site Assistant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15887" y="2157984"/>
            <a:ext cx="5044287" cy="219456"/>
          </a:xfrm>
          <a:prstGeom prst="roundRect">
            <a:avLst>
              <a:gd name="adj" fmla="val 3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2157984"/>
            <a:ext cx="4861407" cy="21945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Calibri"/>
              </a:rPr>
              <a:t>German DevCo (BCG pilot)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588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6x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075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ROI validated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3892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8756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8756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productivity 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51897" y="2496312"/>
            <a:ext cx="1608277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6761" y="2551176"/>
            <a:ext cx="149854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48%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761" y="2862072"/>
            <a:ext cx="1498549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50" b="1" i="0">
                <a:solidFill>
                  <a:srgbClr val="0A1628"/>
                </a:solidFill>
                <a:latin typeface="Calibri"/>
              </a:rPr>
              <a:t>injury 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15887" y="3273552"/>
            <a:ext cx="5044287" cy="2743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15887" y="337413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5887" y="3575304"/>
            <a:ext cx="5044287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CV risk detection from continuous site imagery → smart notifications in minutes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Automated documentation replaces memory-based superintendent decisions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880" b="0" i="0">
                <a:solidFill>
                  <a:srgbClr val="FFFFFF"/>
                </a:solidFill>
                <a:latin typeface="Calibri"/>
              </a:rPr>
              <a:t>•  Pilot on 2 live projects; BCG 2026 Executive Perspectives report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85232"/>
            <a:ext cx="3883045" cy="86868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" y="5376672"/>
            <a:ext cx="355386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BUYER PROFILE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" y="5605272"/>
            <a:ext cx="3553861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VP Construction · Project Director · COO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614565" y="5285232"/>
            <a:ext cx="7028489" cy="8686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9157" y="5376672"/>
            <a:ext cx="669930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MARKET SIGNAL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79157" y="5605272"/>
            <a:ext cx="6699305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C.H. Robinson: 30+ AI agents, 3M+ tasks automated, 35% productivity gain. Same agentic pattern works in field ops.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