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decision. This is not a review of whether the demonstration looks attractive. It is a request to test whether a structured design-decision workflow reduces expensive wrong-direction cycles without creating new control failures.</a:t>
            </a:r>
          </a:p>
          <a:p/>
          <a:p>
            <a:r>
              <a:t>Transition: Separate what was demonstrated from what still must be proven.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meeting in miniature. Executives should be able to understand the evidence boundary and approve or reject the pilot without needing a feature tour.</a:t>
            </a:r>
          </a:p>
          <a:p/>
          <a:p>
            <a:r>
              <a:t>Transition: The business problem begins before visual refinement: generic defaults defer the hardest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number of available styles is not the value proposition. The value lies in sequencing divergence and convergence so that teams make the large decision before investing in implementation detail.</a:t>
            </a:r>
          </a:p>
          <a:p/>
          <a:p>
            <a:r>
              <a:t>Transition: The Worlds interface makes that macro decision observable.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 the screenshot as evidence of interaction state, not as the slide’s argument. The management implication is to name a direction owner and record why the selected world fits the audience and task.</a:t>
            </a:r>
          </a:p>
          <a:p/>
          <a:p>
            <a:r>
              <a:t>Transition: Visible choice still needs gates or it becomes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workflow becomes governable when each exploration stage can explicitly return upstream. A gate without an owner is merely a pause; a gate without an exit criterion is subjective delay.</a:t>
            </a:r>
          </a:p>
          <a:p/>
          <a:p>
            <a:r>
              <a:t>Transition: This governance burden is the cost of a higher creative ceiling.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strongest counterargument. A powerful general system should not be the default for every task; its flexibility is valuable only when the organization can govern directional choice.</a:t>
            </a:r>
          </a:p>
          <a:p/>
          <a:p>
            <a:r>
              <a:t>Transition: Work should therefore be routed by the radius of change, not personal tool preference.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rule prevents a common failure: using faster local iteration to rationalize a fundamentally weak visual grammar.</a:t>
            </a:r>
          </a:p>
          <a:p/>
          <a:p>
            <a:r>
              <a:t>Transition: Live Mode is valuable precisely because its scope is bounded.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Live when the decision can be stated at component level and the accepted macro direction remains valid. Escalate structural changes instead of accumulating local exceptions.</a:t>
            </a:r>
          </a:p>
          <a:p/>
          <a:p>
            <a:r>
              <a:t>Transition: When visual grammar itself is wrong, local iteration must give way to a reset.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 are not decoration. They are a controlled reset mechanism and therefore need provenance, usage boundaries, and an explicit statement of what design grammar is being borrowed.</a:t>
            </a:r>
          </a:p>
          <a:p/>
          <a:p>
            <a:r>
              <a:t>Transition: The workflow now reveals which decisions must remain human-owned.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allocation is the operating model. It avoids the false choice between manual design and autonomous generation by assigning machines the reversible work and humans the consequential decisions.</a:t>
            </a:r>
          </a:p>
          <a:p/>
          <a:p>
            <a:r>
              <a:t>Transition: Accepted decisions then become useful only when they constrain future work responsibly.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Organizational memory is more valuable than any single generated page. Treat the design record as governed policy with authorship, version history, rationale, and expiration—not as permanent truth.</a:t>
            </a:r>
          </a:p>
          <a:p/>
          <a:p>
            <a:r>
              <a:t>Transition: A fresh-context checker can challenge that memory, but cannot certify the result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the finish reviewer as a challenge control. Its independence is useful, but the source provides no measured evidence that it catches every defect or predicts user value.</a:t>
            </a:r>
          </a:p>
          <a:p/>
          <a:p>
            <a:r>
              <a:t>Transition: That boundary places the demonstrated workflow at a specific maturity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prevents the deck from converting feature sophistication into outcome certainty. Levels four and five are hypotheses to test, not benefits to claim.</a:t>
            </a:r>
          </a:p>
          <a:p/>
          <a:p>
            <a:r>
              <a:t>Transition: Readiness should therefore be assessed before the pilot is allowed to broaden.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gates are intentionally unscored until the client assesses them. Presenting invented green status would defeat the governance standard this deck recommends.</a:t>
            </a:r>
          </a:p>
          <a:p/>
          <a:p>
            <a:r>
              <a:t>Transition: Once readiness is acceptable, success criteria must be locked before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 metrics before the first pilot output is seen. Otherwise the demonstration can redefine success around whichever result looks strongest.</a:t>
            </a:r>
          </a:p>
          <a:p/>
          <a:p>
            <a:r>
              <a:t>Transition: A matched-task design isolates workflow value from novelty and operator enthusiasm.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primary endpoint is major direction resets before acceptance. Secondary measures cover elapsed time, quality, defects, provenance exceptions, and cost.</a:t>
            </a:r>
          </a:p>
          <a:p/>
          <a:p>
            <a:r>
              <a:t>Transition: The experiment still needs a control for every known failure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Governance is part of the product decision, not a compliance appendix. A pilot that omits controls cannot answer whether the workflow is safe to scale.</a:t>
            </a:r>
          </a:p>
          <a:p/>
          <a:p>
            <a:r>
              <a:t>Transition: The decision can now be reduced to one bounded authorization and three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decision requested. The next meeting should review pilot design and readiness, not another showcase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10149840" cy="1783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4200" b="1" i="0">
                <a:solidFill>
                  <a:srgbClr val="F8F3EA"/>
                </a:solidFill>
                <a:latin typeface="Calibri"/>
              </a:rPr>
              <a:t>Pilot the decision architecture—
not the promise of autonomous taste.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37560"/>
            <a:ext cx="896112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000" b="0" i="0">
                <a:solidFill>
                  <a:srgbClr val="D0C9C0"/>
                </a:solidFill>
                <a:latin typeface="Calibri"/>
              </a:rPr>
              <a:t>The walkthrough demonstrates stronger direction selection, local comparison, and escalation. It does not demonstrate productivity, usability, or business impact.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2120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C8A46B"/>
                </a:solidFill>
                <a:latin typeface="Calibri"/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138928"/>
            <a:ext cx="786384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8F3EA"/>
                </a:solidFill>
                <a:latin typeface="Calibri"/>
              </a:rPr>
              <a:t>Authorize one governed, matched-task pilot—not enterprise rollout.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25312"/>
            <a:ext cx="8595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9F9B95"/>
                </a:solidFill>
                <a:latin typeface="Calibri"/>
              </a:rPr>
              <a:t>EVIDENCE  ·  observed demonstration   |   presenter assertion   |   analyst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Analyst assessment based on the supplied walkthrough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The case for a pilot rests on three demonstrated mechanisms—and three unproven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Executive summary · evidence boundary based on the supplied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3337560" cy="530352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2971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DEMONSTRATED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67712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315C4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9424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Worlds makes macro direction visible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36976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315C4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218688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Live compares bounded local alternatives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206240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315C4A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4187952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References reset a wrong visual grammar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358384"/>
            <a:ext cx="3337560" cy="381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7" y="1417320"/>
            <a:ext cx="3337560" cy="530352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999" y="1572768"/>
            <a:ext cx="2971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NOT DEMONSTRATED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7" y="2267712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1" y="2249424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Faster production or lower total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7" y="3236976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1" y="3218688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Higher usability or brand effectiveness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7" y="4206240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9471" y="4187952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Conversion, retention, or commercial lift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7407" y="5358384"/>
            <a:ext cx="3337560" cy="381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56448" y="1417320"/>
            <a:ext cx="3337560" cy="53035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572768"/>
            <a:ext cx="2971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2267712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8512" y="2249424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Authorize one matched-task 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3236976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68512" y="3218688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Keep inputs and budgets constant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4206240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8512" y="4187952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Expand only after blind quality and control review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56448" y="5358384"/>
            <a:ext cx="3337560" cy="381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63270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33D2E"/>
                </a:solidFill>
                <a:latin typeface="Calibri"/>
              </a:rPr>
              <a:t>Executive implication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87168" y="5559552"/>
            <a:ext cx="87325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Evaluate the workflow as a controlled operating-model change—not as a showcase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More choice improves taste only when it is structured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7899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CAC4BB"/>
                </a:solidFill>
                <a:latin typeface="Calibri"/>
              </a:rPr>
              <a:t>Too little choice creates default convergence. Too much unmanaged choice creates decision paralysis.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Observed workflow + presenter view · value curve is analyst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A7A199"/>
                </a:solidFill>
                <a:latin typeface="Calibri"/>
              </a:rPr>
              <a:t>DECISION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983480"/>
            <a:ext cx="9692640" cy="25400"/>
          </a:xfrm>
          <a:prstGeom prst="rect">
            <a:avLst/>
          </a:prstGeom>
          <a:solidFill>
            <a:srgbClr val="595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28800"/>
            <a:ext cx="25400" cy="3154680"/>
          </a:xfrm>
          <a:prstGeom prst="rect">
            <a:avLst/>
          </a:prstGeom>
          <a:solidFill>
            <a:srgbClr val="595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81328" y="4050792"/>
            <a:ext cx="1417320" cy="914400"/>
          </a:xfrm>
          <a:prstGeom prst="rect">
            <a:avLst/>
          </a:prstGeom>
          <a:solidFill>
            <a:srgbClr val="A7A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4168" y="5193792"/>
            <a:ext cx="16916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ONE
DEFAULT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3364992"/>
            <a:ext cx="1417320" cy="16002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5193792"/>
            <a:ext cx="16916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UNSTRUCTURED
OPTIONS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2221992"/>
            <a:ext cx="1417320" cy="27432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79592" y="5193792"/>
            <a:ext cx="16916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WORLDS →
COMMIT → VARIANTS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4463" y="3685032"/>
            <a:ext cx="1417320" cy="1280160"/>
          </a:xfrm>
          <a:prstGeom prst="rect">
            <a:avLst/>
          </a:prstGeom>
          <a:solidFill>
            <a:srgbClr val="A7A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7303" y="5193792"/>
            <a:ext cx="16916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ENDLESS
REROLLS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856231"/>
            <a:ext cx="297180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C8A46B"/>
                </a:solidFill>
                <a:latin typeface="Calibri"/>
              </a:rPr>
              <a:t>The feature count is incidental.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304288"/>
            <a:ext cx="297180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8F3EA"/>
                </a:solidFill>
                <a:latin typeface="Calibri"/>
              </a:rPr>
              <a:t>The commitment gates create the value.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21868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A7A199"/>
                </a:solidFill>
                <a:latin typeface="Calibri"/>
              </a:rPr>
              <a:t>CONCEPTUAL RELATIONSHIP · NOT MEASURED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1353312"/>
            <a:ext cx="11155680" cy="4736592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hoice-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8241792" cy="46360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Worlds turns “make it better” into a visible macro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Observed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4 / 18</a:t>
            </a:r>
          </a:p>
        </p:txBody>
      </p:sp>
      <p:pic>
        <p:nvPicPr>
          <p:cNvPr id="6" name="Picture 5" descr="worl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7086600" cy="39862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82712" y="1417320"/>
            <a:ext cx="3520440" cy="46634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57032" y="1828800"/>
            <a:ext cx="2880360" cy="254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2084831"/>
            <a:ext cx="28803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900" b="1" i="0">
                <a:solidFill>
                  <a:srgbClr val="F8F3EA"/>
                </a:solidFill>
                <a:latin typeface="Calibri"/>
              </a:rPr>
              <a:t>Setup: the Pathfinder landing page is shown in materially different visual worlds.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2" y="388620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 i="0">
                <a:solidFill>
                  <a:srgbClr val="C9C3BA"/>
                </a:solidFill>
                <a:latin typeface="Calibri"/>
              </a:rPr>
              <a:t>Finding: the user chooses a visual grammar before implementation variants. Action: name the direction owner and record why the world was selected.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Four commitment gates prevent exploration from becoming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Recommended operating model derived from the observed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5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3619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0477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8F3EA"/>
                </a:solidFill>
                <a:latin typeface="Calibri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2377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Is the brief grounded in real content and constraints?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584448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822191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16052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315C4A"/>
                </a:solidFill>
                <a:latin typeface="Calibri"/>
              </a:rPr>
              <a:t>Design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474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EXIT CRITERION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35838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Explicit yes—or return upstream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7" y="153619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7" y="160477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8F3EA"/>
                </a:solidFill>
                <a:latin typeface="Calibri"/>
              </a:rPr>
              <a:t>WORLD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7" y="2148840"/>
            <a:ext cx="2377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Is the visual grammar appropriate for the audience and task?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47287" y="3584448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7287" y="3822191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7" y="416052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315C4A"/>
                </a:solidFill>
                <a:latin typeface="Calibri"/>
              </a:rPr>
              <a:t>Brand / design 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7" y="50474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EXIT CRITERION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7287" y="535838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Explicit yes—or return upstream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153619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7" y="160477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8F3EA"/>
                </a:solidFill>
                <a:latin typeface="Calibri"/>
              </a:rPr>
              <a:t>VARIANT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7" y="2148840"/>
            <a:ext cx="2377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Is the baseline strong enough for local refinement?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6207" y="3584448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7" y="3822191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OWNER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7" y="416052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315C4A"/>
                </a:solidFill>
                <a:latin typeface="Calibri"/>
              </a:rPr>
              <a:t>Product 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7" y="50474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EXIT CRITERION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7" y="535838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Explicit yes—or return upstream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25128" y="153619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25128" y="160477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8F3EA"/>
                </a:solidFill>
                <a:latin typeface="Calibri"/>
              </a:rPr>
              <a:t>RELEASE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25128" y="2148840"/>
            <a:ext cx="2377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Has an independent challenge found drift or defects?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25128" y="3584448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25128" y="3822191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OWNER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5128" y="416052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315C4A"/>
                </a:solidFill>
                <a:latin typeface="Calibri"/>
              </a:rPr>
              <a:t>Reviewer + accountable human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5128" y="50474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EXIT CRITERION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535838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Explicit yes—or return upstream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Generality raises the ceiling—and shifts risk to the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Presenter-stated trade-off · no controlled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389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A7A199"/>
                </a:solidFill>
                <a:latin typeface="Calibri"/>
              </a:rPr>
              <a:t>ONE-TRICK STYLE 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8F3EA"/>
                </a:solidFill>
                <a:latin typeface="Calibri"/>
              </a:rPr>
              <a:t>Higher floor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834640"/>
            <a:ext cx="388620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</a:pPr>
            <a:r>
              <a:rPr sz="1700" b="0" i="0">
                <a:solidFill>
                  <a:srgbClr val="C9C3BA"/>
                </a:solidFill>
                <a:latin typeface="Calibri"/>
              </a:rPr>
              <a:t>Predictable novelty
Narrow aesthetic range
Lower judgment burden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1508760"/>
            <a:ext cx="25400" cy="4434840"/>
          </a:xfrm>
          <a:prstGeom prst="rect">
            <a:avLst/>
          </a:prstGeom>
          <a:solidFill>
            <a:srgbClr val="54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572768"/>
            <a:ext cx="4389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33D2E"/>
                </a:solidFill>
                <a:latin typeface="Calibri"/>
              </a:rPr>
              <a:t>IMPECCABLE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0574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8F3EA"/>
                </a:solidFill>
                <a:latin typeface="Calibri"/>
              </a:rPr>
              <a:t>Higher ceiling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3872" y="2834640"/>
            <a:ext cx="438912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</a:pPr>
            <a:r>
              <a:rPr sz="1700" b="0" i="0">
                <a:solidFill>
                  <a:srgbClr val="C9C3BA"/>
                </a:solidFill>
                <a:latin typeface="Calibri"/>
              </a:rPr>
              <a:t>Broad differentiation
More operator variance
Higher governance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8006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C8A46B"/>
                </a:solidFill>
                <a:latin typeface="Calibri"/>
              </a:rPr>
              <a:t>CONVENTIONAL WORKFLOW WINS WHEN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230368"/>
            <a:ext cx="99212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the surface is highly standardized  ·  evidence is weak  ·  review capacity is limited  ·  the team cannot own directional choices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Change altitude determines the correct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7899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6E6A63"/>
                </a:solidFill>
                <a:latin typeface="Calibri"/>
              </a:rPr>
              <a:t>Route by change radius and confidence in the current direction.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Observed macro/micro split · matrix is analyst decision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53619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E6A63"/>
                </a:solidFill>
                <a:latin typeface="Calibri"/>
              </a:rPr>
              <a:t>DIRECTION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7190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33D2E"/>
                </a:solidFill>
                <a:latin typeface="Calibri"/>
              </a:rPr>
              <a:t>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7190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315C4A"/>
                </a:solidFill>
                <a:latin typeface="Calibri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23160"/>
            <a:ext cx="1188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LARGE
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434840"/>
            <a:ext cx="1188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SMALL
CHANGE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2103120"/>
            <a:ext cx="3246120" cy="141732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23591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REFERENCE RESET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852928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F8F3EA"/>
                </a:solidFill>
                <a:latin typeface="Calibri"/>
              </a:rPr>
              <a:t>Reopen the visual grammar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2103120"/>
            <a:ext cx="3246120" cy="141732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3591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TERMINAL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852928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F8F3EA"/>
                </a:solidFill>
                <a:latin typeface="Calibri"/>
              </a:rPr>
              <a:t>Change layout or 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4160520"/>
            <a:ext cx="3246120" cy="141732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44165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STOP POLISHING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910328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Clarify the direction first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4160520"/>
            <a:ext cx="3246120" cy="141732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4165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LIVE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910328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F8F3EA"/>
                </a:solidFill>
                <a:latin typeface="Calibri"/>
              </a:rPr>
              <a:t>Compare local variants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Live Mode shortens local comparison after direction is chosen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Observed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8 / 18</a:t>
            </a:r>
          </a:p>
        </p:txBody>
      </p:sp>
      <p:pic>
        <p:nvPicPr>
          <p:cNvPr id="6" name="Picture 5" descr="live-compar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417320"/>
            <a:ext cx="7086600" cy="39862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1417320"/>
            <a:ext cx="3520440" cy="46634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2688" y="1828800"/>
            <a:ext cx="2880360" cy="254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84831"/>
            <a:ext cx="28803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900" b="1" i="0">
                <a:solidFill>
                  <a:srgbClr val="F8F3EA"/>
                </a:solidFill>
                <a:latin typeface="Calibri"/>
              </a:rPr>
              <a:t>Setup: the “Find the why” component is selected and alternatives are generated side by side.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88620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 i="0">
                <a:solidFill>
                  <a:srgbClr val="C9C3BA"/>
                </a:solidFill>
                <a:latin typeface="Calibri"/>
              </a:rPr>
              <a:t>Finding: compare → tune → accept compresses a bounded choice. Action: use Live for detail changes; return structural work to the terminal.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A wrong visual grammar requires a reference reset—not more polish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Observed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9 / 18</a:t>
            </a:r>
          </a:p>
        </p:txBody>
      </p:sp>
      <p:pic>
        <p:nvPicPr>
          <p:cNvPr id="6" name="Picture 5" descr="referenc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7086600" cy="39862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82712" y="1417320"/>
            <a:ext cx="3520440" cy="46634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57032" y="1828800"/>
            <a:ext cx="2880360" cy="254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2084831"/>
            <a:ext cx="28803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900" b="1" i="0">
                <a:solidFill>
                  <a:srgbClr val="F8F3EA"/>
                </a:solidFill>
                <a:latin typeface="Calibri"/>
              </a:rPr>
              <a:t>Setup: an outside reference is introduced after the existing direction remains unsatisfying.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2" y="388620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 i="0">
                <a:solidFill>
                  <a:srgbClr val="C9C3BA"/>
                </a:solidFill>
                <a:latin typeface="Calibri"/>
              </a:rPr>
              <a:t>Finding: the reference drives a macro departure through terminal work. Action: log provenance and return to Live only after direction is accepted.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Human judgment belongs at four high-leverage moments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Analyst role model derived from the full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10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2404872" cy="658368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FRAME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14600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HUMAN DECIDES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0779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Define audience, evidence, constraints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977639"/>
            <a:ext cx="2404872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279392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315C4A"/>
                </a:solidFill>
                <a:latin typeface="Calibri"/>
              </a:rPr>
              <a:t>SYSTEM SUPPORTS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4515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Structure the brief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7287" y="1463040"/>
            <a:ext cx="2404872" cy="658368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7" y="1664208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COMMIT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7" y="2514600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HUMAN DECIDES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7" y="290779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Choose the visual grammar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47287" y="3977639"/>
            <a:ext cx="2404872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7287" y="4279392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315C4A"/>
                </a:solidFill>
                <a:latin typeface="Calibri"/>
              </a:rPr>
              <a:t>SYSTEM SUPPORTS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7" y="464515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Expand materially different options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7" y="1463040"/>
            <a:ext cx="2404872" cy="658368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7" y="1664208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RESOLVE TRADE-OFFS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7" y="2514600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HUMAN DECIDES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7" y="290779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Judge variants and escalation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6207" y="3977639"/>
            <a:ext cx="2404872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7" y="4279392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315C4A"/>
                </a:solidFill>
                <a:latin typeface="Calibri"/>
              </a:rPr>
              <a:t>SYSTEM SUPPORTS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7" y="464515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Generate and compare alternatives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25128" y="1463040"/>
            <a:ext cx="2404872" cy="658368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1664208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APPROVE RELEASE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5128" y="2514600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HUMAN DECIDES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25128" y="290779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Own the release decision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25128" y="3977639"/>
            <a:ext cx="2404872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25128" y="4279392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315C4A"/>
                </a:solidFill>
                <a:latin typeface="Calibri"/>
              </a:rPr>
              <a:t>SYSTEM SUPPORTS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5128" y="464515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Detect patterns and run technical QA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1298448"/>
            <a:ext cx="11155680" cy="4828032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judgment-al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8420608" cy="47365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Taste scales only when decisions become organizational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Design record and detection observed · flywheel is analyst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11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945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32304"/>
            <a:ext cx="1965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8F3EA"/>
                </a:solidFill>
                <a:latin typeface="Calibri"/>
              </a:rPr>
              <a:t>CHOSEN
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002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837944"/>
            <a:ext cx="1965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202220"/>
                </a:solidFill>
                <a:latin typeface="Calibri"/>
              </a:rPr>
              <a:t>DESIGN.MD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945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432304"/>
            <a:ext cx="1965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8F3EA"/>
                </a:solidFill>
                <a:latin typeface="Calibri"/>
              </a:rPr>
              <a:t>FUTURE
CONSTRAINTS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42976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59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4535424"/>
            <a:ext cx="1965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8F3EA"/>
                </a:solidFill>
                <a:latin typeface="Calibri"/>
              </a:rPr>
              <a:t>DETECTION +
OVERRIDES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4688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33D2E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4688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33D2E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749039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33D2E"/>
                </a:solidFill>
                <a:latin typeface="Calibri"/>
              </a:rPr>
              <a:t>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37947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33D2E"/>
                </a:solidFill>
                <a:latin typeface="Calibri"/>
              </a:rPr>
              <a:t>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92024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C8A46B"/>
                </a:solidFill>
                <a:latin typeface="Calibri"/>
              </a:rPr>
              <a:t>Less reinvention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5146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C8A46B"/>
                </a:solidFill>
                <a:latin typeface="Calibri"/>
              </a:rPr>
              <a:t>Lower variance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108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C8A46B"/>
                </a:solidFill>
                <a:latin typeface="Calibri"/>
              </a:rPr>
              <a:t>Faster future cycles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623560"/>
            <a:ext cx="996696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8F3EA"/>
                </a:solidFill>
                <a:latin typeface="Calibri"/>
              </a:rPr>
              <a:t>Risk: stale constraints become a new default. Version the record and permit explicit resets.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Fresh-context review is a challenge control—not proof of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Presenter-described review control · efficacy is unmeasured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64208"/>
            <a:ext cx="4160520" cy="324612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93392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8F3EA"/>
                </a:solidFill>
                <a:latin typeface="Calibri"/>
              </a:rPr>
              <a:t>MAKER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338328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</a:pPr>
            <a:r>
              <a:rPr sz="1900" b="1" i="0">
                <a:solidFill>
                  <a:srgbClr val="F8F3EA"/>
                </a:solidFill>
                <a:latin typeface="Calibri"/>
              </a:rPr>
              <a:t>Knows the brief
Knows every compromise
Can rationalize its own choices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4064" y="2807208"/>
            <a:ext cx="9144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E33D2E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64208"/>
            <a:ext cx="4526280" cy="324612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99339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E33D2E"/>
                </a:solidFill>
                <a:latin typeface="Calibri"/>
              </a:rPr>
              <a:t>CHECKER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33472"/>
            <a:ext cx="3657600" cy="1481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Challenges known defaults
Sees the result without build momentum
Still needs human adjudication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440680"/>
            <a:ext cx="1001268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E33D2E"/>
                </a:solidFill>
                <a:latin typeface="Calibri"/>
              </a:rPr>
              <a:t>Keep separate QA for accessibility, factual accuracy, performance, responsive behavior, and user outcomes.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The demo reaches Level 2—and shows pieces of Level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7899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6E6A63"/>
                </a:solidFill>
                <a:latin typeface="Calibri"/>
              </a:rPr>
              <a:t>There is no supplied evidence for measured productivity or user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Maturity assessment based on the observed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149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RUBRIC  ·  decision gates   |   change routing   |   design memory   |   QA control   |   measurement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572768" cy="3127248"/>
          </a:xfrm>
          <a:prstGeom prst="rect">
            <a:avLst/>
          </a:prstGeom>
          <a:solidFill>
            <a:srgbClr val="A7A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AD HOC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One-shot prompt
Subjective approval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39" y="1828800"/>
            <a:ext cx="1572768" cy="3127248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599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599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202220"/>
                </a:solidFill>
                <a:latin typeface="Calibri"/>
              </a:rPr>
              <a:t>GUIDED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1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202220"/>
                </a:solidFill>
                <a:latin typeface="Calibri"/>
              </a:rPr>
              <a:t>Worlds and steering
Named decision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828800"/>
            <a:ext cx="1572768" cy="3127248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19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STRUCTURED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Macro commitment
Then local convergence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1828800"/>
            <a:ext cx="1572768" cy="3127248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39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39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CONTROLLED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1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Design record
Detect + independent QA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1828800"/>
            <a:ext cx="1572768" cy="3127248"/>
          </a:xfrm>
          <a:prstGeom prst="rect">
            <a:avLst/>
          </a:prstGeom>
          <a:solidFill>
            <a:srgbClr val="5D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MEASURED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Time, cost, rework
Quality metrics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1828800"/>
            <a:ext cx="1572768" cy="3127248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12680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94392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Usability and business
impact validated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5321808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DEMONSTRATED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321808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UNPROVEN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Four readiness gates define when adoption may advance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Recommended governance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14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1508760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27632"/>
            <a:ext cx="6217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2704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33D2E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527048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Real copy, proof, constraints, approved references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2258568"/>
            <a:ext cx="9052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" y="2587752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706624"/>
            <a:ext cx="6217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6060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33D2E"/>
                </a:solidFill>
                <a:latin typeface="Calibri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606040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Named owner for World and variant selection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3337560"/>
            <a:ext cx="9052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3666744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785616"/>
            <a:ext cx="6217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68503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33D2E"/>
                </a:solidFill>
                <a:latin typeface="Calibri"/>
              </a:rPr>
              <a:t>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685032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Macro/micro routing and stop rules understood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4416552"/>
            <a:ext cx="9052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" y="4745736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864608"/>
            <a:ext cx="6217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76402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33D2E"/>
                </a:solidFill>
                <a:latin typeface="Calibri"/>
              </a:rPr>
              <a:t>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764024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Versioned design record, QA, provenance controls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5495544"/>
            <a:ext cx="9052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" y="5788152"/>
            <a:ext cx="10058400" cy="41148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879592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ANY RED GATE → RUN A BOUNDED PILOT. DO NOT SCALE THE WORKFLOW.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Success is fewer wrong-direction cycles—without quality regressions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Pilot recommendation · no benchmark data supplied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8988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PILOT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10512"/>
            <a:ext cx="667512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Reduce the cost of arriving at an acceptable direction.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063240"/>
            <a:ext cx="2267712" cy="381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310128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822191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Time to direction
Time to production-ready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432" y="3063240"/>
            <a:ext cx="2267712" cy="381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3310128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REWORK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3822191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Major resets
Post-approval changes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3063240"/>
            <a:ext cx="2267712" cy="381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3310128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3822191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Blind brand + usability scores
Independent defects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42832" y="3063240"/>
            <a:ext cx="2267712" cy="381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2832" y="3310128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3822191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Unsupported claims
Reference exceptions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4919472"/>
            <a:ext cx="10424160" cy="987552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084064"/>
            <a:ext cx="28803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PROPOSED GO / NO-GO  ·  confirm before launch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422392"/>
            <a:ext cx="996696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6+ matched tasks · 2+ operator profiles · ≥20% fewer major resets · quality within 5% of baseline · zero critical accessibility/provenance regressions · cost ≤ baseline +15%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A fair pilot isolates workflow value from operator enthusiasm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Controlled evaluation design · thresholds require client 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C8A46B"/>
                </a:solidFill>
                <a:latin typeface="Calibri"/>
              </a:rPr>
              <a:t>FIXED ACROSS BOTH ARMS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9728" cy="34747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10512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Same landing-page brief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487168"/>
            <a:ext cx="109728" cy="34747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Same real copy and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145536"/>
            <a:ext cx="109728" cy="34747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27248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Same approved references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803904"/>
            <a:ext cx="109728" cy="34747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85616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Same model and time budget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417320"/>
            <a:ext cx="25400" cy="4251960"/>
          </a:xfrm>
          <a:prstGeom prst="rect">
            <a:avLst/>
          </a:prstGeom>
          <a:solidFill>
            <a:srgbClr val="555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41732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A7A199"/>
                </a:solidFill>
                <a:latin typeface="Calibri"/>
              </a:rPr>
              <a:t>CURRENT 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938528"/>
            <a:ext cx="246888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8F3EA"/>
                </a:solidFill>
                <a:latin typeface="Calibri"/>
              </a:rPr>
              <a:t>Conventional prompting
and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154680"/>
            <a:ext cx="2560320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 i="0">
                <a:solidFill>
                  <a:srgbClr val="C9C3BA"/>
                </a:solidFill>
                <a:latin typeface="Calibri"/>
              </a:rPr>
              <a:t>Matched task
Matched operator profile
Blind downstream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14173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IMPECCABLE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1938528"/>
            <a:ext cx="288036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8F3EA"/>
                </a:solidFill>
                <a:latin typeface="Calibri"/>
              </a:rPr>
              <a:t>Worlds → commitment
→ Live refinement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15468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400" b="0" i="0">
                <a:solidFill>
                  <a:srgbClr val="C9C3BA"/>
                </a:solidFill>
                <a:latin typeface="Calibri"/>
              </a:rPr>
              <a:t>Same task
Same operator profile
Same blind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8920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C8A46B"/>
                </a:solidFill>
                <a:latin typeface="Calibri"/>
              </a:rPr>
              <a:t>Primary endpoint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81888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8F3EA"/>
                </a:solidFill>
                <a:latin typeface="Calibri"/>
              </a:rPr>
              <a:t>Major direction resets before acceptance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The operating model needs controls at every failure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Risk-control ledger derived from the demonstrated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81912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490472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Invented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7218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1490472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Lock real claims and assets before visual exploration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075688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7802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WORLD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386584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Choice paralysis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68296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2386584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Name a decision owner and cap rerolls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971800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282696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Local polish on a wrong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6440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3282696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Escalate by change altitude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867912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70248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178808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Design-system drift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6052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4178808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Version accepted decisions and explicit resets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764024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166360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RELEASE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5074920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Self-confirming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05663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8A46B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5074920"/>
            <a:ext cx="571500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Use fresh-context challenge plus human adjudication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660136"/>
            <a:ext cx="1033272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5897880"/>
            <a:ext cx="10332720" cy="3200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961888"/>
            <a:ext cx="9966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CONTROL PRINCIPLE  ·  automate detection; never automate accountability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Adopt the decision architecture—then earn the right to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Recommendation bounded by the supplied walkthrough's evidence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898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33D2E"/>
                </a:solidFill>
                <a:latin typeface="Calibri"/>
              </a:rPr>
              <a:t>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987552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8F3EA"/>
                </a:solidFill>
                <a:latin typeface="Calibri"/>
              </a:rPr>
              <a:t>Run one governed, matched-task pilot.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973836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900" b="0" i="0">
                <a:solidFill>
                  <a:srgbClr val="D0C9C0"/>
                </a:solidFill>
                <a:latin typeface="Calibri"/>
              </a:rPr>
              <a:t>Approve expansion only if the workflow reduces wrong-direction cycles without degrading accessibility, performance, factual integrity, provenance, or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0690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178808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8F3E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4078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NAME THE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4617720"/>
            <a:ext cx="26060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One accountable lead for direction and release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0690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178808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8F3E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4078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SELECT THE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72" y="4617720"/>
            <a:ext cx="26060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One bounded landing-page workflow with real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40690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178808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8F3E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407822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8A46B"/>
                </a:solidFill>
                <a:latin typeface="Calibri"/>
              </a:rPr>
              <a:t>LOCK THE SCORECARD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4617720"/>
            <a:ext cx="26060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Baseline, thresholds, blind reviewers, stop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1616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A7A199"/>
                </a:solidFill>
                <a:latin typeface="Calibri"/>
              </a:rPr>
              <a:t>Decision requested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83387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8F3EA"/>
                </a:solidFill>
                <a:latin typeface="Calibri"/>
              </a:rPr>
              <a:t>Authorize pilot design—not enterprise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