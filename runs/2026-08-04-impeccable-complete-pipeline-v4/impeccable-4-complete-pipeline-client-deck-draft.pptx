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149840" cy="1783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4200" b="1" i="0">
                <a:solidFill>
                  <a:srgbClr val="F8F3EA"/>
                </a:solidFill>
                <a:latin typeface="Calibri"/>
              </a:rPr>
              <a:t>Pilot the decision architecture—
not the promise of autonomous taste.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337560"/>
            <a:ext cx="896112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000" b="0" i="0">
                <a:solidFill>
                  <a:srgbClr val="D0C9C0"/>
                </a:solidFill>
                <a:latin typeface="Calibri"/>
              </a:rPr>
              <a:t>The walkthrough demonstrates stronger direction selection, local comparison, and escalation. It does not demonstrate productivity, usability, or business impact.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2120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C8A46B"/>
                </a:solidFill>
                <a:latin typeface="Calibri"/>
              </a:rP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138928"/>
            <a:ext cx="786384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8F3EA"/>
                </a:solidFill>
                <a:latin typeface="Calibri"/>
              </a:rPr>
              <a:t>Authorize one governed, matched-task pilot—not enterprise rollout.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25312"/>
            <a:ext cx="8595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9F9B95"/>
                </a:solidFill>
                <a:latin typeface="Calibri"/>
              </a:rPr>
              <a:t>EVIDENCE  ·  observed demonstration   |   presenter assertion   |   analyst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Analyst assessment based on the supplied walkthrough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The case for a pilot rests on three demonstrated mechanisms—and three unproven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Executive summary · evidence boundary based on the supplied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2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3337560" cy="530352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72768"/>
            <a:ext cx="2971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DEMONSTRATED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67712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315C4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9424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Worlds makes macro direction visible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36976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315C4A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218688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Live compares bounded local alternatives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206240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315C4A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4187952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References reset a wrong visual grammar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358384"/>
            <a:ext cx="3337560" cy="3810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7407" y="1417320"/>
            <a:ext cx="3337560" cy="530352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1999" y="1572768"/>
            <a:ext cx="2971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202220"/>
                </a:solidFill>
                <a:latin typeface="Calibri"/>
              </a:rPr>
              <a:t>NOT DEMONSTRATED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7" y="2267712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C8A46B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1" y="2249424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Faster production or lower total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7" y="3236976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C8A46B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1" y="3218688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Higher usability or brand effectiveness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7" y="4206240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C8A46B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9471" y="4187952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Conversion, retention, or commercial lift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07407" y="5358384"/>
            <a:ext cx="3337560" cy="381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56448" y="1417320"/>
            <a:ext cx="3337560" cy="530352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572768"/>
            <a:ext cx="2971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2267712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68512" y="2249424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Authorize one matched-task 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3236976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68512" y="3218688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Keep inputs and budgets constant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4206240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68512" y="4187952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Expand only after blind quality and control review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56448" y="5358384"/>
            <a:ext cx="3337560" cy="381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63270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33D2E"/>
                </a:solidFill>
                <a:latin typeface="Calibri"/>
              </a:rPr>
              <a:t>Executive implication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87168" y="5559552"/>
            <a:ext cx="87325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202220"/>
                </a:solidFill>
                <a:latin typeface="Calibri"/>
              </a:rPr>
              <a:t>Evaluate the workflow as a controlled operating-model change—not as a showcase design.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More choice improves taste only when it is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Observed workflow + presenter view · value curve is analyst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3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55680" cy="4736592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oice-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8241792" cy="46360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Worlds turns “make it better” into a visible macro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Observed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4 / 18</a:t>
            </a:r>
          </a:p>
        </p:txBody>
      </p:sp>
      <p:pic>
        <p:nvPicPr>
          <p:cNvPr id="6" name="Picture 5" descr="worl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320"/>
            <a:ext cx="7086600" cy="39862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82712" y="1417320"/>
            <a:ext cx="3520440" cy="466344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57032" y="1828800"/>
            <a:ext cx="2880360" cy="254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2084831"/>
            <a:ext cx="288036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900" b="1" i="0">
                <a:solidFill>
                  <a:srgbClr val="F8F3EA"/>
                </a:solidFill>
                <a:latin typeface="Calibri"/>
              </a:rPr>
              <a:t>Setup: the Pathfinder landing page is shown in materially different visual worlds.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2" y="3886200"/>
            <a:ext cx="288036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0" i="0">
                <a:solidFill>
                  <a:srgbClr val="C9C3BA"/>
                </a:solidFill>
                <a:latin typeface="Calibri"/>
              </a:rPr>
              <a:t>Finding: the user chooses a visual grammar before implementation variants. Action: name the direction owner and record why the world was selected.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Four commitment gates prevent exploration from becoming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Recommended operating model derived from the observed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5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36192"/>
            <a:ext cx="1298448" cy="329184"/>
          </a:xfrm>
          <a:prstGeom prst="roundRect">
            <a:avLst>
              <a:gd name="adj" fmla="val 15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0477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8F3EA"/>
                </a:solidFill>
                <a:latin typeface="Calibri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237744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202220"/>
                </a:solidFill>
                <a:latin typeface="Calibri"/>
              </a:rPr>
              <a:t>Is the brief grounded in real content and constraints?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584448"/>
            <a:ext cx="233172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822191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16052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315C4A"/>
                </a:solidFill>
                <a:latin typeface="Calibri"/>
              </a:rPr>
              <a:t>Design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0474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EXIT CRITERION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35838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202220"/>
                </a:solidFill>
                <a:latin typeface="Calibri"/>
              </a:rPr>
              <a:t>Explicit yes—or return upstream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287" y="1536192"/>
            <a:ext cx="1298448" cy="329184"/>
          </a:xfrm>
          <a:prstGeom prst="roundRect">
            <a:avLst>
              <a:gd name="adj" fmla="val 15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7" y="160477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8F3EA"/>
                </a:solidFill>
                <a:latin typeface="Calibri"/>
              </a:rPr>
              <a:t>WORLD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7" y="2148840"/>
            <a:ext cx="237744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202220"/>
                </a:solidFill>
                <a:latin typeface="Calibri"/>
              </a:rPr>
              <a:t>Is the visual grammar appropriate for the audience and task?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47287" y="3584448"/>
            <a:ext cx="233172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47287" y="3822191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7" y="416052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315C4A"/>
                </a:solidFill>
                <a:latin typeface="Calibri"/>
              </a:rPr>
              <a:t>Brand / design lead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7" y="50474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EXIT CRITERION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7287" y="535838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202220"/>
                </a:solidFill>
                <a:latin typeface="Calibri"/>
              </a:rPr>
              <a:t>Explicit yes—or return upstream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7" y="1536192"/>
            <a:ext cx="1298448" cy="329184"/>
          </a:xfrm>
          <a:prstGeom prst="roundRect">
            <a:avLst>
              <a:gd name="adj" fmla="val 15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7" y="160477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8F3EA"/>
                </a:solidFill>
                <a:latin typeface="Calibri"/>
              </a:rPr>
              <a:t>VARIANT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7" y="2148840"/>
            <a:ext cx="237744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202220"/>
                </a:solidFill>
                <a:latin typeface="Calibri"/>
              </a:rPr>
              <a:t>Is the baseline strong enough for local refinement?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6207" y="3584448"/>
            <a:ext cx="233172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7" y="3822191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OWNER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7" y="416052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315C4A"/>
                </a:solidFill>
                <a:latin typeface="Calibri"/>
              </a:rPr>
              <a:t>Product owner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7" y="50474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EXIT CRITERION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7" y="535838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202220"/>
                </a:solidFill>
                <a:latin typeface="Calibri"/>
              </a:rPr>
              <a:t>Explicit yes—or return upstream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25128" y="1536192"/>
            <a:ext cx="1298448" cy="329184"/>
          </a:xfrm>
          <a:prstGeom prst="roundRect">
            <a:avLst>
              <a:gd name="adj" fmla="val 15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25128" y="160477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8F3EA"/>
                </a:solidFill>
                <a:latin typeface="Calibri"/>
              </a:rPr>
              <a:t>RELEASE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25128" y="2148840"/>
            <a:ext cx="237744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202220"/>
                </a:solidFill>
                <a:latin typeface="Calibri"/>
              </a:rPr>
              <a:t>Has an independent challenge found drift or defects?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25128" y="3584448"/>
            <a:ext cx="233172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25128" y="3822191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OWNER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25128" y="416052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315C4A"/>
                </a:solidFill>
                <a:latin typeface="Calibri"/>
              </a:rPr>
              <a:t>Reviewer + accountable human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5128" y="50474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EXIT CRITERION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5128" y="535838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202220"/>
                </a:solidFill>
                <a:latin typeface="Calibri"/>
              </a:rPr>
              <a:t>Explicit yes—or return upstream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Generality raises the ceiling—and shifts risk to the 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Presenter-stated trade-off · no controlled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3891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A7A199"/>
                </a:solidFill>
                <a:latin typeface="Calibri"/>
              </a:rPr>
              <a:t>ONE-TRICK STYLE 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8F3EA"/>
                </a:solidFill>
                <a:latin typeface="Calibri"/>
              </a:rPr>
              <a:t>Higher floor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834640"/>
            <a:ext cx="388620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</a:pPr>
            <a:r>
              <a:rPr sz="1700" b="0" i="0">
                <a:solidFill>
                  <a:srgbClr val="C9C3BA"/>
                </a:solidFill>
                <a:latin typeface="Calibri"/>
              </a:rPr>
              <a:t>Predictable novelty
Narrow aesthetic range
Lower judgment burden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40" y="1508760"/>
            <a:ext cx="25400" cy="4434840"/>
          </a:xfrm>
          <a:prstGeom prst="rect">
            <a:avLst/>
          </a:prstGeom>
          <a:solidFill>
            <a:srgbClr val="54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572768"/>
            <a:ext cx="43891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33D2E"/>
                </a:solidFill>
                <a:latin typeface="Calibri"/>
              </a:rPr>
              <a:t>IMPECCABLE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05740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8F3EA"/>
                </a:solidFill>
                <a:latin typeface="Calibri"/>
              </a:rPr>
              <a:t>Higher ceiling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3872" y="2834640"/>
            <a:ext cx="438912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</a:pPr>
            <a:r>
              <a:rPr sz="1700" b="0" i="0">
                <a:solidFill>
                  <a:srgbClr val="C9C3BA"/>
                </a:solidFill>
                <a:latin typeface="Calibri"/>
              </a:rPr>
              <a:t>Broad differentiation
More operator variance
Higher governance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8006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C8A46B"/>
                </a:solidFill>
                <a:latin typeface="Calibri"/>
              </a:rPr>
              <a:t>CONVENTIONAL WORKFLOW WINS WHEN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230368"/>
            <a:ext cx="99212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the surface is highly standardized  ·  evidence is weak  ·  review capacity is limited  ·  the team cannot own directional choices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Change altitude determines the correct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7899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6E6A63"/>
                </a:solidFill>
                <a:latin typeface="Calibri"/>
              </a:rPr>
              <a:t>Route by change radius and confidence in the current direction.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Observed macro/micro split · matrix is analyst decision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7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53619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E6A63"/>
                </a:solidFill>
                <a:latin typeface="Calibri"/>
              </a:rPr>
              <a:t>DIRECTION CONFIDENCE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71907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33D2E"/>
                </a:solidFill>
                <a:latin typeface="Calibri"/>
              </a:rPr>
              <a:t>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71907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315C4A"/>
                </a:solidFill>
                <a:latin typeface="Calibri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23160"/>
            <a:ext cx="1188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202220"/>
                </a:solidFill>
                <a:latin typeface="Calibri"/>
              </a:rPr>
              <a:t>LARGE
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434840"/>
            <a:ext cx="1188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202220"/>
                </a:solidFill>
                <a:latin typeface="Calibri"/>
              </a:rPr>
              <a:t>SMALL
CHANGE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2103120"/>
            <a:ext cx="3246120" cy="141732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235915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REFERENCE RESET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852928"/>
            <a:ext cx="27889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F8F3EA"/>
                </a:solidFill>
                <a:latin typeface="Calibri"/>
              </a:rPr>
              <a:t>Reopen the visual grammar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2103120"/>
            <a:ext cx="3246120" cy="141732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35915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TERMINAL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852928"/>
            <a:ext cx="27889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F8F3EA"/>
                </a:solidFill>
                <a:latin typeface="Calibri"/>
              </a:rPr>
              <a:t>Change layout or 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8840" y="4160520"/>
            <a:ext cx="3246120" cy="141732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1720" y="441655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STOP POLISHING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910328"/>
            <a:ext cx="27889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202220"/>
                </a:solidFill>
                <a:latin typeface="Calibri"/>
              </a:rPr>
              <a:t>Clarify the direction first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4160520"/>
            <a:ext cx="3246120" cy="141732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41655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LIVE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910328"/>
            <a:ext cx="27889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F8F3EA"/>
                </a:solidFill>
                <a:latin typeface="Calibri"/>
              </a:rPr>
              <a:t>Compare local variants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Live Mode shortens local comparison after direction is chosen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Observed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8 / 18</a:t>
            </a:r>
          </a:p>
        </p:txBody>
      </p:sp>
      <p:pic>
        <p:nvPicPr>
          <p:cNvPr id="6" name="Picture 5" descr="live-compari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1417320"/>
            <a:ext cx="7086600" cy="39862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8368" y="1417320"/>
            <a:ext cx="3520440" cy="466344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2688" y="1828800"/>
            <a:ext cx="2880360" cy="254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84831"/>
            <a:ext cx="288036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900" b="1" i="0">
                <a:solidFill>
                  <a:srgbClr val="F8F3EA"/>
                </a:solidFill>
                <a:latin typeface="Calibri"/>
              </a:rPr>
              <a:t>Setup: the “Find the why” component is selected and alternatives are generated side by side.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886200"/>
            <a:ext cx="288036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0" i="0">
                <a:solidFill>
                  <a:srgbClr val="C9C3BA"/>
                </a:solidFill>
                <a:latin typeface="Calibri"/>
              </a:rPr>
              <a:t>Finding: compare → tune → accept compresses a bounded choice. Action: use Live for detail changes; return structural work to the terminal.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A wrong visual grammar requires a reference reset—not more polish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Observed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9 / 18</a:t>
            </a:r>
          </a:p>
        </p:txBody>
      </p:sp>
      <p:pic>
        <p:nvPicPr>
          <p:cNvPr id="6" name="Picture 5" descr="referenc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320"/>
            <a:ext cx="7086600" cy="39862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82712" y="1417320"/>
            <a:ext cx="3520440" cy="466344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57032" y="1828800"/>
            <a:ext cx="2880360" cy="254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2084831"/>
            <a:ext cx="288036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900" b="1" i="0">
                <a:solidFill>
                  <a:srgbClr val="F8F3EA"/>
                </a:solidFill>
                <a:latin typeface="Calibri"/>
              </a:rPr>
              <a:t>Setup: an outside reference is introduced after the existing direction remains unsatisfying.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2" y="3886200"/>
            <a:ext cx="288036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0" i="0">
                <a:solidFill>
                  <a:srgbClr val="C9C3BA"/>
                </a:solidFill>
                <a:latin typeface="Calibri"/>
              </a:rPr>
              <a:t>Finding: the reference drives a macro departure through terminal work. Action: log provenance and return to Live only after direction is accepted.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Human judgment belongs at four high-leverage moments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Analyst role model derived from the full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10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4828032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judgment-al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8420608" cy="47365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Taste scales only when decisions become organizational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Design record and detection observed · flywheel is analyst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11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945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32304"/>
            <a:ext cx="19659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8F3EA"/>
                </a:solidFill>
                <a:latin typeface="Calibri"/>
              </a:rPr>
              <a:t>CHOSEN
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002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837944"/>
            <a:ext cx="19659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202220"/>
                </a:solidFill>
                <a:latin typeface="Calibri"/>
              </a:rPr>
              <a:t>DESIGN.MD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945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432304"/>
            <a:ext cx="19659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8F3EA"/>
                </a:solidFill>
                <a:latin typeface="Calibri"/>
              </a:rPr>
              <a:t>FUTURE
CONSTRAINTS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42976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59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4535424"/>
            <a:ext cx="19659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8F3EA"/>
                </a:solidFill>
                <a:latin typeface="Calibri"/>
              </a:rPr>
              <a:t>DETECTION +
OVERRIDES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46888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33D2E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246888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33D2E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749039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33D2E"/>
                </a:solidFill>
                <a:latin typeface="Calibri"/>
              </a:rPr>
              <a:t>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37947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33D2E"/>
                </a:solidFill>
                <a:latin typeface="Calibri"/>
              </a:rPr>
              <a:t>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192024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C8A46B"/>
                </a:solidFill>
                <a:latin typeface="Calibri"/>
              </a:rPr>
              <a:t>Less reinvention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5146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C8A46B"/>
                </a:solidFill>
                <a:latin typeface="Calibri"/>
              </a:rPr>
              <a:t>Lower variance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1089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C8A46B"/>
                </a:solidFill>
                <a:latin typeface="Calibri"/>
              </a:rPr>
              <a:t>Faster future cycles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623560"/>
            <a:ext cx="996696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8F3EA"/>
                </a:solidFill>
                <a:latin typeface="Calibri"/>
              </a:rPr>
              <a:t>Risk: stale constraints become a new default. Version the record and permit explicit resets.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Fresh-context review is a challenge control—not proof of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Presenter-described review control · efficacy is unmeasured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12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64208"/>
            <a:ext cx="4160520" cy="324612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93392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8F3EA"/>
                </a:solidFill>
                <a:latin typeface="Calibri"/>
              </a:rPr>
              <a:t>MAKER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33472"/>
            <a:ext cx="3383280" cy="1481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Knows the brief
Knows every compromise
Can rationalize its own choices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4064" y="2807208"/>
            <a:ext cx="9144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E33D2E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64208"/>
            <a:ext cx="4526280" cy="324612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993392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E33D2E"/>
                </a:solidFill>
                <a:latin typeface="Calibri"/>
              </a:rPr>
              <a:t>CHECKER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33472"/>
            <a:ext cx="3657600" cy="1481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Challenges known defaults
Sees the result without build momentum
Still needs human adjudication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440680"/>
            <a:ext cx="1001268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E33D2E"/>
                </a:solidFill>
                <a:latin typeface="Calibri"/>
              </a:rPr>
              <a:t>Keep separate QA for accessibility, factual accuracy, performance, responsive behavior, and user outcomes.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The demo reaches Level 2—and shows pieces of Level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7899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6E6A63"/>
                </a:solidFill>
                <a:latin typeface="Calibri"/>
              </a:rPr>
              <a:t>There is no supplied evidence for measured productivity or user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Maturity assessment based on the observed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01498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RUBRIC  ·  decision gates   |   change routing   |   design memory   |   QA control   |   measurement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572768" cy="3127248"/>
          </a:xfrm>
          <a:prstGeom prst="rect">
            <a:avLst/>
          </a:prstGeom>
          <a:solidFill>
            <a:srgbClr val="A7A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AD HOC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8F3EA"/>
                </a:solidFill>
                <a:latin typeface="Calibri"/>
              </a:rPr>
              <a:t>One-shot prompt
Subjective approval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39" y="1828800"/>
            <a:ext cx="1572768" cy="3127248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599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599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202220"/>
                </a:solidFill>
                <a:latin typeface="Calibri"/>
              </a:rPr>
              <a:t>GUIDED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1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202220"/>
                </a:solidFill>
                <a:latin typeface="Calibri"/>
              </a:rPr>
              <a:t>Worlds and steering
Named decision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828800"/>
            <a:ext cx="1572768" cy="3127248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19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STRUCTURED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8F3EA"/>
                </a:solidFill>
                <a:latin typeface="Calibri"/>
              </a:rPr>
              <a:t>Macro commitment
Then local convergence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79" y="1828800"/>
            <a:ext cx="1572768" cy="3127248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39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39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CONTROLLED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1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8F3EA"/>
                </a:solidFill>
                <a:latin typeface="Calibri"/>
              </a:rPr>
              <a:t>Design record
Detect + independent QA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1828800"/>
            <a:ext cx="1572768" cy="3127248"/>
          </a:xfrm>
          <a:prstGeom prst="rect">
            <a:avLst/>
          </a:prstGeom>
          <a:solidFill>
            <a:srgbClr val="5D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MEASURED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2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8F3EA"/>
                </a:solidFill>
                <a:latin typeface="Calibri"/>
              </a:rPr>
              <a:t>Time, cost, rework
Quality metrics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1828800"/>
            <a:ext cx="1572768" cy="3127248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12680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94392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8F3EA"/>
                </a:solidFill>
                <a:latin typeface="Calibri"/>
              </a:rPr>
              <a:t>Usability and business
impact validated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5321808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DEMONSTRATED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321808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202220"/>
                </a:solidFill>
                <a:latin typeface="Calibri"/>
              </a:rPr>
              <a:t>UNPROVEN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Four readiness gates define when adoption may advance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Recommended governance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14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1508760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27632"/>
            <a:ext cx="6217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2704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E33D2E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527048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Real copy, proof, constraints, approved references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2258568"/>
            <a:ext cx="9052560" cy="12700"/>
          </a:xfrm>
          <a:prstGeom prst="rect">
            <a:avLst/>
          </a:prstGeom>
          <a:solidFill>
            <a:srgbClr val="50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" y="2587752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706624"/>
            <a:ext cx="6217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6060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E33D2E"/>
                </a:solidFill>
                <a:latin typeface="Calibri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606040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Named owner for World and variant selection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7360" y="3337560"/>
            <a:ext cx="9052560" cy="12700"/>
          </a:xfrm>
          <a:prstGeom prst="rect">
            <a:avLst/>
          </a:prstGeom>
          <a:solidFill>
            <a:srgbClr val="50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3666744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785616"/>
            <a:ext cx="6217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68503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E33D2E"/>
                </a:solidFill>
                <a:latin typeface="Calibri"/>
              </a:rPr>
              <a:t>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685032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Macro/micro routing and stop rules understood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4416552"/>
            <a:ext cx="9052560" cy="12700"/>
          </a:xfrm>
          <a:prstGeom prst="rect">
            <a:avLst/>
          </a:prstGeom>
          <a:solidFill>
            <a:srgbClr val="50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" y="4745736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864608"/>
            <a:ext cx="6217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764024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E33D2E"/>
                </a:solidFill>
                <a:latin typeface="Calibri"/>
              </a:rPr>
              <a:t>GOVERNANCE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764024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Versioned design record, QA, provenance controls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5495544"/>
            <a:ext cx="9052560" cy="12700"/>
          </a:xfrm>
          <a:prstGeom prst="rect">
            <a:avLst/>
          </a:prstGeom>
          <a:solidFill>
            <a:srgbClr val="50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" y="5788152"/>
            <a:ext cx="10058400" cy="41148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879592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ANY RED GATE → RUN A BOUNDED PILOT. DO NOT SCALE THE WORKFLOW.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Success is fewer wrong-direction cycles—without quality regressions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Pilot recommendation · no benchmark data supplied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8988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PILOT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10512"/>
            <a:ext cx="667512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Reduce the cost of arriving at an acceptable direction.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063240"/>
            <a:ext cx="2267712" cy="3810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310128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02220"/>
                </a:solidFill>
                <a:latin typeface="Calibri"/>
              </a:rPr>
              <a:t>EFFICIENCY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822191"/>
            <a:ext cx="226771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Time to direction
Time to production-ready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6432" y="3063240"/>
            <a:ext cx="2267712" cy="381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3310128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02220"/>
                </a:solidFill>
                <a:latin typeface="Calibri"/>
              </a:rPr>
              <a:t>REWORK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3822191"/>
            <a:ext cx="226771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Major resets
Post-approval changes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3063240"/>
            <a:ext cx="2267712" cy="3810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3310128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02220"/>
                </a:solidFill>
                <a:latin typeface="Calibri"/>
              </a:rPr>
              <a:t>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3822191"/>
            <a:ext cx="226771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Blind brand + usability scores
Independent defects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42832" y="3063240"/>
            <a:ext cx="2267712" cy="3810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2832" y="3310128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02220"/>
                </a:solidFill>
                <a:latin typeface="Calibri"/>
              </a:rPr>
              <a:t>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832" y="3822191"/>
            <a:ext cx="226771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Unsupported claims
Reference exceptions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4919472"/>
            <a:ext cx="10424160" cy="987552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084064"/>
            <a:ext cx="28803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PROPOSED GO / NO-GO  ·  confirm before launch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422392"/>
            <a:ext cx="996696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6+ matched tasks · 2+ operator profiles · ≥20% fewer major resets · quality within 5% of baseline · zero critical accessibility/provenance regressions · cost ≤ baseline +15%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A fair pilot isolates workflow value from operator enthusiasm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Controlled evaluation design · thresholds require client confirmation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16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C8A46B"/>
                </a:solidFill>
                <a:latin typeface="Calibri"/>
              </a:rPr>
              <a:t>FIXED ACROSS BOTH ARMS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9728" cy="347472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10512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Same landing-page brief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487168"/>
            <a:ext cx="109728" cy="347472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Same real copy and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145536"/>
            <a:ext cx="109728" cy="347472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127248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Same approved references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803904"/>
            <a:ext cx="109728" cy="347472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85616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Same model and time budget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417320"/>
            <a:ext cx="25400" cy="4251960"/>
          </a:xfrm>
          <a:prstGeom prst="rect">
            <a:avLst/>
          </a:prstGeom>
          <a:solidFill>
            <a:srgbClr val="555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41732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A7A199"/>
                </a:solidFill>
                <a:latin typeface="Calibri"/>
              </a:rPr>
              <a:t>CURRENT 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938528"/>
            <a:ext cx="246888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8F3EA"/>
                </a:solidFill>
                <a:latin typeface="Calibri"/>
              </a:rPr>
              <a:t>Conventional prompting
and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154680"/>
            <a:ext cx="2560320" cy="1234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 i="0">
                <a:solidFill>
                  <a:srgbClr val="C9C3BA"/>
                </a:solidFill>
                <a:latin typeface="Calibri"/>
              </a:rPr>
              <a:t>Matched task
Matched operator profile
Blind downstream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14173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IMPECCABLE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1938528"/>
            <a:ext cx="288036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8F3EA"/>
                </a:solidFill>
                <a:latin typeface="Calibri"/>
              </a:rPr>
              <a:t>Worlds → commitment
→ Live refinement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3154680"/>
            <a:ext cx="2880360" cy="1234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 i="0">
                <a:solidFill>
                  <a:srgbClr val="C9C3BA"/>
                </a:solidFill>
                <a:latin typeface="Calibri"/>
              </a:rPr>
              <a:t>Same task
Same operator profile
Same blind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8920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C8A46B"/>
                </a:solidFill>
                <a:latin typeface="Calibri"/>
              </a:rPr>
              <a:t>Primary endpoint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818888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8F3EA"/>
                </a:solidFill>
                <a:latin typeface="Calibri"/>
              </a:rPr>
              <a:t>Major direction resets before acceptance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The operating model needs controls at every failure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Risk-control ledger derived from the demonstrated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81912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490472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Invented 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47218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C8A46B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1490472"/>
            <a:ext cx="57150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315C4A"/>
                </a:solidFill>
                <a:latin typeface="Calibri"/>
              </a:rPr>
              <a:t>Lock real claims and assets before visual exploration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075688"/>
            <a:ext cx="10332720" cy="1270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7802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WORLD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386584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Choice paralysis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68296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C8A46B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2386584"/>
            <a:ext cx="57150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315C4A"/>
                </a:solidFill>
                <a:latin typeface="Calibri"/>
              </a:rPr>
              <a:t>Name a decision owner and cap rerolls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971800"/>
            <a:ext cx="10332720" cy="1270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7413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282696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Local polish on a wrong 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26440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C8A46B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3282696"/>
            <a:ext cx="57150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315C4A"/>
                </a:solidFill>
                <a:latin typeface="Calibri"/>
              </a:rPr>
              <a:t>Escalate by change altitude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867912"/>
            <a:ext cx="10332720" cy="1270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270248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178808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Design-system drift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16052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C8A46B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4178808"/>
            <a:ext cx="57150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315C4A"/>
                </a:solidFill>
                <a:latin typeface="Calibri"/>
              </a:rPr>
              <a:t>Version accepted decisions and explicit resets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764024"/>
            <a:ext cx="10332720" cy="1270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166360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RELEASE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5074920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Self-confirming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05663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C8A46B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5074920"/>
            <a:ext cx="57150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315C4A"/>
                </a:solidFill>
                <a:latin typeface="Calibri"/>
              </a:rPr>
              <a:t>Use fresh-context challenge plus human adjudication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660136"/>
            <a:ext cx="10332720" cy="1270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5897880"/>
            <a:ext cx="10332720" cy="32004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961888"/>
            <a:ext cx="9966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CONTROL PRINCIPLE  ·  automate detection; never automate accountability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Adopt the decision architecture—then earn the right to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Recommendation bounded by the supplied walkthrough's evidence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18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898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33D2E"/>
                </a:solidFill>
                <a:latin typeface="Calibri"/>
              </a:rPr>
              <a:t>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10512"/>
            <a:ext cx="987552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8F3EA"/>
                </a:solidFill>
                <a:latin typeface="Calibri"/>
              </a:rPr>
              <a:t>Run one governed, matched-task pilot.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973836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900" b="0" i="0">
                <a:solidFill>
                  <a:srgbClr val="D0C9C0"/>
                </a:solidFill>
                <a:latin typeface="Calibri"/>
              </a:rPr>
              <a:t>Approve expansion only if the workflow reduces wrong-direction cycles without degrading accessibility, performance, factual integrity, provenance, or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0690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178808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8F3E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4078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C8A46B"/>
                </a:solidFill>
                <a:latin typeface="Calibri"/>
              </a:rPr>
              <a:t>NAME THE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4617720"/>
            <a:ext cx="260604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One accountable lead for direction and release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40690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4178808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8F3E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72" y="4078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C8A46B"/>
                </a:solidFill>
                <a:latin typeface="Calibri"/>
              </a:rPr>
              <a:t>SELECT THE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072" y="4617720"/>
            <a:ext cx="260604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One bounded landing-page workflow with real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40690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178808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8F3E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5672" y="4078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C8A46B"/>
                </a:solidFill>
                <a:latin typeface="Calibri"/>
              </a:rPr>
              <a:t>LOCK THE SCORECARD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4617720"/>
            <a:ext cx="260604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Baseline, thresholds, blind reviewers, stop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1616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A7A199"/>
                </a:solidFill>
                <a:latin typeface="Calibri"/>
              </a:rPr>
              <a:t>Decision requested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83387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8F3EA"/>
                </a:solidFill>
                <a:latin typeface="Calibri"/>
              </a:rPr>
              <a:t>Authorize pilot design—not enterprise rollout.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