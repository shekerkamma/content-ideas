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decision. This is not a review of whether the demonstration looks attractive. It is a request to test whether a structured design-decision workflow reduces expensive wrong-direction cycles without creating new control failures.</a:t>
            </a:r>
          </a:p>
          <a:p/>
          <a:p>
            <a:r>
              <a:t>Transition: Separate what was demonstrated from what still must be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meeting in miniature. Executives should be able to understand the evidence boundary and approve or reject the pilot without needing a feature tour.</a:t>
            </a:r>
          </a:p>
          <a:p/>
          <a:p>
            <a:r>
              <a:t>Transition: The business problem begins before visual refinement: generic defaults defer the hardest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of available styles is not the value proposition. The value lies in sequencing divergence and convergence so that teams make the large decision before investing in implementation detail.</a:t>
            </a:r>
          </a:p>
          <a:p/>
          <a:p>
            <a:r>
              <a:t>Transition: The Worlds interface makes that macro decision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the screenshot as evidence of interaction state, not as the slide’s argument. The management implication is to name a direction owner and record why the selected world fits the audience and task.</a:t>
            </a:r>
          </a:p>
          <a:p/>
          <a:p>
            <a:r>
              <a:t>Transition: Visible choice still needs gates or it becomes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becomes governable when each exploration stage can explicitly return upstream. A gate without an owner is merely a pause; a gate without an exit criterion is subjective delay.</a:t>
            </a:r>
          </a:p>
          <a:p/>
          <a:p>
            <a:r>
              <a:t>Transition: This governance burden is the cost of a higher creative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counterargument. A powerful general system should not be the default for every task; its flexibility is valuable only when the organization can govern directional choice.</a:t>
            </a:r>
          </a:p>
          <a:p/>
          <a:p>
            <a:r>
              <a:t>Transition: Work should therefore be routed by the radius of change, not personal tool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rule prevents a common failure: using faster local iteration to rationalize a fundamentally weak visual grammar.</a:t>
            </a:r>
          </a:p>
          <a:p/>
          <a:p>
            <a:r>
              <a:t>Transition: Live Mode is valuable precisely because its scope is 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Live when the decision can be stated at component level and the accepted macro direction remains valid. Escalate structural changes instead of accumulating local exceptions.</a:t>
            </a:r>
          </a:p>
          <a:p/>
          <a:p>
            <a:r>
              <a:t>Transition: When visual grammar itself is wrong, local iteration must give way to a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are not decoration. They are a controlled reset mechanism and therefore need provenance, usage boundaries, and an explicit statement of what design grammar is being borrowed.</a:t>
            </a:r>
          </a:p>
          <a:p/>
          <a:p>
            <a:r>
              <a:t>Transition: The workflow now reveals which decisions must remain human-owned.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allocation is the operating model. It avoids the false choice between manual design and autonomous generation by assigning machines the reversible work and humans the consequential decisions.</a:t>
            </a:r>
          </a:p>
          <a:p/>
          <a:p>
            <a:r>
              <a:t>Transition: Accepted decisions then become useful only when they constrain future work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Organizational memory is more valuable than any single generated page. Treat the design record as governed policy with authorship, version history, rationale, and expiration—not as permanent truth.</a:t>
            </a:r>
          </a:p>
          <a:p/>
          <a:p>
            <a:r>
              <a:t>Transition: A fresh-context checker can challenge that memory, but cannot certify the result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 finish reviewer as a challenge control. Its independence is useful, but the source provides no measured evidence that it catches every defect or predicts user value.</a:t>
            </a:r>
          </a:p>
          <a:p/>
          <a:p>
            <a:r>
              <a:t>Transition: That boundary places the demonstrated workflow at a specific maturity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prevents the deck from converting feature sophistication into outcome certainty. Levels four and five are hypotheses to test, not benefits to claim.</a:t>
            </a:r>
          </a:p>
          <a:p/>
          <a:p>
            <a:r>
              <a:t>Transition: Readiness should therefore be assessed before the pilot is allowed to broaden.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gates are intentionally unscored until the client assesses them. Presenting invented green status would defeat the governance standard this deck recommends.</a:t>
            </a:r>
          </a:p>
          <a:p/>
          <a:p>
            <a:r>
              <a:t>Transition: Once readiness is acceptable, success criteria must be locked before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 metrics before the first pilot output is seen. Otherwise the demonstration can redefine success around whichever result looks strongest.</a:t>
            </a:r>
          </a:p>
          <a:p/>
          <a:p>
            <a:r>
              <a:t>Transition: A matched-task design isolates workflow value from novelty and operator enthusiasm.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primary endpoint is major direction resets before acceptance. Secondary measures cover elapsed time, quality, defects, provenance exceptions, and cost.</a:t>
            </a:r>
          </a:p>
          <a:p/>
          <a:p>
            <a:r>
              <a:t>Transition: The experiment still needs a control for every known failure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is part of the product decision, not a compliance appendix. A pilot that omits controls cannot answer whether the workflow is safe to scale.</a:t>
            </a:r>
          </a:p>
          <a:p/>
          <a:p>
            <a:r>
              <a:t>Transition: The decision can now be reduced to one bounded authorization and three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 requested. The next meeting should review pilot design and readiness, not another showcase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1498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200" b="1" i="0">
                <a:solidFill>
                  <a:srgbClr val="F8F3EA"/>
                </a:solidFill>
                <a:latin typeface="Calibri"/>
              </a:rPr>
              <a:t>Pilot the decision architecture—
not the promise of autonomous taste.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The walkthrough demonstrates stronger direction selection, local comparison, and escalation. It does not demonstrate productivity, usability, or business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Authorize one governed, matched-task pilot—not enterprise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observed demonstration   |   presenter assertion   |   analyst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Analyst assessment based on the supplied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case for a pilot rests on three demonstrated mechanisms—and three unproven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Executive summary · evidence boundary based on the supplied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3337560" cy="530352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Worlds makes macro direction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Live compares bounded local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References reset a wrong visual grammar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58384"/>
            <a:ext cx="3337560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417320"/>
            <a:ext cx="3337560" cy="530352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NOT DEMONSTRATED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1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Faster production or lower total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Higher usability or brand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1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Conversion, retention, or commercial 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5358384"/>
            <a:ext cx="3337560" cy="381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417320"/>
            <a:ext cx="3337560" cy="53035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Authorize one matched-task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Keep inputs and budgets constant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Expand only after blind quality and control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5358384"/>
            <a:ext cx="3337560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32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Executive 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559552"/>
            <a:ext cx="8732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Evaluate the workflow as a controlled operating-model change—not as a showcase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Observed workflow + presenter view ·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55680" cy="473659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oice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824179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Worlds turns “make it better” into a visible macro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18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Pathfinder landing page is shown in materially different visual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user chooses a visual grammar before implementation variants. Action: name the direction owner and record why the world was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Recommended operating model derived from the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Presenter-stated trade-off ·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macro/micro split ·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shortens local comparison after direction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18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“Find the why” component is selected and alternatives are generated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compare → tune → accept compresses a bounded choice. Action: use Live for detail changes; return structural work to the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18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an outside reference is introduced after the existing direction remains unsatisfying.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reference drives a macro departure through terminal work. Action: log provenance and return to Live only after direction is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Analyst role model derived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4828032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udgment-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420608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Design record and detection observed ·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Presenter-described review control ·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338328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33472"/>
            <a:ext cx="365760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Maturity assessment based on the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Four readiness gates define when adoption may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Pilot recommendation ·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 fair pilot isolates workflow value from operator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Controlled evaluation design · thresholds require client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FIXED ACROSS BOTH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landing-page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real copy and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6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approved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03904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model and time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25400" cy="4251960"/>
          </a:xfrm>
          <a:prstGeom prst="rect">
            <a:avLst/>
          </a:prstGeom>
          <a:solidFill>
            <a:srgbClr val="5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1732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A7A199"/>
                </a:solidFill>
                <a:latin typeface="Calibri"/>
              </a:rPr>
              <a:t>CURRENT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24688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38528"/>
            <a:ext cx="28803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Worlds → commitment
→ Live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5468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Same task
Same operator profile
Same blind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Primary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188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operating model needs controls at every failure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Risk-control ledger derived from the demonstrated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49047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Invented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72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490472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Lock real claims and assets before visual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8658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Choice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682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386584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Name a decision owner and cap rerolls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8269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Local polish on a wrong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82696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Escalate by change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7880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Design-system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78808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Version accepted decisions and explicit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64024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Self-confirming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566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5074920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Use fresh-context challenge plus human adjudication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0136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 PRINCIPLE  ·  automate detection; never automate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 the decision architecture—then earn the right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Recommendation bounded by the supplied walkthrough's 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8F3EA"/>
                </a:solidFill>
                <a:latin typeface="Calibri"/>
              </a:rPr>
              <a:t>Run one governed, matched-task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738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 i="0">
                <a:solidFill>
                  <a:srgbClr val="D0C9C0"/>
                </a:solidFill>
                <a:latin typeface="Calibri"/>
              </a:rPr>
              <a:t>Approve expansion only if the workflow reduces wrong-direction cycles without degrading accessibility, performance, factual integrity, provenance, or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NAME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SELECT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bounded landing-page workflow with 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LOCK THE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338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Authorize pilot design—not enterprise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