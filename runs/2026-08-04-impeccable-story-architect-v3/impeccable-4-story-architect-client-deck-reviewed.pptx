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149840" cy="1783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200" b="1" i="0">
                <a:solidFill>
                  <a:srgbClr val="F8F3EA"/>
                </a:solidFill>
                <a:latin typeface="Calibri"/>
              </a:rPr>
              <a:t>Pilot the decision architecture—
not the promise of autonomous taste.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8961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000" b="0" i="0">
                <a:solidFill>
                  <a:srgbClr val="D0C9C0"/>
                </a:solidFill>
                <a:latin typeface="Calibri"/>
              </a:rPr>
              <a:t>The walkthrough demonstrates stronger direction selection, local comparison, and escalation. It does not demonstrate productivity, usability, or business impact.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120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C8A46B"/>
                </a:solidFill>
                <a:latin typeface="Calibri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138928"/>
            <a:ext cx="786384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8F3EA"/>
                </a:solidFill>
                <a:latin typeface="Calibri"/>
              </a:rPr>
              <a:t>Authorize one governed, matched-task pilot—not enterprise rollout.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25312"/>
            <a:ext cx="8595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9F9B95"/>
                </a:solidFill>
                <a:latin typeface="Calibri"/>
              </a:rPr>
              <a:t>EVIDENCE  ·  observed demonstration   |   presenter assertion   |   analyst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Analyst assessment based on the supplied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case for a pilot rests on three demonstrated mechanisms—and three unproven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Executive summary · evidence boundary based on the supplied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3337560" cy="530352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DEMONSTRATED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67712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315C4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9424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Worlds makes macro direction visible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3697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315C4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21868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Live compares bounded local alternatives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0624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315C4A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187952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References reset a wrong visual grammar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358384"/>
            <a:ext cx="3337560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7" y="1417320"/>
            <a:ext cx="3337560" cy="530352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1572768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NOT DEMONSTRATED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267712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1" y="2249424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Faster production or lower total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7" y="323697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1" y="321868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Higher usability or brand effectiveness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7" y="420624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1" y="4187952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Conversion, retention, or commercial lift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7" y="5358384"/>
            <a:ext cx="3337560" cy="381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6448" y="1417320"/>
            <a:ext cx="3337560" cy="53035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572768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267712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2" y="2249424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Authorize one matched-task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23697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8512" y="321868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Keep inputs and budgets constant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420624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4187952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Expand only after blind quality and control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56448" y="5358384"/>
            <a:ext cx="3337560" cy="381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6327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Executive implication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5559552"/>
            <a:ext cx="87325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Evaluate the workflow as a controlled operating-model change—not as a showcase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More choice improves taste only when it is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CAC4BB"/>
                </a:solidFill>
                <a:latin typeface="Calibri"/>
              </a:rPr>
              <a:t>Too little choice creates default convergence. Too much unmanaged choice creates decision paralysis.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Observed workflow + presenter view · value curve is analyst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A7A199"/>
                </a:solidFill>
                <a:latin typeface="Calibri"/>
              </a:rPr>
              <a:t>DECISION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983480"/>
            <a:ext cx="9692640" cy="25400"/>
          </a:xfrm>
          <a:prstGeom prst="rect">
            <a:avLst/>
          </a:prstGeom>
          <a:solidFill>
            <a:srgbClr val="59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28800"/>
            <a:ext cx="25400" cy="3154680"/>
          </a:xfrm>
          <a:prstGeom prst="rect">
            <a:avLst/>
          </a:prstGeom>
          <a:solidFill>
            <a:srgbClr val="59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81328" y="4050792"/>
            <a:ext cx="1417320" cy="914400"/>
          </a:xfrm>
          <a:prstGeom prst="rect">
            <a:avLst/>
          </a:prstGeom>
          <a:solidFill>
            <a:srgbClr val="A7A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ONE
DEFAULT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3364992"/>
            <a:ext cx="1417320" cy="16002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UNSTRUCTURED
OPTIONS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2221992"/>
            <a:ext cx="1417320" cy="27432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9592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WORLDS →
COMMIT → VARIANTS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3" y="3685032"/>
            <a:ext cx="1417320" cy="1280160"/>
          </a:xfrm>
          <a:prstGeom prst="rect">
            <a:avLst/>
          </a:prstGeom>
          <a:solidFill>
            <a:srgbClr val="A7A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3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ENDLESS
REROLLS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856231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C8A46B"/>
                </a:solidFill>
                <a:latin typeface="Calibri"/>
              </a:rPr>
              <a:t>The feature count is incidental.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304288"/>
            <a:ext cx="297180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8F3EA"/>
                </a:solidFill>
                <a:latin typeface="Calibri"/>
              </a:rPr>
              <a:t>The commitment gates create the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21868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A7A199"/>
                </a:solidFill>
                <a:latin typeface="Calibri"/>
              </a:rPr>
              <a:t>CONCEPTUAL RELATIONSHIP · NOT MEASURED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Worlds turns “make it better” into a visible macro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4 / 18</a:t>
            </a:r>
          </a:p>
        </p:txBody>
      </p:sp>
      <p:pic>
        <p:nvPicPr>
          <p:cNvPr id="6" name="Picture 5" descr="wor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82712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57032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Setup: the Pathfinder landing page is shown in materially different visual worlds.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2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Finding: the user chooses a visual grammar before implementation variants. Action: name the direction owner and record why the world was selected.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Four commitment gates prevent exploration from becoming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Recommended operating model derived from the observed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5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brief grounded in real content and constraints?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Design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7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7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7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visual grammar appropriate for the audience and task?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7287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7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7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Brand / design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7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7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VARIANT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baseline strong enough for local refinement?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7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7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Product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7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25128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5128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Has an independent challenge found drift or defects?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5128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5128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Reviewer + accountable human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Generality raises the ceiling—and shifts risk to the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Presenter-stated trade-off · no controlled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A7A199"/>
                </a:solidFill>
                <a:latin typeface="Calibri"/>
              </a:rPr>
              <a:t>ONE-TRICK STYLE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8F3EA"/>
                </a:solidFill>
                <a:latin typeface="Calibri"/>
              </a:rPr>
              <a:t>Higher floor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34640"/>
            <a:ext cx="388620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700" b="0" i="0">
                <a:solidFill>
                  <a:srgbClr val="C9C3BA"/>
                </a:solidFill>
                <a:latin typeface="Calibri"/>
              </a:rPr>
              <a:t>Predictable novelty
Narrow aesthetic range
Lower judgment burden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508760"/>
            <a:ext cx="25400" cy="4434840"/>
          </a:xfrm>
          <a:prstGeom prst="rect">
            <a:avLst/>
          </a:prstGeom>
          <a:solidFill>
            <a:srgbClr val="54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72768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33D2E"/>
                </a:solidFill>
                <a:latin typeface="Calibri"/>
              </a:rPr>
              <a:t>IMPECCABLE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0574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8F3EA"/>
                </a:solidFill>
                <a:latin typeface="Calibri"/>
              </a:rPr>
              <a:t>Higher ceiling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834640"/>
            <a:ext cx="438912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700" b="0" i="0">
                <a:solidFill>
                  <a:srgbClr val="C9C3BA"/>
                </a:solidFill>
                <a:latin typeface="Calibri"/>
              </a:rPr>
              <a:t>Broad differentiation
More operator variance
Higher governance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8006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CONVENTIONAL WORKFLOW WINS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230368"/>
            <a:ext cx="99212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the surface is highly standardized  ·  evidence is weak  ·  review capacity is limited  ·  the team cannot own directional choices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Change altitude determines the correct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Route by change radius and confidence in the current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macro/micro split · matrix is analyst decision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361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E6A63"/>
                </a:solidFill>
                <a:latin typeface="Calibri"/>
              </a:rPr>
              <a:t>DIRECTION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719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19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315C4A"/>
                </a:solidFill>
                <a:latin typeface="Calibri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2316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LARGE
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43484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SMALL
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103120"/>
            <a:ext cx="3246120" cy="141732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3591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REFERENCE 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8529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Reopen the visual grammar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103120"/>
            <a:ext cx="3246120" cy="141732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3591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529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Change layout or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4160520"/>
            <a:ext cx="3246120" cy="141732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44165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STOP POLISHING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9103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Clarify the direction first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4160520"/>
            <a:ext cx="3246120" cy="141732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4165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LIVE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9103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Compare local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Live Mode shortens local comparison after direction is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8 / 18</a:t>
            </a:r>
          </a:p>
        </p:txBody>
      </p:sp>
      <p:pic>
        <p:nvPicPr>
          <p:cNvPr id="6" name="Picture 5" descr="live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Setup: the “Find the why” component is selected and alternatives are generated side by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Finding: compare → tune → accept compresses a bounded choice. Action: use Live for detail changes; return structural work to the terminal.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A wrong visual grammar requires a reference reset—not more polish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9 / 18</a:t>
            </a:r>
          </a:p>
        </p:txBody>
      </p:sp>
      <p:pic>
        <p:nvPicPr>
          <p:cNvPr id="6" name="Picture 5" descr="refer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82712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57032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Setup: an outside reference is introduced after the existing direction remains unsatisfying.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2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Finding: the reference drives a macro departure through terminal work. Action: log provenance and return to Live only after direction is accepted.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Human judgment belongs at four high-leverage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Analyst role model derived from the full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10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2404872" cy="65836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FRAME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Define audience, evidence, constraints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Structure the brief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7287" y="1463040"/>
            <a:ext cx="2404872" cy="65836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7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COMMIT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7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7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Choose the visual grammar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7287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7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7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Expand materially different options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463040"/>
            <a:ext cx="2404872" cy="65836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7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RESOLVE TRADE-OFFS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Judge variants and escalation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7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7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7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Generate and compare alternatives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5128" y="1463040"/>
            <a:ext cx="2404872" cy="65836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APPROVE 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5128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Own the release decision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25128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5128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5128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Detect patterns and run technical QA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Taste scales only when decisions become organizational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Design record and detection observed · flywheel is analyst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11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94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3230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CHOSEN
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83794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02220"/>
                </a:solidFill>
                <a:latin typeface="Calibri"/>
              </a:rPr>
              <a:t>DESIGN.MD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94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3230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FUTURE
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2976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59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53542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DETECTION +
OVERRIDES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4688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4688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49039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3794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92024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Less reinvention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5146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Lower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108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Faster future 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23560"/>
            <a:ext cx="996696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8F3EA"/>
                </a:solidFill>
                <a:latin typeface="Calibri"/>
              </a:rPr>
              <a:t>Risk: stale constraints become a new default. Version the record and permit explicit resets.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Fresh-context review is a challenge control—not proof of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Presenter-described review control · efficacy is unmeasured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64208"/>
            <a:ext cx="4160520" cy="324612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MAKER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Knows the brief
Knows every compromise
Can rationalize its own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4064" y="2807208"/>
            <a:ext cx="9144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64208"/>
            <a:ext cx="4526280" cy="324612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9933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E33D2E"/>
                </a:solidFill>
                <a:latin typeface="Calibri"/>
              </a:rPr>
              <a:t>CHECKER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97480"/>
            <a:ext cx="365760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sz="1800" b="1" i="0">
                <a:solidFill>
                  <a:srgbClr val="F8F3EA"/>
                </a:solidFill>
                <a:latin typeface="Calibri"/>
              </a:rPr>
              <a:t>Challenges known defaults
Sees the result without build momentum
Still needs human adjudication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440680"/>
            <a:ext cx="100126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E33D2E"/>
                </a:solidFill>
                <a:latin typeface="Calibri"/>
              </a:rPr>
              <a:t>Keep separate QA for accessibility, factual accuracy, performance, responsive behavior, and user outcomes.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demo reaches Level 2—and shows pieces of Level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There is no supplied evidence for measured productivity or user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Maturity assessment based on the observed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RUBRIC  ·  decision gates   |   change routing   |   design memory   |   QA control   |   measurement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572768" cy="3127248"/>
          </a:xfrm>
          <a:prstGeom prst="rect">
            <a:avLst/>
          </a:prstGeom>
          <a:solidFill>
            <a:srgbClr val="A7A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AD HOC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One-shot prompt
Subjective 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39" y="1828800"/>
            <a:ext cx="1572768" cy="3127248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59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202220"/>
                </a:solidFill>
                <a:latin typeface="Calibri"/>
              </a:rPr>
              <a:t>GUIDED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202220"/>
                </a:solidFill>
                <a:latin typeface="Calibri"/>
              </a:rPr>
              <a:t>Worlds and steering
Named decision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828800"/>
            <a:ext cx="1572768" cy="312724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STRUCTURED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Macro commitment
Then local convergence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1828800"/>
            <a:ext cx="1572768" cy="312724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3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3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CONTROLLED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Design record
Detect + independent 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828800"/>
            <a:ext cx="1572768" cy="3127248"/>
          </a:xfrm>
          <a:prstGeom prst="rect">
            <a:avLst/>
          </a:prstGeom>
          <a:solidFill>
            <a:srgbClr val="5D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MEASURED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Time, cost, rework
Quality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1828800"/>
            <a:ext cx="1572768" cy="3127248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268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Usability and business
impact validated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3218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DEMONSTRATED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3218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UNPROVEN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Four readiness gates define when adoption may advance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Recommended governance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14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50876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2704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527048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Real copy, proof, constraints, approved 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258568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2587752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06624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060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606040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Named owner for World and variant selection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3337560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3666744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85616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68503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685032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Macro/micro routing and stop rules understood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416552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4745736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864608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76402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764024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Versioned design record, QA, provenance controls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5495544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" y="5788152"/>
            <a:ext cx="10058400" cy="41148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879592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ANY RED GATE → RUN A BOUNDED PILOT. DO NOT SCALE THE WORKFLOW.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Success is fewer wrong-direction cycles—without quality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Pilot recommendation · no benchmark data 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8988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PILOT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Reduce the cost of arriving at an acceptable direction.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Time to direction
Time to production-ready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3063240"/>
            <a:ext cx="2267712" cy="381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REWORK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Major resets
Post-approval changes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Blind brand + usability scores
Independent defects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428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Unsupported claims
Reference exceptions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919472"/>
            <a:ext cx="10424160" cy="987552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084064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PROPOSED GO / NO-GO  ·  confirm before 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422392"/>
            <a:ext cx="9966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6+ matched tasks · 2+ operator profiles · ≥20% fewer major resets · quality within 5% of baseline · zero critical accessibility/provenance regressions · cost ≤ baseline +15%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A fair pilot isolates workflow value from operator enthusiasm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Controlled evaluation design · thresholds require client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FIXED ACROSS BOTH ARMS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10512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landing-page brief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87168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real copy and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145536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approved references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03904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85616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model and time 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17320"/>
            <a:ext cx="25400" cy="4251960"/>
          </a:xfrm>
          <a:prstGeom prst="rect">
            <a:avLst/>
          </a:prstGeom>
          <a:solidFill>
            <a:srgbClr val="555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41732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A7A199"/>
                </a:solidFill>
                <a:latin typeface="Calibri"/>
              </a:rPr>
              <a:t>CURRENT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938528"/>
            <a:ext cx="246888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8F3EA"/>
                </a:solidFill>
                <a:latin typeface="Calibri"/>
              </a:rPr>
              <a:t>Conventional prompting
and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154680"/>
            <a:ext cx="256032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 i="0">
                <a:solidFill>
                  <a:srgbClr val="C9C3BA"/>
                </a:solidFill>
                <a:latin typeface="Calibri"/>
              </a:rPr>
              <a:t>Matched task
Matched operator profile
Blind downstream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417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IMPECCABLE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1938528"/>
            <a:ext cx="28803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8F3EA"/>
                </a:solidFill>
                <a:latin typeface="Calibri"/>
              </a:rPr>
              <a:t>Worlds → commitment
→ Live refinement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15468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 i="0">
                <a:solidFill>
                  <a:srgbClr val="C9C3BA"/>
                </a:solidFill>
                <a:latin typeface="Calibri"/>
              </a:rPr>
              <a:t>Same task
Same operator profile
Same blind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8920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Primary 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1888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8F3EA"/>
                </a:solidFill>
                <a:latin typeface="Calibri"/>
              </a:rPr>
              <a:t>Major direction resets before acceptance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operating model needs controls at every failure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Risk-control ledger derived from the demonstrated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490472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Invented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7218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490472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Lock real claims and assets before visual exploration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075688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780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386584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Choice paralysis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6829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386584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Name a decision owner and cap rerolls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282696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Local polish on a wrong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6440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282696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Escalate by change altitude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867912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702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178808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Design-system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4178808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Version accepted decisions and explicit resets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764024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66360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5074920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Self-confirming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5663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5074920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Use fresh-context challenge plus human adjudication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660136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897880"/>
            <a:ext cx="10332720" cy="3200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961888"/>
            <a:ext cx="9966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CONTROL PRINCIPLE  ·  automate detection; never automate accountability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Adopt the decision architecture—then earn the right to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Recommendation bounded by the supplied walkthrough's evidence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898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98755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8F3EA"/>
                </a:solidFill>
                <a:latin typeface="Calibri"/>
              </a:rPr>
              <a:t>Run one governed, matched-task pilot.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97383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 i="0">
                <a:solidFill>
                  <a:srgbClr val="D0C9C0"/>
                </a:solidFill>
                <a:latin typeface="Calibri"/>
              </a:rPr>
              <a:t>Approve expansion only if the workflow reduces wrong-direction cycles without degrading accessibility, performance, factual integrity, provenance, or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NAME THE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One accountable lead for direction and release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SELECT THE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One bounded landing-page workflow with real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LOCK THE SCORECARD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Baseline, thresholds, blind reviewers, stop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A7A199"/>
                </a:solidFill>
                <a:latin typeface="Calibri"/>
              </a:rPr>
              <a:t>Decision requested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83387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8F3EA"/>
                </a:solidFill>
                <a:latin typeface="Calibri"/>
              </a:rPr>
              <a:t>Authorize pilot design—not enterprise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