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22677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2124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EXPANDED CLIENT STRATEGY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8138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Agent Replacement
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81381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50" b="0" i="0">
                <a:solidFill>
                  <a:srgbClr val="E0F7F1"/>
                </a:solidFill>
                <a:latin typeface="Calibri"/>
              </a:rPr>
              <a:t>AEO evidence, product blueprint, and execution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35808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Reviewed draft based on partial evidence. Built for client discussion, not final market-proof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691640" cy="292608"/>
          </a:xfrm>
          <a:prstGeom prst="roundRect">
            <a:avLst>
              <a:gd name="adj" fmla="val 1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PARTIAL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114800"/>
            <a:ext cx="1508760" cy="292608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4187952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20 SLIDES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114800"/>
            <a:ext cx="1828800" cy="292608"/>
          </a:xfrm>
          <a:prstGeom prst="roundRect">
            <a:avLst>
              <a:gd name="adj" fmla="val 1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187952"/>
            <a:ext cx="164592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REVIEWED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deck now has a full consulting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Thin decks skip the work. This version separates answer, evidence, model, execution, and 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70048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44952"/>
            <a:ext cx="1572768" cy="1490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wedge and the current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4952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947672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25146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44952" y="2514600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2670048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044952"/>
            <a:ext cx="1572768" cy="1490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we have, what is still missing, and how to use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2664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4" y="1947672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2664" y="25146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2664" y="2514600"/>
            <a:ext cx="73152" cy="2148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2670048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544" y="3044952"/>
            <a:ext cx="1572768" cy="1490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semantic mechanisms that shape the scorecard.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0375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1947672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0375" y="25146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0375" y="2514600"/>
            <a:ext cx="73152" cy="2148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3255" y="2670048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255" y="3044952"/>
            <a:ext cx="1572768" cy="1490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diagnostic dimensions, verdicts, and example outputs.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48088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5248" y="1947672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48088" y="25146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48088" y="2514600"/>
            <a:ext cx="73152" cy="2148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0967" y="2670048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7" y="3044952"/>
            <a:ext cx="1572768" cy="1490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AEO content, workflow kit, roadmap, guardrails, and next asks.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The useful thesis is layer compression, not blanket SaaS replacement.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BLUF: AI compresses the workflow layer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strongest evidence-backed claim is narrower and more useful than “agents replace SaaS.”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98755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Agents pressure add-ons, drafting, triage, and interface workflows. Records systems survive longer.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333756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73152" cy="19202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What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85032"/>
            <a:ext cx="2971800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The user no longer needs to operate every SaaS screen to get the outcome.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154680"/>
            <a:ext cx="333756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3154680"/>
            <a:ext cx="73152" cy="192024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310128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What survives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85032"/>
            <a:ext cx="2971800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Records, permissions, audit, governed data, deep integrations, and accountability.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154680"/>
            <a:ext cx="333756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3154680"/>
            <a:ext cx="73152" cy="1920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10128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What to 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685032"/>
            <a:ext cx="2971800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A diagnostic that shows replace, renegotiate, enrich, or avoid by workflow layer.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goal is recommendation eligibility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AEO is useful when it changes what answer engines recommend to buyers.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516636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73152" cy="3977639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00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 not optimize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57984"/>
            <a:ext cx="4800600" cy="3319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4617720" cy="2880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Vanity mention counts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Keyword ranking without buyer intent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Target-seeded prompts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Generic AI-replaces-SaaS thought leadership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27632"/>
            <a:ext cx="516636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27632"/>
            <a:ext cx="73152" cy="3977639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800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Optimize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57984"/>
            <a:ext cx="4800600" cy="3319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67712"/>
            <a:ext cx="4617720" cy="2880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Winning the recommendation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Owning buyer-language questions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Earning citation eligibility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Turning evidence into a productized 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Evidence Posture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The current evidence is useful, but the deck must not overclaim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Evidence is enough for v0, not enough for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Proceed with a reviewed working model while keeping the evidence gate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1965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39696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Reddit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77440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Buyer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9164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81965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139696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AI captures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377440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Independent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9164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1" y="181965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1" y="2139696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2377440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Need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169164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181965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139696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377440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Review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9164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81965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139696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Seeded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377440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Exclude from claims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364991"/>
            <a:ext cx="69494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1B2B3C"/>
                </a:solidFill>
                <a:latin typeface="Calibri"/>
              </a:rPr>
              <a:t>Reddit buyer-language minimum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3310127"/>
            <a:ext cx="1143000" cy="292608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3383279"/>
            <a:ext cx="96012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PASSED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13048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F2A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931920"/>
            <a:ext cx="69494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1B2B3C"/>
                </a:solidFill>
                <a:latin typeface="Calibri"/>
              </a:rPr>
              <a:t>20 independent AI-answer captures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3877056"/>
            <a:ext cx="1143000" cy="292608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19" y="3950208"/>
            <a:ext cx="96012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379976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F2A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98848"/>
            <a:ext cx="69494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1B2B3C"/>
                </a:solidFill>
                <a:latin typeface="Calibri"/>
              </a:rPr>
              <a:t>3 independent answer engines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443984"/>
            <a:ext cx="1143000" cy="292608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4517136"/>
            <a:ext cx="96012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OPEN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946904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065776"/>
            <a:ext cx="69494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1B2B3C"/>
                </a:solidFill>
                <a:latin typeface="Calibri"/>
              </a:rPr>
              <a:t>No promoted target-seeded patterns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4080" y="5010912"/>
            <a:ext cx="1143000" cy="292608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19" y="5084064"/>
            <a:ext cx="96012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PASSED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the evidence differently by source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answers, Reddit language, and scorecard seeds have different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516636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73152" cy="3977639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00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Use for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57984"/>
            <a:ext cx="4800600" cy="3319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4617720" cy="2880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Independent Claude and Gemini captures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Reddit objections and buyer language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Non-target-seeded prompts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Patterns that survive semantic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27632"/>
            <a:ext cx="516636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27632"/>
            <a:ext cx="73152" cy="3977639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800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 not use for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57984"/>
            <a:ext cx="4800600" cy="3319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67712"/>
            <a:ext cx="4617720" cy="2880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Target-seeded scorecard captures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Keyword matches alone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Thread counts as market proof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OpenAI/Perplexity consensus until captures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The scorecard should be built from mechanisms, not loose themes.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semantic patterns become the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These are the mechanisms the evidence repeatedly points toward.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101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1371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Add-on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2944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Bolt-on assistants and point tools are exposed.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3101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73152" cy="13716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55648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Human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30552"/>
            <a:ext cx="2944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High-risk decisions keep accountability with people.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3101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00200"/>
            <a:ext cx="73152" cy="13716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755648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Data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130552"/>
            <a:ext cx="2944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Systems survive when they own durable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47288"/>
            <a:ext cx="33101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447288"/>
            <a:ext cx="73152" cy="13716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Pilotability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2944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Claims need bounded measurable tests.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47288"/>
            <a:ext cx="33101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447288"/>
            <a:ext cx="73152" cy="1371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60273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Renewal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977639"/>
            <a:ext cx="2944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Agent performance changes procurement pressure.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447288"/>
            <a:ext cx="33101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447288"/>
            <a:ext cx="73152" cy="137160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360273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Seat compression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3977639"/>
            <a:ext cx="2944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Fewer users need to work inside the SaaS UI.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Each pattern maps to a client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output should tell the client what to build, buy, replace, or renegotiate.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0350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2057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Add-on collapse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764792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Inventory add-ons and assistant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64792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Renegotiate or remove exposed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50008"/>
            <a:ext cx="11094415" cy="60350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057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Human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14600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Map decisions that require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514600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Design checkpoints and escalation paths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99815"/>
            <a:ext cx="11094415" cy="60350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64408"/>
            <a:ext cx="2057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Data moat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264408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Identify records, permissions, audit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264408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Keep/enrich durable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9624"/>
            <a:ext cx="11094415" cy="60350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14215"/>
            <a:ext cx="2057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Pilotability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014215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Create historical replay test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014215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Run 30-day agent-vs-human 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99432"/>
            <a:ext cx="11094415" cy="60350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64024"/>
            <a:ext cx="2057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Seat compression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76402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Model users removed from the workflow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764024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Pressure seat commitments at renewal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Product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Turn the evidence into a diagnostic, not a generic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v0 scorecard needs five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dimension produces both a score and a concrete operating implication.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11480" cy="38404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00784"/>
            <a:ext cx="13716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27632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Workflow determinism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27632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Repeatable, rule-bound, high-volume work is exposed.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50008"/>
            <a:ext cx="411480" cy="38404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450592"/>
            <a:ext cx="13716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77440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Data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Owned records, governance, and audit trails defend the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99815"/>
            <a:ext cx="411480" cy="38404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200400"/>
            <a:ext cx="13716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27248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Human sign-off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27248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Risk and accountability define the automation boundary.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9624"/>
            <a:ext cx="411480" cy="38404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950208"/>
            <a:ext cx="13716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77056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Pilotability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77056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The buyer needs a bounded test before procurement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99431"/>
            <a:ext cx="411480" cy="38404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700016"/>
            <a:ext cx="13716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626864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Renewal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2686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Seat, add-on, and module pressure creates commercial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diagnostic has four verdicts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language must be actionable without implying every workflow is replaceable.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73152" cy="11430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45262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21992"/>
            <a:ext cx="4526279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Automate the exposed workflow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73152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45262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Renegotiate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21992"/>
            <a:ext cx="4526279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Keep platform, reduce seats/add-ons.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73152" cy="1143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74720"/>
            <a:ext cx="45262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9624"/>
            <a:ext cx="4526279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Use agents around durable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19272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319272"/>
            <a:ext cx="73152" cy="11430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45262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49624"/>
            <a:ext cx="4526279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Keep humans accountable for risk.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30368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76672"/>
            <a:ext cx="104241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FFFFFF"/>
                </a:solidFill>
                <a:latin typeface="Calibri"/>
              </a:rPr>
              <a:t>Every verdict includes exposed layer, surviving layer, checkpoint, pilot metric, and renewal implication.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Example workflow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Illustrative v0 outputs, not final scored client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85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Conversational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64792"/>
            <a:ext cx="1325880" cy="292608"/>
          </a:xfrm>
          <a:prstGeom prst="roundRect">
            <a:avLst>
              <a:gd name="adj" fmla="val 1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37943"/>
            <a:ext cx="114300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RENEGOTIATE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83080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Helpdesk remains; tier-1 support seats and bot add-ons compress.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59736"/>
            <a:ext cx="11094415" cy="685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Doc summarization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624328"/>
            <a:ext cx="1325880" cy="292608"/>
          </a:xfrm>
          <a:prstGeom prst="roundRect">
            <a:avLst>
              <a:gd name="adj" fmla="val 1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697480"/>
            <a:ext cx="114300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REPLACE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64261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Office suite remains; drafting/summarization add-ons are exposed.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9272"/>
            <a:ext cx="11094415" cy="685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11296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Legal drafting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483864"/>
            <a:ext cx="1325880" cy="292608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57016"/>
            <a:ext cx="114300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5021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Research corpus survives; agent accelerates first draft.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78808"/>
            <a:ext cx="11094415" cy="685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70832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Creative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343400"/>
            <a:ext cx="1325880" cy="292608"/>
          </a:xfrm>
          <a:prstGeom prst="roundRect">
            <a:avLst>
              <a:gd name="adj" fmla="val 1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416552"/>
            <a:ext cx="114300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RENEGOTIATE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61688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DAM remains; production seats and variant tooling compress.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AEO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The content system should make the scorecard recommendation-eligible.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Build pages around unbranded buyer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Answer engines need crawlable, specific pages that match how buyers ask the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2011680" cy="347472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Customer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45920"/>
            <a:ext cx="795527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Where are agents useful, where do seats compress, where do humans stay?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86000"/>
            <a:ext cx="2011680" cy="347472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Document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359152"/>
            <a:ext cx="795527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When do drafting and summarization add-ons get replaced?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999232"/>
            <a:ext cx="2011680" cy="347472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0906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Pilot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72384"/>
            <a:ext cx="795527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How should teams test an agent before replacing a workflow tool?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12463"/>
            <a:ext cx="2011680" cy="347472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03903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Data moats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785615"/>
            <a:ext cx="795527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Which SaaS workflows survive because they own records and governance?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425696"/>
            <a:ext cx="2011680" cy="347472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517136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Renewal leverage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498848"/>
            <a:ext cx="795527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How do teams use agents to renegotiate SaaS spend?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workflow kit compounds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operating model is repeatable evidence collection plus semantic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310128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73152" cy="1261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2821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Prompt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944368" cy="603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Generate non-target-seeded buyer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310128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72768"/>
            <a:ext cx="73152" cy="1261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2821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AI captures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03120"/>
            <a:ext cx="2944368" cy="603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Collect answers across engines with explicit gates.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310128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72768"/>
            <a:ext cx="73152" cy="1261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72821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Reddit wedge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103120"/>
            <a:ext cx="2944368" cy="603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Extract skepticism, objections, workarounds, and comparison frames.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55848"/>
            <a:ext cx="3310128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355848"/>
            <a:ext cx="73152" cy="12618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1129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Pattern miner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86200"/>
            <a:ext cx="2944368" cy="603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Map captures to semantic mechanisms.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355848"/>
            <a:ext cx="3310128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355848"/>
            <a:ext cx="73152" cy="12618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51129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Scorecard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886200"/>
            <a:ext cx="2944368" cy="603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Turn reviewed patterns into diagnostic outputs.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355848"/>
            <a:ext cx="3310128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355848"/>
            <a:ext cx="73152" cy="12618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3511296"/>
            <a:ext cx="294436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QA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3886200"/>
            <a:ext cx="2944368" cy="603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Block overclaims until evidence thresholds pass.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Roadmap: launch v0 while hardening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next move is productization plus evidence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516636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73152" cy="3977639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00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30-day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57984"/>
            <a:ext cx="4800600" cy="3319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4617720" cy="2880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Package v0 diagnostic and worksheet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Publish five AEO pages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Collect +10 independent captures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Add one more answer engine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Run semantic review and falsification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27632"/>
            <a:ext cx="516636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27632"/>
            <a:ext cx="73152" cy="3977639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800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Risks to manage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57984"/>
            <a:ext cx="4800600" cy="3319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67712"/>
            <a:ext cx="4617720" cy="2880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Do not claim full AEO readiness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Do not promote seeded captures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Do not use keyword matching as proof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Do not ignore buyer skepticism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Do not skip citation/source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DECISION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Approve the expanded v0
launch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12848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20" b="0" i="0">
                <a:solidFill>
                  <a:srgbClr val="FFFFFF"/>
                </a:solidFill>
                <a:latin typeface="Calibri"/>
              </a:rPr>
              <a:t>•  Use the expanded deck as the client narrative.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20" b="0" i="0">
                <a:solidFill>
                  <a:srgbClr val="FFFFFF"/>
                </a:solidFill>
                <a:latin typeface="Calibri"/>
              </a:rPr>
              <a:t>•  Build the interactive scorecard from the five-dimension model.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20" b="0" i="0">
                <a:solidFill>
                  <a:srgbClr val="FFFFFF"/>
                </a:solidFill>
                <a:latin typeface="Calibri"/>
              </a:rPr>
              <a:t>•  Publish the first AEO page cluster around unbranded buyer questions.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20" b="0" i="0">
                <a:solidFill>
                  <a:srgbClr val="FFFFFF"/>
                </a:solidFill>
                <a:latin typeface="Calibri"/>
              </a:rPr>
              <a:t>•  Keep evidence status as reviewed draft until 20 captures and 3 engines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670048"/>
            <a:ext cx="2971800" cy="17830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926080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Recommended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310128"/>
            <a:ext cx="2423160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Launch v0. Keep proof gates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968496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Next: +10 captures + one engine.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Expanded client deck | 2026-06-29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