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287000" y="0"/>
            <a:ext cx="1901952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59436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CLIENT READY DECISION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8869680" cy="10789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300" b="1" i="0">
                <a:solidFill>
                  <a:srgbClr val="FFFFFF"/>
                </a:solidFill>
                <a:latin typeface="Calibri"/>
              </a:rPr>
              <a:t>Agent Replacement
Scorecard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39696"/>
            <a:ext cx="7498079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E0F7F1"/>
                </a:solidFill>
                <a:latin typeface="Calibri"/>
              </a:rPr>
              <a:t>AEO evidence readout and v0 product blueprint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779776"/>
            <a:ext cx="173736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090672"/>
            <a:ext cx="722376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20" b="0" i="0">
                <a:solidFill>
                  <a:srgbClr val="FFFFFF"/>
                </a:solidFill>
                <a:latin typeface="Calibri"/>
              </a:rPr>
              <a:t>Reviewed draft based on partial evidence: 88 Reddit buyer-language rows and 10 independent AI-answer captures.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41648"/>
            <a:ext cx="1737360" cy="329184"/>
          </a:xfrm>
          <a:prstGeom prst="roundRect">
            <a:avLst>
              <a:gd name="adj" fmla="val 12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4110228"/>
            <a:ext cx="1517904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A1628"/>
                </a:solidFill>
                <a:latin typeface="Calibri"/>
              </a:rPr>
              <a:t>PARTIAL EVIDENCE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4041648"/>
            <a:ext cx="1234440" cy="329184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78608" y="4110228"/>
            <a:ext cx="1014984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A1628"/>
                </a:solidFill>
                <a:latin typeface="Calibri"/>
              </a:rPr>
              <a:t>AEO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4041648"/>
            <a:ext cx="1965960" cy="329184"/>
          </a:xfrm>
          <a:prstGeom prst="roundRect">
            <a:avLst>
              <a:gd name="adj" fmla="val 12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95928" y="4110228"/>
            <a:ext cx="1746504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SCORECARD V0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163056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2026-06-29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 Replacement Scorecard AEO | Reviewed draft | 2026-06-29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BLUF: the wedge is layer compression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evidence supports a sharper claim than generic SaaS replacement.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00784"/>
            <a:ext cx="11094415" cy="1115568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01952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FFFF"/>
                </a:solidFill>
                <a:latin typeface="Calibri"/>
              </a:rPr>
              <a:t>AI agents compress workflow layers first. Systems of record, governed data, permissions, and audit trails remain defensible.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063240"/>
            <a:ext cx="342900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3063240"/>
            <a:ext cx="73152" cy="21488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264408"/>
            <a:ext cx="304495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Situation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721608"/>
            <a:ext cx="3044952" cy="1307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Buyers are asking whether agents can replace, reduce, or renegotiate SaaS workflows.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3063240"/>
            <a:ext cx="342900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3063240"/>
            <a:ext cx="73152" cy="214884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3264408"/>
            <a:ext cx="304495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Insight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721608"/>
            <a:ext cx="3044952" cy="1307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The useful unit of analysis is the exposed workflow layer, not the whole vendor.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3063240"/>
            <a:ext cx="342900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3063240"/>
            <a:ext cx="73152" cy="214884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3264408"/>
            <a:ext cx="304495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Recommendation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3721608"/>
            <a:ext cx="3044952" cy="1307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Launch a v0 diagnostic that scores replacement, renegotiation, enrichment, or avoid.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Replacement Scorecard AEO | Reviewed draft | 2026-06-29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Evidence is useful, but not complete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Treat this as a reviewed draft; do not claim full AEO validation yet.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2148840" cy="10515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28800"/>
            <a:ext cx="181965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00" b="1" i="0">
                <a:solidFill>
                  <a:srgbClr val="FFB800"/>
                </a:solidFill>
                <a:latin typeface="Calibri"/>
              </a:rPr>
              <a:t>88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167128"/>
            <a:ext cx="18196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FFFFFF"/>
                </a:solidFill>
                <a:latin typeface="Calibri"/>
              </a:rPr>
              <a:t>Reddit rows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441448"/>
            <a:ext cx="1819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80" b="0" i="0">
                <a:solidFill>
                  <a:srgbClr val="E0F7F1"/>
                </a:solidFill>
                <a:latin typeface="Calibri"/>
              </a:rPr>
              <a:t>Buyer language + objections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1691640"/>
            <a:ext cx="2148840" cy="10515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27832" y="1828800"/>
            <a:ext cx="181965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00" b="1" i="0">
                <a:solidFill>
                  <a:srgbClr val="FFB800"/>
                </a:solidFill>
                <a:latin typeface="Calibri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7832" y="2167128"/>
            <a:ext cx="18196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FFFFFF"/>
                </a:solidFill>
                <a:latin typeface="Calibri"/>
              </a:rPr>
              <a:t>AI captures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27832" y="2441448"/>
            <a:ext cx="1819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80" b="0" i="0">
                <a:solidFill>
                  <a:srgbClr val="E0F7F1"/>
                </a:solidFill>
                <a:latin typeface="Calibri"/>
              </a:rPr>
              <a:t>Independent answer evidence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1691640"/>
            <a:ext cx="2148840" cy="10515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05272" y="1828800"/>
            <a:ext cx="181965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00" b="1" i="0">
                <a:solidFill>
                  <a:srgbClr val="FFB800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05272" y="2167128"/>
            <a:ext cx="18196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FFFFFF"/>
                </a:solidFill>
                <a:latin typeface="Calibri"/>
              </a:rPr>
              <a:t>Engines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05272" y="2441448"/>
            <a:ext cx="1819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80" b="0" i="0">
                <a:solidFill>
                  <a:srgbClr val="E0F7F1"/>
                </a:solidFill>
                <a:latin typeface="Calibri"/>
              </a:rPr>
              <a:t>Claude + Google AI Mode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1691640"/>
            <a:ext cx="2148840" cy="10515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82712" y="1828800"/>
            <a:ext cx="181965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00" b="1" i="0">
                <a:solidFill>
                  <a:srgbClr val="FFB800"/>
                </a:solidFill>
                <a:latin typeface="Calibri"/>
              </a:rP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82712" y="2167128"/>
            <a:ext cx="181965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FFFFFF"/>
                </a:solidFill>
                <a:latin typeface="Calibri"/>
              </a:rPr>
              <a:t>Patterns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82712" y="2441448"/>
            <a:ext cx="1819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80" b="0" i="0">
                <a:solidFill>
                  <a:srgbClr val="E0F7F1"/>
                </a:solidFill>
                <a:latin typeface="Calibri"/>
              </a:rPr>
              <a:t>Need semantic review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95560" y="1691640"/>
            <a:ext cx="1325880" cy="10515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60152" y="1828800"/>
            <a:ext cx="99669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00" b="1" i="0">
                <a:solidFill>
                  <a:srgbClr val="FFB800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0152" y="2167128"/>
            <a:ext cx="99669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FFFFFF"/>
                </a:solidFill>
                <a:latin typeface="Calibri"/>
              </a:rPr>
              <a:t>Gates open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60152" y="2441448"/>
            <a:ext cx="99669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80" b="0" i="0">
                <a:solidFill>
                  <a:srgbClr val="E0F7F1"/>
                </a:solidFill>
                <a:latin typeface="Calibri"/>
              </a:rPr>
              <a:t>20 captures, 3 engines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18211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A1628"/>
                </a:solidFill>
                <a:latin typeface="Calibri"/>
              </a:rPr>
              <a:t>Gate status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611880"/>
            <a:ext cx="11094415" cy="438912"/>
          </a:xfrm>
          <a:prstGeom prst="roundRect">
            <a:avLst>
              <a:gd name="adj" fmla="val 3000"/>
            </a:avLst>
          </a:prstGeom>
          <a:solidFill>
            <a:srgbClr val="E0F7F1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3730752"/>
            <a:ext cx="66751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Reddit buyer-language minimum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66960" y="3666744"/>
            <a:ext cx="1005840" cy="329184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76688" y="3735324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A1628"/>
                </a:solidFill>
                <a:latin typeface="Calibri"/>
              </a:rPr>
              <a:t>PASSED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178808"/>
            <a:ext cx="11094415" cy="438912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12700">
            <a:solidFill>
              <a:srgbClr val="F2A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297680"/>
            <a:ext cx="66751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20 independent AI-answer captures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66960" y="4233672"/>
            <a:ext cx="1005840" cy="329184"/>
          </a:xfrm>
          <a:prstGeom prst="roundRect">
            <a:avLst>
              <a:gd name="adj" fmla="val 12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76688" y="4302252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A1628"/>
                </a:solidFill>
                <a:latin typeface="Calibri"/>
              </a:rPr>
              <a:t>OPEN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745736"/>
            <a:ext cx="11094415" cy="438912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12700">
            <a:solidFill>
              <a:srgbClr val="F2A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4864608"/>
            <a:ext cx="66751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3 independent answer engines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966960" y="4800600"/>
            <a:ext cx="1005840" cy="329184"/>
          </a:xfrm>
          <a:prstGeom prst="roundRect">
            <a:avLst>
              <a:gd name="adj" fmla="val 12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76688" y="4869180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A1628"/>
                </a:solidFill>
                <a:latin typeface="Calibri"/>
              </a:rPr>
              <a:t>OPEN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312664"/>
            <a:ext cx="11094415" cy="438912"/>
          </a:xfrm>
          <a:prstGeom prst="roundRect">
            <a:avLst>
              <a:gd name="adj" fmla="val 3000"/>
            </a:avLst>
          </a:prstGeom>
          <a:solidFill>
            <a:srgbClr val="E0F7F1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8" y="5431536"/>
            <a:ext cx="66751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No promoted target-seeded patterns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966960" y="5367528"/>
            <a:ext cx="1005840" cy="329184"/>
          </a:xfrm>
          <a:prstGeom prst="roundRect">
            <a:avLst>
              <a:gd name="adj" fmla="val 1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76688" y="5436108"/>
            <a:ext cx="786384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A1628"/>
                </a:solidFill>
                <a:latin typeface="Calibri"/>
              </a:rPr>
              <a:t>PASSED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Replacement Scorecard AEO | Reviewed draft | 2026-06-29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Six patterns define the scorecard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Use semantic patterns as decision logic, not keyword matching.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27632"/>
            <a:ext cx="3401568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27632"/>
            <a:ext cx="73152" cy="14173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828800"/>
            <a:ext cx="30175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20" b="1" i="0">
                <a:solidFill>
                  <a:srgbClr val="0A1628"/>
                </a:solidFill>
                <a:latin typeface="Calibri"/>
              </a:rPr>
              <a:t>Add-on collapse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286000"/>
            <a:ext cx="3017520" cy="5760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90" b="0" i="0">
                <a:solidFill>
                  <a:srgbClr val="1B2B3C"/>
                </a:solidFill>
                <a:latin typeface="Calibri"/>
              </a:rPr>
              <a:t>Assistant modules and point tools are exposed when agents absorb the task layer.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627632"/>
            <a:ext cx="3401568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1627632"/>
            <a:ext cx="73152" cy="1417320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7" y="1828800"/>
            <a:ext cx="30175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20" b="1" i="0">
                <a:solidFill>
                  <a:srgbClr val="0A1628"/>
                </a:solidFill>
                <a:latin typeface="Calibri"/>
              </a:rPr>
              <a:t>Human sign-off 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7" y="2286000"/>
            <a:ext cx="3017520" cy="5760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90" b="0" i="0">
                <a:solidFill>
                  <a:srgbClr val="1B2B3C"/>
                </a:solidFill>
                <a:latin typeface="Calibri"/>
              </a:rPr>
              <a:t>Regulated, ambiguous, sensitive, or high-risk work needs explicit accountability.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02752" y="1627632"/>
            <a:ext cx="3401568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02752" y="1627632"/>
            <a:ext cx="73152" cy="14173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828800"/>
            <a:ext cx="30175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20" b="1" i="0">
                <a:solidFill>
                  <a:srgbClr val="0A1628"/>
                </a:solidFill>
                <a:latin typeface="Calibri"/>
              </a:rPr>
              <a:t>Data moat survival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286000"/>
            <a:ext cx="3017520" cy="5760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90" b="0" i="0">
                <a:solidFill>
                  <a:srgbClr val="1B2B3C"/>
                </a:solidFill>
                <a:latin typeface="Calibri"/>
              </a:rPr>
              <a:t>Systems survive when proprietary context, records, permissions, or audit trails matter.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529584"/>
            <a:ext cx="3401568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529584"/>
            <a:ext cx="73152" cy="141732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3730752"/>
            <a:ext cx="30175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20" b="1" i="0">
                <a:solidFill>
                  <a:srgbClr val="0A1628"/>
                </a:solidFill>
                <a:latin typeface="Calibri"/>
              </a:rPr>
              <a:t>Pilotability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4187952"/>
            <a:ext cx="3017520" cy="5760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90" b="0" i="0">
                <a:solidFill>
                  <a:srgbClr val="1B2B3C"/>
                </a:solidFill>
                <a:latin typeface="Calibri"/>
              </a:rPr>
              <a:t>Replacement claims need bounded tests against historical work and measurable outcomes.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59" y="3529584"/>
            <a:ext cx="3401568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80559" y="3529584"/>
            <a:ext cx="73152" cy="141732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81727" y="3730752"/>
            <a:ext cx="30175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20" b="1" i="0">
                <a:solidFill>
                  <a:srgbClr val="0A1628"/>
                </a:solidFill>
                <a:latin typeface="Calibri"/>
              </a:rPr>
              <a:t>Renewal leverage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727" y="4187952"/>
            <a:ext cx="3017520" cy="5760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90" b="0" i="0">
                <a:solidFill>
                  <a:srgbClr val="1B2B3C"/>
                </a:solidFill>
                <a:latin typeface="Calibri"/>
              </a:rPr>
              <a:t>Agent performance changes seat counts, add-ons, pricing, and procurement pressure.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02752" y="3529584"/>
            <a:ext cx="3401568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02752" y="3529584"/>
            <a:ext cx="73152" cy="1417320"/>
          </a:xfrm>
          <a:prstGeom prst="rect">
            <a:avLst/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3730752"/>
            <a:ext cx="30175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20" b="1" i="0">
                <a:solidFill>
                  <a:srgbClr val="0A1628"/>
                </a:solidFill>
                <a:latin typeface="Calibri"/>
              </a:rPr>
              <a:t>Seat compression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4187952"/>
            <a:ext cx="3017520" cy="5760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90" b="0" i="0">
                <a:solidFill>
                  <a:srgbClr val="1B2B3C"/>
                </a:solidFill>
                <a:latin typeface="Calibri"/>
              </a:rPr>
              <a:t>Fewer users need to sit inside the SaaS interface to complete the same workflow.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623560"/>
            <a:ext cx="11094415" cy="475488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769864"/>
            <a:ext cx="1042416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Calibri"/>
              </a:rPr>
              <a:t>Client implication: the product should score exposed layers and survivable layers separately.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Replacement Scorecard AEO | Reviewed draft | 2026-06-29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v0 scorecard has five decision dimensions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Each dimension turns evidence into a client-facing diagnostic output.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572768"/>
            <a:ext cx="438912" cy="438912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682495"/>
            <a:ext cx="18288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600200"/>
            <a:ext cx="30175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Workflow determinism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8" y="1600200"/>
            <a:ext cx="69494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Repeatable, rule-bound, high-volume work is more exposed.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25880" y="2029967"/>
            <a:ext cx="9966960" cy="13716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2377440"/>
            <a:ext cx="438912" cy="438912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487168"/>
            <a:ext cx="18288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404872"/>
            <a:ext cx="30175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Data moat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2404872"/>
            <a:ext cx="69494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Owned records, permissions, integrations, and audit trails defend the platform.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25880" y="2834640"/>
            <a:ext cx="9966960" cy="13716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13232" y="3182112"/>
            <a:ext cx="438912" cy="438912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3291840"/>
            <a:ext cx="18288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209544"/>
            <a:ext cx="30175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Human sign-off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3209544"/>
            <a:ext cx="69494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Legal, brand, customer, and financial risk preserve human accountability.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25880" y="3639312"/>
            <a:ext cx="9966960" cy="13716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13232" y="3986784"/>
            <a:ext cx="438912" cy="438912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4096512"/>
            <a:ext cx="18288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014216"/>
            <a:ext cx="30175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Pilotability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8" y="4014216"/>
            <a:ext cx="69494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A credible claim needs a bounded pilot with measurable outcomes.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25880" y="4443984"/>
            <a:ext cx="9966960" cy="13716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3232" y="4791456"/>
            <a:ext cx="438912" cy="438912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4901184"/>
            <a:ext cx="18288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4818888"/>
            <a:ext cx="30175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Renewal leverage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7408" y="4818888"/>
            <a:ext cx="69494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Seat compression and add-on collapse become procurement arguments.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25880" y="5248656"/>
            <a:ext cx="9966960" cy="13716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48640" y="5742432"/>
            <a:ext cx="11094415" cy="41148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861304"/>
            <a:ext cx="1069848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1" i="0">
                <a:solidFill>
                  <a:srgbClr val="0A1628"/>
                </a:solidFill>
                <a:latin typeface="Calibri"/>
              </a:rPr>
              <a:t>Output package: exposed layer, surviving layer, human checkpoint, pilot test, and renewal talking point.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Replacement Scorecard AEO | Reviewed draft | 2026-06-29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diagnostic should produce four verdicts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This avoids overclaiming while still giving clients an actionable answer.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72768"/>
            <a:ext cx="516636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572768"/>
            <a:ext cx="73152" cy="107899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773936"/>
            <a:ext cx="478231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Replace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231136"/>
            <a:ext cx="4782312" cy="23774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Automate the exposed workflow layer.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72768"/>
            <a:ext cx="516636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572768"/>
            <a:ext cx="73152" cy="107899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1773936"/>
            <a:ext cx="478231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Renegotiate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231136"/>
            <a:ext cx="4782312" cy="23774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Reduce seats, add-ons, modules, or volume.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852928"/>
            <a:ext cx="516636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2852928"/>
            <a:ext cx="73152" cy="10789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3054096"/>
            <a:ext cx="478231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Enrich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3511296"/>
            <a:ext cx="4782312" cy="23774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Use agents around durable platform context.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852928"/>
            <a:ext cx="516636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2852928"/>
            <a:ext cx="73152" cy="1078992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7" y="3054096"/>
            <a:ext cx="478231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Avoid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7" y="3511296"/>
            <a:ext cx="4782312" cy="23774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Keep humans accountable for high-risk work.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1605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A1628"/>
                </a:solidFill>
                <a:latin typeface="Calibri"/>
              </a:rPr>
              <a:t>Example client deliverable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572000"/>
            <a:ext cx="11094415" cy="96012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828032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For each workflow: score risk, name exposed/surviving layers, define checkpoint, specify pilot.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Replacement Scorecard AEO | Reviewed draft | 2026-06-29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AEO strategy: answer buyer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scorecard needs crawlable pages that match how buyers and answer engines frame the problem.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627632"/>
            <a:ext cx="2057400" cy="402336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737360"/>
            <a:ext cx="178308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Customer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1682496"/>
            <a:ext cx="8183879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Where are agents useful, where do Zendesk/Intercom seats compress, and where do humans stay?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414016"/>
            <a:ext cx="2057400" cy="402336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523744"/>
            <a:ext cx="178308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Document workflows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468880"/>
            <a:ext cx="8183879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When do summarization and drafting add-ons get replaced versus enriched?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200400"/>
            <a:ext cx="2057400" cy="402336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310128"/>
            <a:ext cx="178308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Pilot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3255264"/>
            <a:ext cx="8183879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How should teams test an AI agent before replacing a workflow tool?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986784"/>
            <a:ext cx="2057400" cy="402336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4096512"/>
            <a:ext cx="178308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Data moats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4041648"/>
            <a:ext cx="8183879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Which SaaS workflows survive because they own records, permissions, and governance?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4773168"/>
            <a:ext cx="2057400" cy="402336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4882896"/>
            <a:ext cx="178308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Renewal leverage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4828031"/>
            <a:ext cx="8183879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How do teams turn agent performance into seat, add-on, and pricing negotiations?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715000"/>
            <a:ext cx="11094415" cy="475488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5852160"/>
            <a:ext cx="105613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90" b="1" i="0">
                <a:solidFill>
                  <a:srgbClr val="0A1628"/>
                </a:solidFill>
                <a:latin typeface="Calibri"/>
              </a:rPr>
              <a:t>Rule: write for recommendation eligibility with examples, caveats, review boundaries, and pilot metrics.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Replacement Scorecard AEO | Reviewed draft | 2026-06-29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Next 30 days: evidence into product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Build the asset and continue capture collection in parallel.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331720" cy="43891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947672"/>
            <a:ext cx="201168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Week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68880"/>
            <a:ext cx="233172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468880"/>
            <a:ext cx="73152" cy="214884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670048"/>
            <a:ext cx="194767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1" i="0">
                <a:solidFill>
                  <a:srgbClr val="0A1628"/>
                </a:solidFill>
                <a:latin typeface="Calibri"/>
              </a:rPr>
              <a:t>Package v0 diagnostic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127248"/>
            <a:ext cx="1947672" cy="1307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0" i="0">
                <a:solidFill>
                  <a:srgbClr val="1B2B3C"/>
                </a:solidFill>
                <a:latin typeface="Calibri"/>
              </a:rPr>
              <a:t>Turn the five dimensions into an interactive scorecard and worksheet.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39" y="1828800"/>
            <a:ext cx="2331720" cy="43891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66744" y="1947672"/>
            <a:ext cx="201168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Week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39" y="2468880"/>
            <a:ext cx="233172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20439" y="2468880"/>
            <a:ext cx="73152" cy="214884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21607" y="2670048"/>
            <a:ext cx="194767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1" i="0">
                <a:solidFill>
                  <a:srgbClr val="0A1628"/>
                </a:solidFill>
                <a:latin typeface="Calibri"/>
              </a:rPr>
              <a:t>Publish AEO pages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1607" y="3127248"/>
            <a:ext cx="1947672" cy="1307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0" i="0">
                <a:solidFill>
                  <a:srgbClr val="1B2B3C"/>
                </a:solidFill>
                <a:latin typeface="Calibri"/>
              </a:rPr>
              <a:t>Ship non-branded pages for support, docs, data moats, pilots, and renewal leverage.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1828800"/>
            <a:ext cx="2331720" cy="438912"/>
          </a:xfrm>
          <a:prstGeom prst="roundRect">
            <a:avLst>
              <a:gd name="adj" fmla="val 8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5664" y="1947672"/>
            <a:ext cx="201168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Week 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2468880"/>
            <a:ext cx="233172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59" y="2468880"/>
            <a:ext cx="73152" cy="214884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7" y="2670048"/>
            <a:ext cx="194767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1" i="0">
                <a:solidFill>
                  <a:srgbClr val="0A1628"/>
                </a:solidFill>
                <a:latin typeface="Calibri"/>
              </a:rPr>
              <a:t>Expand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7" y="3127248"/>
            <a:ext cx="1947672" cy="1307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0" i="0">
                <a:solidFill>
                  <a:srgbClr val="1B2B3C"/>
                </a:solidFill>
                <a:latin typeface="Calibri"/>
              </a:rPr>
              <a:t>Add 10 more independent captures and a third answer engine.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1828800"/>
            <a:ext cx="2331720" cy="438912"/>
          </a:xfrm>
          <a:prstGeom prst="roundRect">
            <a:avLst>
              <a:gd name="adj" fmla="val 8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44584" y="1947672"/>
            <a:ext cx="201168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Week 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98280" y="2468880"/>
            <a:ext cx="233172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98280" y="2468880"/>
            <a:ext cx="73152" cy="214884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99448" y="2670048"/>
            <a:ext cx="194767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1" i="0">
                <a:solidFill>
                  <a:srgbClr val="0A1628"/>
                </a:solidFill>
                <a:latin typeface="Calibri"/>
              </a:rPr>
              <a:t>Review + harden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9448" y="3127248"/>
            <a:ext cx="1947672" cy="1307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0" i="0">
                <a:solidFill>
                  <a:srgbClr val="1B2B3C"/>
                </a:solidFill>
                <a:latin typeface="Calibri"/>
              </a:rPr>
              <a:t>Promote only patterns that survive semantic review and falsification.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349240"/>
            <a:ext cx="11094415" cy="658368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559552"/>
            <a:ext cx="1051560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Decision needed: launch the reviewed v0 model now; keep the evidence gate open.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Replacement Scorecard AEO | Reviewed draft | 2026-06-29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Claim discipline protects the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AEO work loses credibility when partial evidence is framed as full proof.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645920"/>
            <a:ext cx="521208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645920"/>
            <a:ext cx="73152" cy="30175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47088"/>
            <a:ext cx="482803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A1628"/>
                </a:solidFill>
                <a:latin typeface="Calibri"/>
              </a:rPr>
              <a:t>Safe to say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04288"/>
            <a:ext cx="4828032" cy="21762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40" b="0" i="0">
                <a:solidFill>
                  <a:srgbClr val="1B2B3C"/>
                </a:solidFill>
                <a:latin typeface="Calibri"/>
              </a:rPr>
              <a:t>We have a reviewed draft based on partial evidence. The strongest supported pattern is workflow-layer compression. The v0 scorecard is ready to pilot with clients and refine through more captures.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45920"/>
            <a:ext cx="521208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645920"/>
            <a:ext cx="73152" cy="301752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1847088"/>
            <a:ext cx="482803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A1628"/>
                </a:solidFill>
                <a:latin typeface="Calibri"/>
              </a:rPr>
              <a:t>Do not say yet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304288"/>
            <a:ext cx="4828032" cy="21762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40" b="0" i="0">
                <a:solidFill>
                  <a:srgbClr val="1B2B3C"/>
                </a:solidFill>
                <a:latin typeface="Calibri"/>
              </a:rPr>
              <a:t>Do not claim full AEO readiness, consensus across all major engines, statistical validation, or that answer engines recommend the scorecard. ChatGPT and Perplexity gates are still open.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257800"/>
            <a:ext cx="11094415" cy="50292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413248"/>
            <a:ext cx="1042416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1" i="0">
                <a:solidFill>
                  <a:srgbClr val="0A1628"/>
                </a:solidFill>
                <a:latin typeface="Calibri"/>
              </a:rPr>
              <a:t>This framing makes the deck client-ready without overstating the evidence base.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Replacement Scorecard AEO | Reviewed draft | 2026-06-29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DECISION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04672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900" b="1" i="0">
                <a:solidFill>
                  <a:srgbClr val="FFFFFF"/>
                </a:solidFill>
                <a:latin typeface="Calibri"/>
              </a:rPr>
              <a:t>Approve the v0
scorecard launch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57400"/>
            <a:ext cx="164592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6629400" cy="2331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310" b="0" i="0">
                <a:solidFill>
                  <a:srgbClr val="FFFFFF"/>
                </a:solidFill>
                <a:latin typeface="Calibri"/>
              </a:rPr>
              <a:t>•  Use the v0 blueprint as the client-facing diagnostic model.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310" b="0" i="0">
                <a:solidFill>
                  <a:srgbClr val="FFFFFF"/>
                </a:solidFill>
                <a:latin typeface="Calibri"/>
              </a:rPr>
              <a:t>•  Publish five non-branded AEO pages around buyer questions.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310" b="0" i="0">
                <a:solidFill>
                  <a:srgbClr val="FFFFFF"/>
                </a:solidFill>
                <a:latin typeface="Calibri"/>
              </a:rPr>
              <a:t>•  Keep evidence status as reviewed draft until 20 captures and 3 engines pass.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310" b="0" i="0">
                <a:solidFill>
                  <a:srgbClr val="FFFFFF"/>
                </a:solidFill>
                <a:latin typeface="Calibri"/>
              </a:rPr>
              <a:t>•  Run semantic review before promoting any pattern as market truth.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2331720"/>
            <a:ext cx="3520440" cy="251460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2633472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Recommended posture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3072384"/>
            <a:ext cx="2834640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FFFF"/>
                </a:solidFill>
                <a:latin typeface="Calibri"/>
              </a:rPr>
              <a:t>Launch the working model. Do not declare full evidence readiness yet.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4279392"/>
            <a:ext cx="278892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E0F7F1"/>
                </a:solidFill>
                <a:latin typeface="Calibri"/>
              </a:rPr>
              <a:t>Next gate: +10 captures + one more engine.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 Replacement Scorecard AEO | Reviewed draft | 2026-06-29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