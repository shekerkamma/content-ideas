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DATA-BACKED CLIENT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Agent Replacement
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E0F7F1"/>
                </a:solidFill>
                <a:latin typeface="Calibri"/>
              </a:rPr>
              <a:t>AEO evidence, data points, scorecard mechanics, and execution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07792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74066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Built from run artifacts: Reddit rows, AI-answer captures, pattern candidates, review gates, and prompt pack.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508760" cy="292608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050791"/>
            <a:ext cx="136245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88 REDDIT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977639"/>
            <a:ext cx="150876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4050791"/>
            <a:ext cx="136245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10 AI CAPTURES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3977639"/>
            <a:ext cx="1463040" cy="292608"/>
          </a:xfrm>
          <a:prstGeom prst="roundRect">
            <a:avLst>
              <a:gd name="adj" fmla="val 1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4050791"/>
            <a:ext cx="131673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FFFFFF"/>
                </a:solidFill>
                <a:latin typeface="Calibri"/>
              </a:rPr>
              <a:t>9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Proceed, but label it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data supports a v0 scorecard launch; it does not support a final market-proof claim.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1828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3008376" cy="12070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Launch a reviewed v0 diagnostic, not a definitive AEO proof asset.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375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64008" cy="1828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37360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Evidence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103120"/>
            <a:ext cx="3008376" cy="12070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88 Reddit rows, 10 independent AI captures, 2 independent engines, 9 pattern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2461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00200"/>
            <a:ext cx="64008" cy="1828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737360"/>
            <a:ext cx="29169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Open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103120"/>
            <a:ext cx="2916936" cy="12070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Need 20 independent captures and 3 independent engines before stronger claims.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Product wedge: score workflow compression while records, permissions, and audit trails survive.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Evidence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Use the run data explicitly: what passed, what failed, and what it implies.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Evidence funnel: current vs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proof gates, without hand-wavy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53035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Reddit buyer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783080"/>
            <a:ext cx="4114800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783080"/>
            <a:ext cx="4114800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46504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88 /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719072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792224"/>
            <a:ext cx="95097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58568"/>
            <a:ext cx="11094415" cy="53035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14015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Independent AI captures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2441448"/>
            <a:ext cx="4114800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2441448"/>
            <a:ext cx="2057400" cy="12801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404872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10 /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377439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2450591"/>
            <a:ext cx="95097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16935"/>
            <a:ext cx="11094415" cy="53035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072383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Independent engines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099815"/>
            <a:ext cx="4114800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3099815"/>
            <a:ext cx="2743200" cy="12801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063239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 /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035807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3108959"/>
            <a:ext cx="95097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75303"/>
            <a:ext cx="11094415" cy="53035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30751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Pattern candidates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3758183"/>
            <a:ext cx="4114800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86200" y="3758183"/>
            <a:ext cx="4114800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721607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9 /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3694175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3767327"/>
            <a:ext cx="95097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33671"/>
            <a:ext cx="11094415" cy="53035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389119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Accepted pattern reviews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4416551"/>
            <a:ext cx="4114800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6200" y="4416551"/>
            <a:ext cx="0" cy="12801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379975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0 /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4352543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28632" y="4425695"/>
            <a:ext cx="950976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AI capture coverage is the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useful data is real, but engine coverage is not yet broad enough.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01168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9164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02082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Total captures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5856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Includes seeded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201168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69164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02082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25856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Usable for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572768"/>
            <a:ext cx="201168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69164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02082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25856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Exclude from claims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572768"/>
            <a:ext cx="201168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69164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02082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25856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Need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572768"/>
            <a:ext cx="201168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4" y="169164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02082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Capture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258568"/>
            <a:ext cx="171907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Need +10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22783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Claude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236976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236976"/>
            <a:ext cx="685800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321411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666744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Google AI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675888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675888"/>
            <a:ext cx="685800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3653028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05656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ChatGPT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114800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4114800"/>
            <a:ext cx="137160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4091940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44568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Perplexity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553712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29000" y="4553712"/>
            <a:ext cx="137160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05872" y="453085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Answer units skew to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Claims should not be presented as engine consensus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Usable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Non-target-seeded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Seeded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Excluded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542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All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54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Raw unit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4495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Google AI Mode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054096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3054096"/>
            <a:ext cx="6858000" cy="13716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303123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370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4787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Claude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557015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3557015"/>
            <a:ext cx="3113902" cy="13716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353415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168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Reddit evidence shapes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Reddit is buyer language and objection evidence, not market-size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Buyer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Qualified snippets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Subreddits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Source spread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54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Workflow spread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572768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7264" y="1691640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020824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Signal tags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2258568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Multi-label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4495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pain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054096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3054096"/>
            <a:ext cx="6858000" cy="137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303123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workaround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438144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438144"/>
            <a:ext cx="6415548" cy="137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3415284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13048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objection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822191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822191"/>
            <a:ext cx="6194322" cy="137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379933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197096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comparison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206240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4206240"/>
            <a:ext cx="6194322" cy="137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5872" y="4183380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81144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adoption_signal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590288"/>
            <a:ext cx="685800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29000" y="4590288"/>
            <a:ext cx="3539612" cy="137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05872" y="4567428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Reddit signals: objections and workarounds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content should answer skepticism, not just explain the scorecard.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1083564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64208"/>
            <a:ext cx="2869387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9507" y="1664208"/>
            <a:ext cx="22192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7" y="1664208"/>
            <a:ext cx="525322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AEO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56816"/>
            <a:ext cx="1083564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66544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9507" y="2066544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7" y="2066544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pain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68880"/>
            <a:ext cx="10835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578608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workaround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9507" y="2578608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7" y="2578608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workaround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80944"/>
            <a:ext cx="1083564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90672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objection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9507" y="3090672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7" y="3090672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objection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93008"/>
            <a:ext cx="10835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602736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9507" y="3602736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7" y="3602736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comparison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005072"/>
            <a:ext cx="1083564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114800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adoption_signal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9507" y="4114800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7" y="4114800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adoption_signal language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517136"/>
            <a:ext cx="10835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626864"/>
            <a:ext cx="285109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subagent_rejected_patterns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9507" y="4626864"/>
            <a:ext cx="22009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3347" y="4626864"/>
            <a:ext cx="52349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Prompt around subagent_rejected_patterns 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Pattern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Pattern slides need counts, engine coverage, and review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Pattern coverage by independent captures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Capture count is not proof, but it is a useful prioritization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Workflow Layer Replacement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55064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655064"/>
            <a:ext cx="704088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97312" y="1632204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66544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Add-On Collapse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075688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075688"/>
            <a:ext cx="616077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97312" y="2052828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87168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Human Sign-Off Boundary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496312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496312"/>
            <a:ext cx="528066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7312" y="247345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Data Moat Survival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916936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916936"/>
            <a:ext cx="440055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97312" y="289407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28416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Pilotability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337560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3337560"/>
            <a:ext cx="440055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3314700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49040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Renewal Leverage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758184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3758184"/>
            <a:ext cx="440055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7312" y="3735324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169664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Seat Compression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178808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4178808"/>
            <a:ext cx="352044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97312" y="4155948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90288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Citation Authority Gap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599432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7560" y="4599432"/>
            <a:ext cx="176022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7312" y="45765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010912"/>
            <a:ext cx="2331720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Interface Collapse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020056"/>
            <a:ext cx="7040880" cy="1371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5020056"/>
            <a:ext cx="1760220" cy="137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97312" y="499719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Pattern coverage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medium-confidence patterns as hypotheses, not accepted market truths.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2708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289499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390" y="1572768"/>
            <a:ext cx="223936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572768"/>
            <a:ext cx="52989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65376"/>
            <a:ext cx="109270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75104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Add-On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390" y="1975104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7 captures / 2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1975104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40864"/>
            <a:ext cx="10927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450592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Human Sign-Off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390" y="2450592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6 captures / 2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8" y="2450592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16352"/>
            <a:ext cx="109270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926080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Data Moat Survival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390" y="2926080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5 captures / 2 engines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8" y="2926080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91840"/>
            <a:ext cx="10927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401568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390" y="3401568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5 captures / 2 engines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8" y="3401568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67328"/>
            <a:ext cx="109270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877056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390" y="3877056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5 captures / 2 engines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8" y="3877056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42816"/>
            <a:ext cx="10927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352544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Seat Compression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9390" y="4352544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4 captures / 2 engines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3348" y="4352544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18304"/>
            <a:ext cx="109270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28032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Workflow Layer Replacement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390" y="4828032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8 captures / 3 engines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3348" y="4828032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Claude, Google AI Mode, Perplexity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Semantic review is the missing promotion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review file currently records rejection pressure, not accepted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1907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048256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Review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86000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Adversarial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600200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71907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048256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286000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Do not promote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600200"/>
            <a:ext cx="2103120" cy="95097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171907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2048256"/>
            <a:ext cx="1810511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Accepted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544" y="2286000"/>
            <a:ext cx="181051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0" i="0">
                <a:solidFill>
                  <a:srgbClr val="E0F7F1"/>
                </a:solidFill>
                <a:latin typeface="Calibri"/>
              </a:rPr>
              <a:t>Current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07492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64008" cy="1874519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0400"/>
            <a:ext cx="4745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Client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566160"/>
            <a:ext cx="4745736" cy="12527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This is a product blueprint deck, not a proof deck. The next evidence sprint must convert hypotheses into accepted reviewed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074920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063240"/>
            <a:ext cx="64008" cy="1874519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200400"/>
            <a:ext cx="474573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Deck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566160"/>
            <a:ext cx="4745736" cy="12527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Every strong claim needs a visible evidence status: observed, hypothesis, rejected, or accepted.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hypotheses become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deck should show how data turns into product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64008" cy="1207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Workflow determinism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High-volume, rule-bound workflows are more 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72768"/>
            <a:ext cx="64008" cy="1207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0992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Data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075688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Records, permissions, audit, and governance defend the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72768"/>
            <a:ext cx="64008" cy="1207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709928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Human 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075688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Risk and accountability define the automation boundary.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39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291839"/>
            <a:ext cx="64008" cy="1207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94759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Historical replay and parallel runs make claims testable.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39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91839"/>
            <a:ext cx="64008" cy="1207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794759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Seat/add-on compression creates the commercial wedge.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291839"/>
            <a:ext cx="3310128" cy="1207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291839"/>
            <a:ext cx="64008" cy="1207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Citation 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794759"/>
            <a:ext cx="2980944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Pages must earn inclusion in AI answer surfaces.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Product + AEO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Translate the evidence into pages, diagnostics, and capture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Prompt pack drives the AEO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Non-target-seeded prompts become capture prompts and page briefs.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101852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08760"/>
            <a:ext cx="2920593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9273" y="1508760"/>
            <a:ext cx="225948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Reddit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508760"/>
            <a:ext cx="534466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01368"/>
            <a:ext cx="11018520" cy="40233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911095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ad &amp; creative generation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9273" y="1911095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1911095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40280"/>
            <a:ext cx="11018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350008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ai shopping / sales consultant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9273" y="2350008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Entrepreneur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8" y="2350008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679191"/>
            <a:ext cx="11018520" cy="40233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788920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conversational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9273" y="2788920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CustomerSuccess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8" y="2788920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118104"/>
            <a:ext cx="11018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227832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9273" y="3227832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Entrepreneur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8" y="3227832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57015"/>
            <a:ext cx="11018520" cy="40233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666744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9273" y="3666744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Lawyertalk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8" y="3666744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995928"/>
            <a:ext cx="11018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105656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messaging-channel 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9273" y="4105656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CustomerSuccess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3348" y="4105656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434840"/>
            <a:ext cx="11018520" cy="40233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4544568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personalized marketing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9273" y="4544568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3348" y="4544568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873752"/>
            <a:ext cx="11018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983480"/>
            <a:ext cx="290230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travel &amp; booking planner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9273" y="4983480"/>
            <a:ext cx="22411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Entrepreneur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4983480"/>
            <a:ext cx="53263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Non-target-seeded page + capture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AEO pages need buyer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Build pages that answer where agents are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92708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289499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390" y="1600200"/>
            <a:ext cx="223936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Buyer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600200"/>
            <a:ext cx="52989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92807"/>
            <a:ext cx="1092708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02536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Customer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390" y="2002536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Reduce support seats?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04872"/>
            <a:ext cx="10927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Document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390" y="2514600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Replace drafting add-ons?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16936"/>
            <a:ext cx="1092708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026664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Legal drafting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390" y="3026664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Mandatory review?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10927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38728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Creative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9390" y="3538728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Compress production seats?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41064"/>
            <a:ext cx="10927080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0792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Data moats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390" y="4050792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Records/audit moat?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53128"/>
            <a:ext cx="10927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562856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Pilot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390" y="4562856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Test before renewal?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Workflow examples: exposed vs surviving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is the tangible client artifact.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92708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289499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390" y="1600200"/>
            <a:ext cx="223936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Exposed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600200"/>
            <a:ext cx="52989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Surviving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92807"/>
            <a:ext cx="10927080" cy="493775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02536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Conversational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390" y="2002536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Tier-1 queues / bot add-ons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2002536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Helpdesk records + escalation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1092708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32888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Doc summarization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390" y="2532888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Drafting add-on seats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8" y="2532888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Office suite + document 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53511"/>
            <a:ext cx="10927080" cy="493775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063239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Legal drafting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390" y="3063239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First-draft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8" y="3063239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Research corpus + attorney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83863"/>
            <a:ext cx="1092708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593591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Creative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390" y="3593591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Variant production seats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8" y="3593591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DAM + brand governance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14215"/>
            <a:ext cx="10927080" cy="493775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23944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AI shopping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390" y="4123944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Guided selling scripts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8" y="4123944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Catalog, inventory, pricing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Operating workflow compounds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is the repeatable kit, not a one-off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4008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4591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1. Generate prompts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Use Reddit buyer language and non-target-seeded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64008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64591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2. Capture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011680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Collect across ChatGPT, Claude, Perplexity, Google AI Mode.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08760"/>
            <a:ext cx="64008" cy="1261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64591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3. Mine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011680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Use semantic matching, not keyword matching.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39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291839"/>
            <a:ext cx="64008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4. Review/falsify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94759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Promote only accepted mechanisms.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39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91839"/>
            <a:ext cx="64008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5. Publish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794759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Turn gaps into crawlable AEO assets.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291839"/>
            <a:ext cx="3310128" cy="12618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291839"/>
            <a:ext cx="64008" cy="12618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3428999"/>
            <a:ext cx="298094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1" i="0">
                <a:solidFill>
                  <a:srgbClr val="0A1628"/>
                </a:solidFill>
                <a:latin typeface="Calibri"/>
              </a:rPr>
              <a:t>6. Rerun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794759"/>
            <a:ext cx="2980944" cy="6400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Measure recommendation eligibility.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30-day data targets make the plan measurable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next deck should show passed gates, not just a stronger 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092708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2894990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390" y="1572768"/>
            <a:ext cx="2239365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572768"/>
            <a:ext cx="52989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30-day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65376"/>
            <a:ext cx="1092708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75104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AI captures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390" y="1975104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10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1975104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Reach 20 independent captures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32304"/>
            <a:ext cx="10927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42032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Answer engines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390" y="2542032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2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8" y="2542032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Reach 3 independent engines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99232"/>
            <a:ext cx="1092708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108960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Pattern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390" y="3108960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0 accepted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8" y="3108960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Accept/reject each promoted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66160"/>
            <a:ext cx="10927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7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AEO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390" y="3675887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0 page cluster shipped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8" y="3675887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Publish 5 buyer-question pages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33087"/>
            <a:ext cx="10927080" cy="53035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242816"/>
            <a:ext cx="287670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Citation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390" y="4242816"/>
            <a:ext cx="2221077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No cited external domains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8" y="4242816"/>
            <a:ext cx="5280659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Earn/source third-party citation candidates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Claim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deck is more credible when it says what it cannot prove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166360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483717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Safe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4837176" cy="2578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Reviewed draft. Directional v0 model. Evidence supports workflow-layer compression as a hypothesis. Reddit provides buyer language and objections.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66360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00200"/>
            <a:ext cx="64008" cy="3200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737360"/>
            <a:ext cx="483717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Unsafe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103120"/>
            <a:ext cx="4837176" cy="2578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Full AEO readiness. Consensus across ChatGPT, Claude, Perplexity, and Google. Statistical validation. Accepted market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Decision ask: v0 + evidence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Launch the diagnostic; upgrade proof quality in the next sprint.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3291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283098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6822" y="1737360"/>
            <a:ext cx="2189073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737360"/>
            <a:ext cx="51846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29968"/>
            <a:ext cx="10698480" cy="67665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39696"/>
            <a:ext cx="28126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Launch v0 scorecard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6822" y="2139696"/>
            <a:ext cx="217078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5 dimensions + 4 verdicts.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52928"/>
            <a:ext cx="28126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Publish page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6822" y="2852928"/>
            <a:ext cx="217078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Build 5 unbranded AEO pages.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56432"/>
            <a:ext cx="10698480" cy="67665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566160"/>
            <a:ext cx="28126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Complete capture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6822" y="3566160"/>
            <a:ext cx="217078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Add +10 captures + one engine.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9664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279392"/>
            <a:ext cx="2812694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0A1628"/>
                </a:solidFill>
                <a:latin typeface="Calibri"/>
              </a:rPr>
              <a:t>Run semantic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6822" y="4279392"/>
            <a:ext cx="2170785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Accept/reject promoted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Data sources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68096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qa/evidence_sprint_status.json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normalized/reddit_buyer_language.jsonl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normalized/reddit_aeo_opportunities.jsonl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normalized/capture_units.jsonl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normalized/pattern_candidates.jsonl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normalized/pattern_reviews.jsonl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•  stage_outputs/ai_answer_prompt_pack.jsonl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514600"/>
            <a:ext cx="2926080" cy="155448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76148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Reviewed draft. Gates open.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Data-backed reviewed draft | 2026-06-29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