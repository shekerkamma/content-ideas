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ENTERPRISE AI  ·  PRACTITIONER'S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Enterprise AI Platform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7132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0C9A7"/>
                </a:solidFill>
                <a:latin typeface="Calibri"/>
              </a:rPr>
              <a:t>A Four-Tier Framework Across Five Domains and Three Hyperscalers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64992"/>
            <a:ext cx="713232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Use Case Cards · Solution Blueprints · Platform Architectures · Realization Patterns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sourced from GCP 101 Blueprints · AWS Gen AI Atlas · Microsoft Azure Scenario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64592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FOR ENTERPRISE LEADERS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10312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235915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Which AI investments survive beyond the pilot?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329184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THE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354787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Four-tier architecture for every domain.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448056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THE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73659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90-day path to production-grade 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6B7C8C"/>
                </a:solidFill>
                <a:latin typeface="Calibri"/>
              </a:rPr>
              <a:t>Enterprise AI Platform Architecture  |  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If you read one slide, read this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4752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109728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10512"/>
            <a:ext cx="10500055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Calibri"/>
              </a:rPr>
              <a:t>Fewer than 10% of enterprise AI pilots reach production. The gap is not the model — it is the platform, the governance, and the missing use-case-to-architecture chain.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7168"/>
            <a:ext cx="3527450" cy="2423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87168"/>
            <a:ext cx="3527450" cy="43891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87168"/>
            <a:ext cx="91440" cy="43891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569464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THE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054096"/>
            <a:ext cx="3125114" cy="1673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AI pilots stall: no measurable KPI, no named process owner, no production-ready platform.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Each use case reinvents security, governance, and compliance — at 10× the cost.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Regulated industries (healthcare, FSI, manufacturing) have non-negotiable compliance floors.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2122" y="2487168"/>
            <a:ext cx="3527450" cy="2423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32122" y="2487168"/>
            <a:ext cx="3527450" cy="43891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2122" y="2487168"/>
            <a:ext cx="91440" cy="43891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3290" y="2569464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THE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3290" y="3054096"/>
            <a:ext cx="3125114" cy="1673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Four-tier artifact system: platform → blueprint → use case card → realization pattern.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Six production-ready platform architectures across five domains and three hyperscalers.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Each platform: defense-in-depth, RAI governance, NIST AI RMF, pre-production checklist.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5604" y="2487168"/>
            <a:ext cx="3527450" cy="2423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5604" y="2487168"/>
            <a:ext cx="3527450" cy="43891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5604" y="2487168"/>
            <a:ext cx="91440" cy="43891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6772" y="2569464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THE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6772" y="3054096"/>
            <a:ext cx="3125114" cy="1673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Select the right use case for your domain in one conversation.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Deploy into a pre-built, compliance-ready platform — not from scratch.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90-day path: baseline KPI → build → pilot → go/no-go with hard criteria.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2064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THE STARTING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76672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Pick your domain → read the platform architecture → run a 3-use-case pilot with KPI 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Fewer Than 10% of AI Pilots Reach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977639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The gap is not the model. It is the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Opportunity Is Real. The Execution Gap Is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Enterprise AI adoption data —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2636443" cy="14173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73936"/>
            <a:ext cx="230725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E05A6B"/>
                </a:solidFill>
                <a:latin typeface="Calibri"/>
              </a:rPr>
              <a:t>&lt;10%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77440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of AI use cases
past pilot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79776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McKinsey, June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963" y="1664208"/>
            <a:ext cx="2636443" cy="14173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2555" y="1773936"/>
            <a:ext cx="230725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0C9A7"/>
                </a:solidFill>
                <a:latin typeface="Calibri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7691" y="2377440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of enterprises
using gen AI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7691" y="2779776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McKinsey, June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64208"/>
            <a:ext cx="2636443" cy="14173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1879" y="1773936"/>
            <a:ext cx="230725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B800"/>
                </a:solidFill>
                <a:latin typeface="Calibri"/>
              </a:rPr>
              <a:t>4.2×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7015" y="2377440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ROI in Financial
Services (Azure)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7015" y="2779776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Microsoft, 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611" y="1664208"/>
            <a:ext cx="2636443" cy="14173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203" y="1773936"/>
            <a:ext cx="2307259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0C9A7"/>
                </a:solidFill>
                <a:latin typeface="Calibri"/>
              </a:rPr>
              <a:t>600+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339" y="2377440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real-world GCP AI
deployments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339" y="2779776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5B6B7C"/>
                </a:solidFill>
                <a:latin typeface="Calibri"/>
              </a:rPr>
              <a:t>GCP 101 Blueprints,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9184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ROI BY VERTICAL  (Microsoft, 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11094415" cy="42062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8875532" cy="420624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3075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Financial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3900" y="37307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4.2×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187952"/>
            <a:ext cx="11094415" cy="42062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187952"/>
            <a:ext cx="7607598" cy="420624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6110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Retail &amp; CPG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5966" y="426110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3.6×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18304"/>
            <a:ext cx="11094415" cy="42062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4718304"/>
            <a:ext cx="7184954" cy="420624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7914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3322" y="479145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3.4×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248656"/>
            <a:ext cx="11094415" cy="42062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5248656"/>
            <a:ext cx="6973632" cy="420624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3218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Healthcare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2000" y="532180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3.3×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79008"/>
            <a:ext cx="11094415" cy="420624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8640" y="5779008"/>
            <a:ext cx="5917021" cy="420624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852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Cross-Industry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5389" y="58521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2.8×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Four Tiers, One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977639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From business case to production — a connected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Four-Tier Artifact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use case described at four levels — for four audiences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36443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636443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62123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Enterprise AI Platform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2362123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15768"/>
            <a:ext cx="2362123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CTO · CISO ·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2362123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Shared security, governance, and RAI controls. Every AI workload inherits this platform. One per domain × cloud.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2515" y="34290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7963" y="1600200"/>
            <a:ext cx="2636443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7963" y="1600200"/>
            <a:ext cx="2636443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5123" y="1746504"/>
            <a:ext cx="2362123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TIER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123" y="2011680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Solution Blueprint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5123" y="2606040"/>
            <a:ext cx="2362123" cy="36576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5123" y="2715768"/>
            <a:ext cx="2362123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Enterprise Architect · Delivery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123" y="3108960"/>
            <a:ext cx="2362123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How to build one specific use case: architecture diagram, integration points, build-vs-buy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1839" y="34290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1600200"/>
            <a:ext cx="2636443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1600200"/>
            <a:ext cx="2636443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447" y="1746504"/>
            <a:ext cx="2362123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TIER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2011680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Use Case Card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4447" y="2606040"/>
            <a:ext cx="2362123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4447" y="2715768"/>
            <a:ext cx="2362123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Business Buyer · Account Exec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447" y="3108960"/>
            <a:ext cx="2362123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What to build and why: ROI benchmarks, hyperscaler evidence, risk/readiness, pilot KPIs.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163" y="342900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611" y="1600200"/>
            <a:ext cx="2636443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611" y="1600200"/>
            <a:ext cx="2636443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3771" y="1746504"/>
            <a:ext cx="2362123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2A83B"/>
                </a:solidFill>
                <a:latin typeface="Calibri"/>
              </a:rPr>
              <a:t>TIER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771" y="2011680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Realization Pattern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3771" y="2606040"/>
            <a:ext cx="2362123" cy="36576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3771" y="2715768"/>
            <a:ext cx="2362123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Data Engineer · Implementer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771" y="3108960"/>
            <a:ext cx="2362123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technical pattern: RAG, Knowledge Graph + MCP, Document AI, or Multi-Agent — with code.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Navigate the bundle: start from Tier 3 (business case) → confirm Tier 1 platform → build to Tier 2 blueprint → implement via Tier 4 pattern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Six Platform Architectures. Five Domains. Three Hyperscalers.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977639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One per domain × cloud — not one per 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Platform Architecture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Tier 1 layer — shared by all workloads in that 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55064"/>
            <a:ext cx="2148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55064"/>
            <a:ext cx="685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655064"/>
            <a:ext cx="30632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Regulatory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55064"/>
            <a:ext cx="43708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Lead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11094415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65960"/>
            <a:ext cx="91440" cy="6217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057400"/>
            <a:ext cx="202996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Healthcare (AWS)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057400"/>
            <a:ext cx="62179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2" y="2057400"/>
            <a:ext cx="299923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HIPAA · NIST AI RMF · CMS Final Rule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2592" y="2057400"/>
            <a:ext cx="430682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HealthLake FHIR R4 · Comprehend Medical · Bedrock Guardrails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87752"/>
            <a:ext cx="1109441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87752"/>
            <a:ext cx="91440" cy="62179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679192"/>
            <a:ext cx="202996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Healthcare (GCP)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2679192"/>
            <a:ext cx="62179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GCP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2" y="2679192"/>
            <a:ext cx="299923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HIPAA · SAIF · NIST AI RMF · CMS Final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679192"/>
            <a:ext cx="430682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Knowledge Catalog MCP · MedLM · SAIF automated controls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9544"/>
            <a:ext cx="11094415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209544"/>
            <a:ext cx="91440" cy="62179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300984"/>
            <a:ext cx="202996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Financial Services (AWS)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3300984"/>
            <a:ext cx="62179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2" y="3300984"/>
            <a:ext cx="299923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SOX · PCI-DSS · SR 11-7 · BSA/AML · FINRA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3300984"/>
            <a:ext cx="430682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KYC pipeline · SEC 17a-4 WORM · Bedrock + Textract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31336"/>
            <a:ext cx="1109441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831336"/>
            <a:ext cx="91440" cy="62179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922776"/>
            <a:ext cx="202996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Retail &amp; CPG (GCP)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3922776"/>
            <a:ext cx="62179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GCP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2192" y="3922776"/>
            <a:ext cx="299923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GDPR · CCPA · PCI-DSS · EU AI 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922776"/>
            <a:ext cx="430682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Vertex AI Search for Commerce · Knowledge Catalog product grounding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53128"/>
            <a:ext cx="11094415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453128"/>
            <a:ext cx="91440" cy="6217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4544568"/>
            <a:ext cx="202996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Manufacturing (Azure)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4544568"/>
            <a:ext cx="62179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Azure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2192" y="4544568"/>
            <a:ext cx="299923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IEC 62443 · ISO 27001 · ITAR · ISO 9001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4544568"/>
            <a:ext cx="430682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IoT Hub · Digital Twins · IT/OT one-way data flow · IoT Edge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074920"/>
            <a:ext cx="1109441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074920"/>
            <a:ext cx="91440" cy="621792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166360"/>
            <a:ext cx="202996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Cross-Industry (AWS)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9232" y="5166360"/>
            <a:ext cx="62179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2192" y="5166360"/>
            <a:ext cx="299923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SOC 2 Type II · GDPR · CCPA · NIST AI RMF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5166360"/>
            <a:ext cx="430682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Bedrock Knowledge Bases · managed RAG · starter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Healthcare: Dual-Cloud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AWS leads on HIPAA BAA breadth; GCP leads on data governance and MedLM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5455767" cy="3657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91440" cy="3657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36776"/>
            <a:ext cx="5181447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AWS — Healthcare Payer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5181447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Broadest HIPAA BAA: HealthLake, Bedrock, Textract, Comprehend Medical, Macie all sign BAA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HealthLake: only cloud-native FHIR R4 store — CMS Final Rule 2024 compliant (72hr PA, denial reason)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PHI tokenization: Textract → Comprehend Medical → Macie → Lambda tokenizer → HealthLake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Bedrock Guardrails: PII filter + topic denial + grounding check out of the box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Audit: Bedrock Invocation Logging → S3 Object Lock (7-year WORM retention)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572768"/>
            <a:ext cx="5455767" cy="36576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572768"/>
            <a:ext cx="9144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4175" y="1636776"/>
            <a:ext cx="5181447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GCP — Healthcare Payer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029968"/>
            <a:ext cx="5181447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Knowledge Catalog MCP: agents query PHI data lineage via tool call — no custom integration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VPC Service Controls perimeter wraps aiplatform, healthcare, bigquery, storage, dataplex, cloudkms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SAIF 6-element framework: GCP Recommended AI Controls (NIST AI RMF automated via Security Command Center)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MedLM: purpose-built clinical NLP — outperforms general LLMs on ICD, RxNorm, clinical note tasks</a:t>
            </a:r>
          </a:p>
          <a:p>
            <a:pPr algn="l">
              <a:lnSpc>
                <a:spcPct val="108000"/>
              </a:lnSpc>
              <a:spcBef>
                <a:spcPts val="9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BeyondCorp Enterprise: zero-trust access for clinical reviewer workstations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40680"/>
            <a:ext cx="11094415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527288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CHOOSE AWS WHEN: Epic/Cerner integration is critical path; deep AWS expertise in-house; Bedrock Guardrails + Automated Reasoning is the compliance preference.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5532120"/>
            <a:ext cx="536432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CHOOSE GCP WHEN: MedLM clinical AI is a priority; existing BigQuery data estate; Knowledge Catalog MCP for grounded agents; SAIF automated controls preferred.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Financial Services: AWS — Production-Grade Compliance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SOX · PCI-DSS · SR 11-7 · BSA/AML · FINRA · SEC 17a-4 · GLBA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5492343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9144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64208"/>
            <a:ext cx="517230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Model Risk (SR 11-7)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517230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Every T3/T4 model requires SR 11-7 validation: model card, challenger model, independent validation, CCAR-ready documentation.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61488"/>
            <a:ext cx="5492343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61488"/>
            <a:ext cx="9144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52928"/>
            <a:ext cx="517230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KYC Document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127248"/>
            <a:ext cx="517230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Textract → Comprehend Medical NER → Macie PII scan → Lambda tokenizer → Bedrock Claude → Validation Lambda → CRM write. 90–99% extraction recall.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0208"/>
            <a:ext cx="5492343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50208"/>
            <a:ext cx="9144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041648"/>
            <a:ext cx="517230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AML / BSA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15968"/>
            <a:ext cx="517230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 SageMaker transaction scoring + Bedrock Agents for SAR draft generation. 5-year audit trail. Human-in-loop escalation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38928"/>
            <a:ext cx="5492343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138928"/>
            <a:ext cx="9144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230368"/>
            <a:ext cx="517230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SEC 17a-4 / FINRA 4511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504688"/>
            <a:ext cx="517230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Bedrock Model Invocation Logging → S3 Object Lock (WORM, 6-year minimum). All AI-generated client communications immutably stored.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5575" y="1572768"/>
            <a:ext cx="5492343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5575" y="1572768"/>
            <a:ext cx="9144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6743" y="1664208"/>
            <a:ext cx="517230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PCI-DSS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6743" y="1938528"/>
            <a:ext cx="517230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Tokenize PAN before any LLM call. Cardholder data environment (CDE) isolated from AI workload VPC. Never send raw cardholder data to Bedrock.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2761488"/>
            <a:ext cx="5492343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2761488"/>
            <a:ext cx="9144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6743" y="2852928"/>
            <a:ext cx="517230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Reg BI (Wealth AI)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6743" y="3127248"/>
            <a:ext cx="517230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Wealth advisory copilot: AI cannot be sole basis for advice. Recommendation explainability required. Human advisor reviews all AI output before client delivery.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5575" y="3950208"/>
            <a:ext cx="5492343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5575" y="3950208"/>
            <a:ext cx="9144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6743" y="4041648"/>
            <a:ext cx="517230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Security Scoping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6743" y="4315968"/>
            <a:ext cx="517230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SCOPE 6 (credit underwriting): VPC + KMS + SR 11-7 + ECOA/Reg B compliance + explainability. SCOPE 1 (client chatbot): Guardrails + DLP + WAF.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5575" y="5138928"/>
            <a:ext cx="5492343" cy="10972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5575" y="5138928"/>
            <a:ext cx="91440" cy="10972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6743" y="5230368"/>
            <a:ext cx="5172303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Model Tier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6743" y="5504688"/>
            <a:ext cx="517230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T1–T4 tiers: T4 (automated credit decision) requires CRO + Legal + Model Risk + Regulatory Affairs + Board Risk Committee sign-off.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Retail &amp; CPG: GCP — Personalization at Catalog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GDPR · CCPA · PCI-DSS · EU AI Act  ·  Vertex AI Search for Commerce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362498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3624986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Vertex AI Search for 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3350666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Semantic personalized search across 1M+ SKU catalogs. Handles ambiguous queries, synonyms, attribute-based filtering. Integrates with Merchant Center.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3354" y="1572768"/>
            <a:ext cx="362498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3354" y="1572768"/>
            <a:ext cx="3624986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0514" y="1719072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Knowledge Catalog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0514" y="2066544"/>
            <a:ext cx="3350666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Product catalog grounding via MCP toolset — AI agents query AlloyDB product metadata before generating descriptions. Eliminates hallucinated product specs.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8068" y="1572768"/>
            <a:ext cx="362498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8068" y="1572768"/>
            <a:ext cx="3624986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5228" y="1719072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Cloud DLP + GDPR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5228" y="2066544"/>
            <a:ext cx="3350666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Customer PII scanned before any AI ingestion. GDPR Art. 22: personalization opt-out path required. AI-generated content labeled (EU AI Act transparency).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0672"/>
            <a:ext cx="362498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90672"/>
            <a:ext cx="3624986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3697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Recommendations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84448"/>
            <a:ext cx="3350666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Collaborative filtering + session-based recs. CTR and CVR uplift validated weekly vs control group. Feature drift monitoring on purchase/browse history inputs.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3354" y="3090672"/>
            <a:ext cx="362498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3354" y="3090672"/>
            <a:ext cx="3624986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0514" y="323697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VPC Service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0514" y="3584448"/>
            <a:ext cx="3350666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Perimeter 'retail-ai-prod' wraps aiplatform, bigquery, storage, dataplex, cloudkms. Data exfiltration prevention even with compromised credentials.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8068" y="3090672"/>
            <a:ext cx="3624986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8068" y="3090672"/>
            <a:ext cx="3624986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5228" y="3236976"/>
            <a:ext cx="335066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1B2B3C"/>
                </a:solidFill>
                <a:latin typeface="Calibri"/>
              </a:rPr>
              <a:t>Model Tier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5228" y="3584448"/>
            <a:ext cx="3350666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T4 (dynamic real-time pricing): requires CMO + Legal + CISO + Privacy Officer sign-off AND GDPR Art. 22 assessment before activation.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Manufacturing: Azure — IEC 62443 + IT/OT Convergence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IEC 62443 · ITAR · ISO 9001 · ISO 27001  ·  IT/OT one-way data flow enforced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4415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09728" cy="8686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CRITICAL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0500055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AI models NEVER write directly to OT systems (PLCs, SCADA, DCS, SIS). Data flows one-way: OT → IT. Human confirms all OT actions via work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33472"/>
            <a:ext cx="2072579" cy="7498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688336"/>
            <a:ext cx="192627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OT Sensors / PLCs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9507" y="28346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4099" y="2633472"/>
            <a:ext cx="2072579" cy="749808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7251" y="2688336"/>
            <a:ext cx="192627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Azure IoT Hub
(telemetry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4966" y="28346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9558" y="2633472"/>
            <a:ext cx="2072579" cy="749808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2710" y="2688336"/>
            <a:ext cx="192627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Azure Digital Twins
+ Azure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425" y="28346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017" y="2633472"/>
            <a:ext cx="2072579" cy="7498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169" y="2688336"/>
            <a:ext cx="192627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Technician App
(human confirms)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5884" y="28346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70476" y="2633472"/>
            <a:ext cx="2072579" cy="74980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3628" y="2688336"/>
            <a:ext cx="192627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Work Order System
(physical action)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47872"/>
            <a:ext cx="3643274" cy="85953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547872"/>
            <a:ext cx="73152" cy="85953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611880"/>
            <a:ext cx="338724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Azure IoT Hub + Digital Twins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895344"/>
            <a:ext cx="338724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Device identity (X.509 certs), telemetry at scale, real-time facility simulation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4210" y="3547872"/>
            <a:ext cx="3643274" cy="85953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4210" y="3547872"/>
            <a:ext cx="73152" cy="85953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8802" y="3611880"/>
            <a:ext cx="338724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Azure ML — Predictive Maintenance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8802" y="3895344"/>
            <a:ext cx="338724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Custom models on sensor telemetry; false negative rate &lt; 0.1% gate before production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99780" y="3547872"/>
            <a:ext cx="3643274" cy="85953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9780" y="3547872"/>
            <a:ext cx="73152" cy="85953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4372" y="3611880"/>
            <a:ext cx="338724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Azure Computer Vision (IoT Edge)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4372" y="3895344"/>
            <a:ext cx="338724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Visual QC at &lt;5ms latency on production line; model updates via IoT Edge deployment manifest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80560"/>
            <a:ext cx="3643274" cy="85953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480560"/>
            <a:ext cx="73152" cy="85953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4544568"/>
            <a:ext cx="338724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ITAR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4828032"/>
            <a:ext cx="338724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US-only Azure regions; Microsoft Purview classifies export-controlled technical data; no egress to non-US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74210" y="4480560"/>
            <a:ext cx="3643274" cy="85953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4210" y="4480560"/>
            <a:ext cx="73152" cy="85953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802" y="4544568"/>
            <a:ext cx="338724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Defender for IoT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8802" y="4828032"/>
            <a:ext cx="338724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Passive OT network monitoring (no active scanning); anomaly detection per IEC 62443 SL-2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99780" y="4480560"/>
            <a:ext cx="3643274" cy="85953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99780" y="4480560"/>
            <a:ext cx="73152" cy="85953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64372" y="4544568"/>
            <a:ext cx="3387242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Model Tier Policy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4372" y="4828032"/>
            <a:ext cx="338724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T4 (autonomous line stop): COO + Safety Board + OT Security Lead + Legal + IEC 62443 SIL assessment required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Cross-Industry: AWS — The Starter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SOC 2 Type II · GDPR · CCPA  ·  Bedrock Knowledge Bases  ·  1–4 month time to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Use this platform when your workload has no vertical-specific regulatory overlay (no HIPAA, PCI-CDE, OT/ICS). Fastest path to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1"/>
            <a:ext cx="2691307" cy="2926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2691307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285999"/>
            <a:ext cx="2416987" cy="32918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40863"/>
            <a:ext cx="2416987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Enterprise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199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Pattern: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80943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ROI: 1–4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91839"/>
            <a:ext cx="2416987" cy="1572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Bedrock Knowledge Bases + OpenSearch Serverless. Managed chunking + Titan Embeddings. No custom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9675" y="2084831"/>
            <a:ext cx="2691307" cy="2926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9675" y="2084831"/>
            <a:ext cx="2691307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6835" y="2285999"/>
            <a:ext cx="2416987" cy="32918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6835" y="2340863"/>
            <a:ext cx="2416987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Document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6835" y="2743199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Pattern: Document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6835" y="2980943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ROI: 2–6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6835" y="3291839"/>
            <a:ext cx="2416987" cy="1572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Textract + Comprehend → Bedrock enrichment. 90–99% extraction recall vs 70–85% for prompted LLMs.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0711" y="2084831"/>
            <a:ext cx="2691307" cy="2926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0711" y="2084831"/>
            <a:ext cx="2691307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87871" y="2285999"/>
            <a:ext cx="2416987" cy="32918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7871" y="2340863"/>
            <a:ext cx="2416987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Meeting Summarization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7871" y="2743199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Pattern: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7871" y="2980943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ROI: 1–3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7871" y="3291839"/>
            <a:ext cx="2416987" cy="1572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Transcription → Bedrock Claude. Bedrock Guardrails PII filter on all meeting content before processing.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1747" y="2084831"/>
            <a:ext cx="2691307" cy="29260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51747" y="2084831"/>
            <a:ext cx="2691307" cy="640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88907" y="2285999"/>
            <a:ext cx="2416987" cy="32918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8907" y="2340863"/>
            <a:ext cx="2416987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Code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8907" y="2743199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Pattern: 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8907" y="2980943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ROI: 1–3 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8907" y="3291839"/>
            <a:ext cx="2416987" cy="1572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Bedrock → IDE integration. Repository context via Knowledge Bases. System prompt scoped per language/stack.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138928"/>
            <a:ext cx="11094415" cy="105156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3036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PLATFORM GUARANTEES (inherited by all use cases)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522976"/>
            <a:ext cx="268216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Bedrock + PrivateLink: all LLM calls on private network — no public endpoints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8547" y="5522976"/>
            <a:ext cx="268216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Bedrock Guardrails: topic denial, PII filter, grounding check — configured per use 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5575" y="5522976"/>
            <a:ext cx="268216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SOC 2 Type II: AWS Audit Manager + CloudTrail automated evidence collection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603" y="5522976"/>
            <a:ext cx="268216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Cost anomaly detection: GuardDuty + Cost Anomaly Detection flags injection attacks as spend spikes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Where the Value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977639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Top use cases by vertical — with ROI timelines and realization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Top Use Cases by Vertical — ROI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Sources: GCP 101 Blueprints · AWS Gen AI Atlas · Microsoft AI Scenario Library · McKinsey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11094415" cy="34747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18488"/>
            <a:ext cx="16733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Vertical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1618488"/>
            <a:ext cx="29077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2392" y="1618488"/>
            <a:ext cx="190195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4072" y="1618488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1618488"/>
            <a:ext cx="804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ROI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20240"/>
            <a:ext cx="11094415" cy="4114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73152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97510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8024" y="197510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Prior Authorization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5544" y="197510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Multi-Agent + Doc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197510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6–12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5944" y="197510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3.3×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3172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331720"/>
            <a:ext cx="73152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38658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Healthcare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8024" y="238658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Clinical Documentation (Ambient AI)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5544" y="238658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238658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2–4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5944" y="238658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3.3×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743200"/>
            <a:ext cx="11094415" cy="4114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743200"/>
            <a:ext cx="73152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279806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Financial Svcs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78024" y="279806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KYC Document 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5544" y="279806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Document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7224" y="279806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2–6 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5944" y="279806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4.2×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15468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154680"/>
            <a:ext cx="73152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320954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Financial Svcs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78024" y="320954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Wealth Advisory Copilot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95544" y="320954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7224" y="320954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1–4 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95944" y="320954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4.2×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566160"/>
            <a:ext cx="11094415" cy="4114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3566160"/>
            <a:ext cx="73152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362102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Financial Svcs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78024" y="362102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AML Transaction Screening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95544" y="362102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Multi-Agent + ML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07224" y="362102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3–9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5944" y="362102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4.2×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97764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3977640"/>
            <a:ext cx="73152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403250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Retail &amp; CPG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78024" y="403250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Personalized Product 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95544" y="403250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RAG + Recs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07224" y="403250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1–4 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95944" y="403250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3.6×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389120"/>
            <a:ext cx="11094415" cy="4114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4389120"/>
            <a:ext cx="73152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" y="444398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Retail &amp; CPG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78024" y="444398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Demand Forecasting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95544" y="444398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 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07224" y="444398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2–6 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95944" y="444398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3.6×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80060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" y="4800600"/>
            <a:ext cx="73152" cy="411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" y="485546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Manufacturing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78024" y="485546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Predictive Maintenance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95544" y="485546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 ML (Edge)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07224" y="485546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6–18 mo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95944" y="485546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3.4×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212080"/>
            <a:ext cx="11094415" cy="4114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8640" y="5212080"/>
            <a:ext cx="73152" cy="41148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944" y="526694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Manufacturing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78024" y="526694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Visual QC Inspection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95544" y="526694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Computer Vision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07224" y="526694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3–9 mo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95944" y="526694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3.4×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5623560"/>
            <a:ext cx="73152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4944" y="567842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Cross-Industry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78024" y="567842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Enterprise 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95544" y="567842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07224" y="567842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1–4 mo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95944" y="567842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varies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035040"/>
            <a:ext cx="11094415" cy="4114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48640" y="6035040"/>
            <a:ext cx="73152" cy="4114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" y="6089904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Cross-Industry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78024" y="6089904"/>
            <a:ext cx="28529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Meeting Summarization + Code Gen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95544" y="6089904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RAG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07224" y="6089904"/>
            <a:ext cx="102412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1–3 mo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95944" y="6089904"/>
            <a:ext cx="749808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varies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Four Patterns. One Decision Tree.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977639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1605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Match your source data and query type to the right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Realization Pattern Selection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Start here before designing any AI workload — pattern determines cost, accuracy, and build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2691307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2691307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2416987" cy="51206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92224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59152"/>
            <a:ext cx="2416987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Retrieval Augmented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43200"/>
            <a:ext cx="2416987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2416987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WHEN: Unstructured docs (PDFs, emails, policies). Semantic queries: 'what does our policy say about...'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13632"/>
            <a:ext cx="2416987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Stack: Embedding model + vector DB + LLM. Managed: Bedrock Knowledge Bases (AWS), Vertex AI Search (GCP).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83480"/>
            <a:ext cx="241698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Setup: 2–5 days  |  Cost: ~$200–500/mo  |  Maturity: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9675" y="1572768"/>
            <a:ext cx="2691307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9675" y="1572768"/>
            <a:ext cx="2691307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86835" y="1737360"/>
            <a:ext cx="2416987" cy="51206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6835" y="1792224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9B82"/>
                </a:solidFill>
                <a:latin typeface="Calibri"/>
              </a:rPr>
              <a:t>KG +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6835" y="2359152"/>
            <a:ext cx="2416987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Knowledge Graph + MCP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86835" y="2743200"/>
            <a:ext cx="2416987" cy="36576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6835" y="2834640"/>
            <a:ext cx="2416987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WHEN: Structured metadata (tables, schemas, lineage, data catalogs). Agents need deterministic tool calls.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6835" y="3913632"/>
            <a:ext cx="2416987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Stack: Enterprise catalog (GCP Knowledge Catalog native MCP / AWS Glue + Lambda / Azure Purview REST).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6835" y="4983480"/>
            <a:ext cx="241698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9B82"/>
                </a:solidFill>
                <a:latin typeface="Calibri"/>
              </a:rPr>
              <a:t>Agent accuracy 93–97% vs ~60% RAG on catalog queries.  |  Setup: 1–4 weeks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0711" y="1572768"/>
            <a:ext cx="2691307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0711" y="1572768"/>
            <a:ext cx="2691307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87871" y="1737360"/>
            <a:ext cx="2416987" cy="51206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7871" y="1792224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Doc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7871" y="2359152"/>
            <a:ext cx="2416987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Document 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7871" y="2743200"/>
            <a:ext cx="2416987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7871" y="2834640"/>
            <a:ext cx="2416987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WHEN: High-volume structured documents — invoices, KYC forms, contracts. Deterministic extraction.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7871" y="3913632"/>
            <a:ext cx="2416987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Stack: GCP Document AI (70+ processors) / AWS Textract + Comprehend / Azure Form Recognizer.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7871" y="4983480"/>
            <a:ext cx="241698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Recall: 90–99% on trained models. Cost: 10–50× lower than LLM-per-page at scale.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747" y="1572768"/>
            <a:ext cx="2691307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51747" y="1572768"/>
            <a:ext cx="2691307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88907" y="1737360"/>
            <a:ext cx="2416987" cy="51206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8907" y="1792224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2A83B"/>
                </a:solidFill>
                <a:latin typeface="Calibri"/>
              </a:rPr>
              <a:t>Multi-Agent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8907" y="2359152"/>
            <a:ext cx="2416987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1B2B3C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88907" y="2743200"/>
            <a:ext cx="2416987" cy="36576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88907" y="2834640"/>
            <a:ext cx="2416987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WHEN: Workflow has 3+ decision points requiring different tools, data sources, or role separations.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88907" y="3913632"/>
            <a:ext cx="2416987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Stack: Orchestrator (ADK / LangGraph / Bedrock Agents) + specialist subagents with scoped tools.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8907" y="4983480"/>
            <a:ext cx="241698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2A83B"/>
                </a:solidFill>
                <a:latin typeface="Calibri"/>
              </a:rPr>
              <a:t>Best for: Prior Auth, KYC onboarding, AML workflow, procurement.  |  Setup: 6–12 weeks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5508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COMMON ANTI-PATTERN: Using a prompted LLM as the primary extractor for high-volume structured forms. Recall is 15–25 pts lower than Document AI and cost is 10–50× higher.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Responsible AI &amp; Defense-in-Depth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Governance gates and security controls — built into every platform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4-STAGE RAI FRAMEWORK  (Microsoft Responsible AI Standard / NIST AI RMF)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691307" cy="129844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2691307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3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IDENTIFY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95728"/>
            <a:ext cx="241698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Document intended use, prohibited uses, affected populations. Classify SCOPE tier (1–6). Assign Model Tier (T1–T4).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9091" y="2331720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9675" y="1920240"/>
            <a:ext cx="2691307" cy="129844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9675" y="1920240"/>
            <a:ext cx="2691307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835" y="2066543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B82"/>
                </a:solidFill>
                <a:latin typeface="Calibri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835" y="2395728"/>
            <a:ext cx="241698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Accuracy benchmarks, bias evaluation, adversarial red-team. Bedrock Model Evaluation / Vertex AI Fairness Indicators.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0127" y="2331720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0711" y="1920240"/>
            <a:ext cx="2691307" cy="129844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0711" y="1920240"/>
            <a:ext cx="2691307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2066543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MITIGATE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7871" y="2395728"/>
            <a:ext cx="241698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Implement guardrails, human-in-loop for high-risk decisions, fallback to non-AI path. Feature-flag gradual rollout.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163" y="2331720"/>
            <a:ext cx="137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747" y="1920240"/>
            <a:ext cx="2691307" cy="129844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1747" y="1920240"/>
            <a:ext cx="2691307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8907" y="2066543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2A83B"/>
                </a:solidFill>
                <a:latin typeface="Calibri"/>
              </a:rPr>
              <a:t>OPERATE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8907" y="2395728"/>
            <a:ext cx="2416987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drift monitoring, quarterly model review, usage pattern anomaly detection. Named model owner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01568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DEFENSE-IN-DEPTH  (4 layers — every platform, every domain)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749039"/>
            <a:ext cx="2691307" cy="126187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49039"/>
            <a:ext cx="2691307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858768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187952"/>
            <a:ext cx="2416987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Prompt injection detection · PII/PCD scrubbing · Rate limiting · Document size limits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49675" y="3749039"/>
            <a:ext cx="2691307" cy="126187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49675" y="3749039"/>
            <a:ext cx="2691307" cy="5486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6835" y="3858768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6835" y="4187952"/>
            <a:ext cx="2416987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System prompt hardening · Context isolation · Approved model list (IAM policy) · Private endpoints only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0711" y="3749039"/>
            <a:ext cx="2691307" cy="126187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0711" y="3749039"/>
            <a:ext cx="2691307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7871" y="3858768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7871" y="4187952"/>
            <a:ext cx="2416987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Grounding score threshold · Hallucination flag → human review · Citation requirement · AI content labeling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1747" y="3749039"/>
            <a:ext cx="2691307" cy="126187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51747" y="3749039"/>
            <a:ext cx="2691307" cy="54864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88907" y="3858768"/>
            <a:ext cx="241698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OBSERVE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8907" y="4187952"/>
            <a:ext cx="2416987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Mandatory audit log (all invocations) · Model drift monitoring · Cost anomaly detection · SIEM correlation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138928"/>
            <a:ext cx="11094415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MANDATORY AUDIT LOG: every invocation logs session_id, user_role, model_id, model_version, input_hash, output_hash, latency_ms, guardrail_action, grounding_score, rai_flags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90-Day Pilot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Maximum 3 use cases. Measurable KPI baseline. Named process owner. Hard go/no-go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3624986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72768"/>
            <a:ext cx="3624986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00784"/>
            <a:ext cx="3295802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WEEKS 1–4
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04288"/>
            <a:ext cx="3295802" cy="2697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Baseline KPI measurement: current cycle time, manual FTE hours, error/NIGO rate
• Assign SCOPE tier (1–6) and Model Tier (T1–T4) to each use case
• Cloud environment setup: VPC, KMS, IAM roles, audit log schema, cost guardrails
• Pre-production checklist sign-off (HIPAA/PCI/IEC 62443 as applicable)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3354" y="1572768"/>
            <a:ext cx="3624986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3354" y="1572768"/>
            <a:ext cx="3624986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7946" y="1700784"/>
            <a:ext cx="3295802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WEEKS 5–10
Build +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7946" y="2304288"/>
            <a:ext cx="3295802" cy="2697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Build to Tier 2 Solution Blueprint for selected use case
• Implement realization pattern (RAG / Document AI / Multi-Agent / KG+MCP)
• Wire human-in-loop review queue and fallback path
• Run with 1 team or 1 process — not full rollout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8068" y="1572768"/>
            <a:ext cx="3624986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8068" y="1572768"/>
            <a:ext cx="3624986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2660" y="1700784"/>
            <a:ext cx="3295802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WEEKS 11–13
Measure + 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660" y="2304288"/>
            <a:ext cx="3295802" cy="2697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Measure against pre-set KPI baseline (not anecdotal wins)
• Run RAI evaluation: bias check, fairness metrics, grounding score
• Review audit log compliance: all mandatory fields populated?
• Go / No-Go: hit criteria → expand. Miss criteria → fix root cause or stop.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85232"/>
            <a:ext cx="11094415" cy="80467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285232"/>
            <a:ext cx="109728" cy="80467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376672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GO-CRITERIA (set before week 1 — not after)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623560"/>
            <a:ext cx="10591495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Extraction recall ≥ 92%  ·  Cycle time reduction ≥ 40%  ·  Zero PII leaked to LLM endpoint (audit log verified)  ·  Human review queue functional  ·  Cost within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Enterprise AI Platform Architecture  |  Confidential  |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82296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Start With Your Domain.
Pick One Use Case. Set the KPI.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880360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3200400"/>
            <a:ext cx="1783080" cy="242316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3200400"/>
            <a:ext cx="178308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3337560"/>
            <a:ext cx="411480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3355848"/>
            <a:ext cx="411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785615"/>
            <a:ext cx="14538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Identify your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51960"/>
            <a:ext cx="1453896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Healthcare · FSI · Retail · Manufacturing · Cross-Industry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200400"/>
            <a:ext cx="1783080" cy="242316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3200400"/>
            <a:ext cx="1783080" cy="640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96312" y="3337560"/>
            <a:ext cx="411480" cy="347472"/>
          </a:xfrm>
          <a:prstGeom prst="roundRect">
            <a:avLst>
              <a:gd name="adj" fmla="val 8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3355848"/>
            <a:ext cx="411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3785615"/>
            <a:ext cx="14538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Read the platform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4251960"/>
            <a:ext cx="1453896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Open the Tier 1 doc for your domain × cloud — inherit its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200400"/>
            <a:ext cx="1783080" cy="242316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200400"/>
            <a:ext cx="1783080" cy="640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16552" y="3337560"/>
            <a:ext cx="411480" cy="347472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355848"/>
            <a:ext cx="411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785615"/>
            <a:ext cx="14538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Pick 3 use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251960"/>
            <a:ext cx="1453896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Use Tier 3 Use Case Cards — ROI benchmarks, KPI baseline, process owner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200400"/>
            <a:ext cx="1783080" cy="242316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200400"/>
            <a:ext cx="1783080" cy="6400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337560"/>
            <a:ext cx="411480" cy="347472"/>
          </a:xfrm>
          <a:prstGeom prst="roundRect">
            <a:avLst>
              <a:gd name="adj" fmla="val 8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355848"/>
            <a:ext cx="411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3785615"/>
            <a:ext cx="14538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Select the realization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251960"/>
            <a:ext cx="1453896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RAG / Document AI / Multi-Agent / Knowledge Graph + MCP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200400"/>
            <a:ext cx="1783080" cy="242316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200400"/>
            <a:ext cx="1783080" cy="640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57032" y="3337560"/>
            <a:ext cx="411480" cy="34747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2" y="3355848"/>
            <a:ext cx="41148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785615"/>
            <a:ext cx="1453896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Run the 90-day blueprint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4251960"/>
            <a:ext cx="1453896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Foundation → Build → Measure → Go/No-Go with hard criteria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1264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B7C8C"/>
                </a:solidFill>
                <a:latin typeface="Calibri"/>
              </a:rPr>
              <a:t>Knowledge bundle: github.com/shekerkamma/ai-use-cases-bundle  ·  6 platform architectures · 4 realization patterns · 5 verticals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B7C8C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