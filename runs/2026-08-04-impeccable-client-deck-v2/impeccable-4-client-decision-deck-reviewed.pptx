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9436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IMPECCABLE 4.0 · EXECUTIVE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149840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1" i="0">
                <a:solidFill>
                  <a:srgbClr val="F8F3EA"/>
                </a:solidFill>
                <a:latin typeface="Calibri"/>
              </a:rPr>
              <a:t>AI design's bottleneck
is judgment allocation.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000" b="0" i="0">
                <a:solidFill>
                  <a:srgbClr val="D0C9C0"/>
                </a:solidFill>
                <a:latin typeface="Calibri"/>
              </a:rPr>
              <a:t>Impeccable matters when it moves human attention to the decisions with the highest leverage—before direction hardens, during local comparison, and before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C8A46B"/>
                </a:solidFill>
                <a:latin typeface="Calibri"/>
              </a:rPr>
              <a:t>Decision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138928"/>
            <a:ext cx="786384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Adopt as a governed accelerator—not an autonomous taste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25312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9F9B95"/>
                </a:solidFill>
                <a:latin typeface="Calibri"/>
              </a:rPr>
              <a:t>EVIDENCE  ·  observed demonstration   |   presenter assertion   |   analyst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Analyst assessment based on the supplied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Plausible defaults push expensive correction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The cost of generic output appears after the first draft, when direction has already accumulated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workflow · consequences are analyst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93392"/>
            <a:ext cx="2331720" cy="1225296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GENERIC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8F3EA"/>
                </a:solidFill>
                <a:latin typeface="Calibri"/>
              </a:rPr>
              <a:t>Looks plausible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331720"/>
            <a:ext cx="29260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A7A199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93392"/>
            <a:ext cx="2331720" cy="1225296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128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LATE DIRECTION DEBATE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202220"/>
                </a:solidFill>
                <a:latin typeface="Calibri"/>
              </a:rPr>
              <a:t>Taste enters too 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2331720"/>
            <a:ext cx="29260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A7A199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993392"/>
            <a:ext cx="2331720" cy="1225296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2128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MACRO REWORK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8F3EA"/>
                </a:solidFill>
                <a:latin typeface="Calibri"/>
              </a:rPr>
              <a:t>Layout and assets reset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2331720"/>
            <a:ext cx="29260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A7A199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1993392"/>
            <a:ext cx="2331720" cy="1225296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1" y="22128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SLOWER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1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8F3EA"/>
                </a:solidFill>
                <a:latin typeface="Calibri"/>
              </a:rPr>
              <a:t>More cycles, less coherence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7763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Management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07408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220"/>
                </a:solidFill>
                <a:latin typeface="Calibri"/>
              </a:rPr>
              <a:t>Fix the decision architecture before optimizing generation speed.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30368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6E6A63"/>
                </a:solidFill>
                <a:latin typeface="Calibri"/>
              </a:rPr>
              <a:t>A faster first draft can still increase total cycle time when it anchors the team to the wrong visual grammar.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More choice improves taste only when it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CAC4BB"/>
                </a:solidFill>
                <a:latin typeface="Calibri"/>
              </a:rPr>
              <a:t>Too little choice creates default convergence. Too much unmanaged choice creates decision paralysis.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Observed workflow + presenter view · value curve is analyst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983480"/>
            <a:ext cx="9692640" cy="25400"/>
          </a:xfrm>
          <a:prstGeom prst="rect">
            <a:avLst/>
          </a:prstGeom>
          <a:solidFill>
            <a:srgbClr val="59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25400" cy="3154680"/>
          </a:xfrm>
          <a:prstGeom prst="rect">
            <a:avLst/>
          </a:prstGeom>
          <a:solidFill>
            <a:srgbClr val="59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81328" y="4050792"/>
            <a:ext cx="1417320" cy="914400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ONE
DEFAULT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364992"/>
            <a:ext cx="1417320" cy="16002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UNSTRUCTURED
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2221992"/>
            <a:ext cx="1417320" cy="27432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WORLDS →
COMMIT → VARIANTS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3" y="3685032"/>
            <a:ext cx="1417320" cy="1280160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3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ENDLESS
REROLLS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56231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C8A46B"/>
                </a:solidFill>
                <a:latin typeface="Calibri"/>
              </a:rPr>
              <a:t>The feature count is incidental.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04288"/>
            <a:ext cx="297180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8F3EA"/>
                </a:solidFill>
                <a:latin typeface="Calibri"/>
              </a:rPr>
              <a:t>The commitment gates create the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1868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A7A199"/>
                </a:solidFill>
                <a:latin typeface="Calibri"/>
              </a:rPr>
              <a:t>CONCEPTUAL RELATIONSHIP · NOT MEASURED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Impeccable externalizes the macro taste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4 / 18</a:t>
            </a:r>
          </a:p>
        </p:txBody>
      </p:sp>
      <p:pic>
        <p:nvPicPr>
          <p:cNvPr id="6" name="Picture 5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Worlds turn an abstract preference into a visible choice.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The workflow separates divergent exploration from commitment. This reduces the burden of encoding taste entirely in a prompt.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Four commitment gates prevent exploration from becoming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Recommended operating model derived from the observed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brief grounded in real content and constraints?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Design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visual grammar appropriate for the audience and task?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Brand / design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baseline strong enough for local refinement?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Product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Has an independent challenge found drift or defects?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512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512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Reviewer + accountable 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Generality raises the ceiling—and shifts risk to the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Presenter-stated trade-off · no controlled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A7A199"/>
                </a:solidFill>
                <a:latin typeface="Calibri"/>
              </a:rPr>
              <a:t>ONE-TRICK STYLE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34640"/>
            <a:ext cx="388620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Predictable novelty
Narrow aesthetic range
Lower judgment burden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508760"/>
            <a:ext cx="25400" cy="4434840"/>
          </a:xfrm>
          <a:prstGeom prst="rect">
            <a:avLst/>
          </a:prstGeom>
          <a:solidFill>
            <a:srgbClr val="54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IMPECCABLE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834640"/>
            <a:ext cx="438912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Broad differentiation
More operator variance
Higher governance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800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CONVENTIONAL WORKFLOW WINS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30368"/>
            <a:ext cx="99212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the surface is highly standardized  ·  evidence is weak  ·  review capacity is limited  ·  the team cannot own directional choices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Change altitude determines the correct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Route by change radius and confidence in the current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macro/micro split · matrix is analyst decision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361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E6A63"/>
                </a:solidFill>
                <a:latin typeface="Calibri"/>
              </a:rPr>
              <a:t>DIRECTION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315C4A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231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LARGE
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3484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SMALL
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103120"/>
            <a:ext cx="3246120" cy="141732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REFERENCE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Reopen the visual grammar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3246120" cy="14173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Change layout or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160520"/>
            <a:ext cx="3246120" cy="141732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STOP POLISHING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Clarify the direction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160520"/>
            <a:ext cx="3246120" cy="14173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LIVE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Live Mode compresses the local judgment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8 / 18</a:t>
            </a:r>
          </a:p>
        </p:txBody>
      </p:sp>
      <p:pic>
        <p:nvPicPr>
          <p:cNvPr id="6" name="Picture 5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Select → generate 1–4 variants → compare → tune → accept.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The advantage is not visual editing alone. It reduces the distance between seeing a local problem and comparing concrete alternatives.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When the direction is wrong, local polish compounds sunk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9 / 18</a:t>
            </a:r>
          </a:p>
        </p:txBody>
      </p:sp>
      <p:pic>
        <p:nvPicPr>
          <p:cNvPr id="6" name="Picture 5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References are an escalation mechanism—not decoration.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Reset the macro direction through references and terminal work. Return to Live Mode only after the visual grammar is sound.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Human judgment belongs at four high-leverage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Analyst role model derived from the full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2404872" cy="65836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FRAME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Define audience, evidence, constraints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Structure the brief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7" y="1463040"/>
            <a:ext cx="2404872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7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COMMIT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Choose the visual grammar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Expand materially different options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463040"/>
            <a:ext cx="2404872" cy="65836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7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RESOLVE TRADE-OFFS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Judge variants and escalation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Generate and compare alternatives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1463040"/>
            <a:ext cx="2404872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APPROVE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Own the release 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5128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5128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Detect patterns and run technical QA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Taste scales only when decisions become 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Design record and detection observed · flywheel is analyst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11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CHOSEN
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3794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DESIGN.MD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FUTURE
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59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53542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DETECTION +
OVERRIDES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3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794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9202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Less reinvention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514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Lower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108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Faster future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8F3EA"/>
                </a:solidFill>
                <a:latin typeface="Calibri"/>
              </a:rPr>
              <a:t>Risk: stale constraints become a new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Fresh-context review is a challenge control—not proof of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Presenter-described review control · efficacy is unmeasured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4160520" cy="32461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MAKER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Knows the brief
Knows every compromise
Can rationalize its own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2807208"/>
            <a:ext cx="9144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64208"/>
            <a:ext cx="4526280" cy="32461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933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33D2E"/>
                </a:solidFill>
                <a:latin typeface="Calibri"/>
              </a:rPr>
              <a:t>CHECKER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365760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Challenges known defaults
Sees the result without build momentum
Still needs human adjudication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40680"/>
            <a:ext cx="100126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E33D2E"/>
                </a:solidFill>
                <a:latin typeface="Calibri"/>
              </a:rPr>
              <a:t>Keep separate QA for accessibility, factual accuracy, performance, responsive behavior, and user outcomes.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demo reaches Level 2—and shows pieces of 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There is no supplied evidence for measured productivity or user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Maturity assessment based on the observed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RUBRIC  ·  decision gates   |   change routing   |   design memory   |   QA control   |   measurement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572768" cy="3127248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AD HOC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One-shot prompt
Subjective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1828800"/>
            <a:ext cx="1572768" cy="3127248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202220"/>
                </a:solidFill>
                <a:latin typeface="Calibri"/>
              </a:rPr>
              <a:t>GUIDED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202220"/>
                </a:solidFill>
                <a:latin typeface="Calibri"/>
              </a:rPr>
              <a:t>Worlds and steering
Named decision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1572768" cy="312724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STRUCTURED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Macro commitment
Then local convergence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828800"/>
            <a:ext cx="1572768" cy="312724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Design record
Detect + independent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1572768" cy="3127248"/>
          </a:xfrm>
          <a:prstGeom prst="rect">
            <a:avLst/>
          </a:prstGeom>
          <a:solidFill>
            <a:srgbClr val="5D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Time, cost, rework
Quality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828800"/>
            <a:ext cx="1572768" cy="3127248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Usability and business
impact 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DEMONSTRATED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UNPROVEN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Four readiness gates define when adoption may advance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Recommended governance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50876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270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2704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Real copy, proof, constraints, approved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58568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58775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06624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06040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Named owner for World and variant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337560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366674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85616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850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85032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Macro/micro routing and stop rules understood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416552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74573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64608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764024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Versioned design record, QA, provenance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5495544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5788152"/>
            <a:ext cx="10058400" cy="41148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879592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ANY RED GATE → RUN A BOUNDED PILOT. DO NOT SCALE THE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Success is fewer wrong-direction cycles—without quality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Pilot recommendation · no benchmark data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PILOT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Reduce the cost of arriving at an acceptable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Time to direction
Time to production-ready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3063240"/>
            <a:ext cx="2267712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Major resets
Post-approval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Blind brand + usability scores
Independent defects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Unsupported claims
Reference exceptions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919472"/>
            <a:ext cx="10424160" cy="98755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8406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PROPOSED GO / NO-GO  ·  confirm before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422392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6+ matched tasks · 2+ operator profiles · ≥20% fewer major resets · quality within 5% of baseline · zero critical accessibility/provenance regressions · cost ≤ baseline +15%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 fair pilot isolates workflow value from operator enthusiasm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Controlled evaluation design · thresholds require client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FIXED ACROSS BOTH ARMS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landing-page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real copy and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45536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approved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03904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85616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model and time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25400" cy="4251960"/>
          </a:xfrm>
          <a:prstGeom prst="rect">
            <a:avLst/>
          </a:prstGeom>
          <a:solidFill>
            <a:srgbClr val="555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41732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A7A199"/>
                </a:solidFill>
                <a:latin typeface="Calibri"/>
              </a:rPr>
              <a:t>CURRENT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38528"/>
            <a:ext cx="24688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54680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IMPECCABLE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938528"/>
            <a:ext cx="28803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Worlds → commitment
→ Live refinement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15468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Same task
Same operator profile
Same blind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92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Primary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188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operating model needs controls at every failure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Risk-control ledger derived from the demonstrated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490472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Invented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721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490472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Lock real claims and assets before visual exploration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780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86584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Choice paralysis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682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386584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Name a decision owner and cap rerolls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282696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Local polish on a wrong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6440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282696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Escalate by change altitude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67912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02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78808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Design-system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178808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Version accepted decisions and explicit resets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764024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074920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Self-confirming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566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5074920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Use fresh-context challenge plus human adjudication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660136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897880"/>
            <a:ext cx="10332720" cy="3200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61888"/>
            <a:ext cx="9966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 PRINCIPLE  ·  automate detection; never automate accountability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Adopt the decision architecture—then earn the right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Recommendation bounded by the supplied walkthrough's evidence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98755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8F3EA"/>
                </a:solidFill>
                <a:latin typeface="Calibri"/>
              </a:rPr>
              <a:t>Run one governed, matched-task 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9738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 i="0">
                <a:solidFill>
                  <a:srgbClr val="D0C9C0"/>
                </a:solidFill>
                <a:latin typeface="Calibri"/>
              </a:rPr>
              <a:t>Approve expansion only if the workflow reduces wrong-direction cycles without degrading accessibility, performance, factual integrity, provenance, or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NAME THE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SELECT THE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bounded landing-page workflow with real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LOCK THE SCORECARD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83387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Authorize pilot design—not enterprise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