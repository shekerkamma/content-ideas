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059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ENTERPRISE AI COMPETITOR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8366760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Strategy Draft With Evidence Backlog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173736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7955279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A 125-company landscape across 14 Enterprise AI categories, designed to guide positioning, pricing intelligence, teardown priorities, and the next source-backed research sprint.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2240280" cy="102412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48970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FB800"/>
                </a:solidFill>
                <a:latin typeface="Calibri"/>
              </a:rPr>
              <a:t>125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4910328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E0F7F1"/>
                </a:solidFill>
                <a:latin typeface="Calibri"/>
              </a:rPr>
              <a:t>companies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343400"/>
            <a:ext cx="2240280" cy="102412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448970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FB800"/>
                </a:solidFill>
                <a:latin typeface="Calibr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4910328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E0F7F1"/>
                </a:solidFill>
                <a:latin typeface="Calibri"/>
              </a:rPr>
              <a:t>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4343400"/>
            <a:ext cx="2240280" cy="102412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32704" y="448970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FB800"/>
                </a:solidFill>
                <a:latin typeface="Calibr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4" y="4910328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E0F7F1"/>
                </a:solidFill>
                <a:latin typeface="Calibri"/>
              </a:rPr>
              <a:t>source-enriched priority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60350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E0F7F1"/>
                </a:solidFill>
                <a:latin typeface="Calibri"/>
              </a:rPr>
              <a:t>Status: draft-reviewed after PPTX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market is wide, but the wedge is narrow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The useful output is not another AI directory; it is a source-backed positioning and teardown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2240280" cy="10241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92938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A1628"/>
                </a:solidFill>
                <a:latin typeface="Calibri"/>
              </a:rPr>
              <a:t>125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50008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company universe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240280" cy="10241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192938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A1628"/>
                </a:solidFill>
                <a:latin typeface="Calibr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2350008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primary 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783080"/>
            <a:ext cx="2240280" cy="10241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1304" y="192938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A1628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350008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source batches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783080"/>
            <a:ext cx="2240280" cy="10241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92938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A1628"/>
                </a:solidFill>
                <a:latin typeface="Calibri"/>
              </a:rPr>
              <a:t>113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350008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source backlog rows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10128"/>
            <a:ext cx="3429000" cy="14173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10128"/>
            <a:ext cx="64008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438144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What is solid enough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785616"/>
            <a:ext cx="3044952" cy="8138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The category taxonomy, competitor universe, provisional market map, quadrant-style segmentation, and strategic white-space themes.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310128"/>
            <a:ext cx="3429000" cy="14173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310128"/>
            <a:ext cx="64008" cy="14173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3438144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What is not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3785616"/>
            <a:ext cx="3044952" cy="8138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The full 125-company source attachment is not complete. Pricing, funding, and headcount should not be treated as investor-grade facts yet.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310128"/>
            <a:ext cx="3429000" cy="141732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310128"/>
            <a:ext cx="64008" cy="1417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438144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What to do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785616"/>
            <a:ext cx="3044952" cy="8138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Use the backlog to build named competitor dossiers, starting with pricing/ROI intelligence and agent governance competitors.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Enterprise AI is a stack, not one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The universe splits into infrastructure, builders, enterprise surfaces, governance, vertical workflows, and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920240" cy="30175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57400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Foundation + 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852928"/>
            <a:ext cx="1627632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FFFFFF"/>
                </a:solidFill>
                <a:latin typeface="Calibri"/>
              </a:rPr>
              <a:t>Foundation Models
Infrastructure
Knowledge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1828800"/>
            <a:ext cx="1920240" cy="30175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2057400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Builder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852928"/>
            <a:ext cx="1627632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FFFFFF"/>
                </a:solidFill>
                <a:latin typeface="Calibri"/>
              </a:rPr>
              <a:t>Agent Frameworks
Developer Platforms
AI Development Platforms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1828800"/>
            <a:ext cx="1920240" cy="301752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057400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Enterprise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852928"/>
            <a:ext cx="1627632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0A1628"/>
                </a:solidFill>
                <a:latin typeface="Calibri"/>
              </a:rPr>
              <a:t>Enterprise Platforms
AI Operations
Vertical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1828800"/>
            <a:ext cx="1920240" cy="301752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057400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Control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852928"/>
            <a:ext cx="1627632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FFFFFF"/>
                </a:solidFill>
                <a:latin typeface="Calibri"/>
              </a:rPr>
              <a:t>Observability
Security
Governance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56648" y="1828800"/>
            <a:ext cx="1920240" cy="301752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2057400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Delivery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2952" y="2852928"/>
            <a:ext cx="1627632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FFFFFF"/>
                </a:solidFill>
                <a:latin typeface="Calibri"/>
              </a:rPr>
              <a:t>AI Consulting
Managed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257800"/>
            <a:ext cx="98755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Implication: do not compete as a generic platform. Win by owning a specific decision layer, buyer workflow, or source-backed teardown product.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Coverage is balanced enough for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Seven source batches prevent over-indexing on one slice of Enterprise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64792"/>
            <a:ext cx="2468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Obs/Sec/Gov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19072"/>
            <a:ext cx="4480560" cy="29260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719072"/>
            <a:ext cx="4389120" cy="29260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55648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76856"/>
            <a:ext cx="2468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Knowledge + infra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231136"/>
            <a:ext cx="4480560" cy="29260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2231136"/>
            <a:ext cx="3862425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26771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468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Developer + agent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743200"/>
            <a:ext cx="4480560" cy="29260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0" y="2743200"/>
            <a:ext cx="3686860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779776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00984"/>
            <a:ext cx="2468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Consulting + managed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255264"/>
            <a:ext cx="4480560" cy="29260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74720" y="3255264"/>
            <a:ext cx="2809036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291840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13048"/>
            <a:ext cx="2468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Enterprise platforms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767328"/>
            <a:ext cx="4480560" cy="29260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74720" y="3767328"/>
            <a:ext cx="2633472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80390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325112"/>
            <a:ext cx="2468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Vertical 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4279392"/>
            <a:ext cx="4480560" cy="29260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74720" y="4279392"/>
            <a:ext cx="2457907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4315968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37176"/>
            <a:ext cx="2468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Foundation models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4791456"/>
            <a:ext cx="4480560" cy="29260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74720" y="4791456"/>
            <a:ext cx="2106777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82803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1828800"/>
            <a:ext cx="3154680" cy="10972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1828800"/>
            <a:ext cx="64008" cy="10972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1956816"/>
            <a:ext cx="27706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Largest batch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2304288"/>
            <a:ext cx="2770632" cy="4937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Observability, security, and governance: 25 companies.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3154680"/>
            <a:ext cx="3154680" cy="10972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2440" y="3154680"/>
            <a:ext cx="64008" cy="10972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3608" y="3282696"/>
            <a:ext cx="27706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Strategic reading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8" y="3630168"/>
            <a:ext cx="2770632" cy="4937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Control-plane categories matter because enterprise buyers need trust, auditability, and deployment discipline.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4480560"/>
            <a:ext cx="3154680" cy="10972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92440" y="4480560"/>
            <a:ext cx="64008" cy="10972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3608" y="4608576"/>
            <a:ext cx="27706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Caveat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3608" y="4956048"/>
            <a:ext cx="2770632" cy="4937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Batch counts are classification aids, not market-share estimates.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strongest signal is category fragmentation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Fourteen lanes create room for focused wedge products, but weak sourcing can distort priority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65376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37943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Vertical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737360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865376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37943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Agent Frameworks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65376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37943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Enterprise
Platforms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737360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1865376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837943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Foundation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61488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8895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862072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Infrastructure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2761488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28895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862072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Knowledge
Mgmt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761488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8895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862072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Observability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2761488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28895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862072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AI Consulting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785616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391363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886200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Developer Platforms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40" y="3785616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0168" y="391363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3886200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Governance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3785616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391363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886200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Managed Services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3785616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9448" y="391363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3886200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Security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809744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4937759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910328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AI Dev
Platforms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20440" y="4809744"/>
            <a:ext cx="2487168" cy="768096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0168" y="4937759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4910328"/>
            <a:ext cx="16002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AI Operations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742432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Priority implication: the best wedge is where pain is high, pricing is opaque, and source-backed teardown creates buyer leverage.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Pricing opacity is a product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Enterprise AI packaging is now a hybrid of seats, usage, tokens, credits, compute, traces, and custom contracts.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154680" cy="9601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56816"/>
            <a:ext cx="27706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Seats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04288"/>
            <a:ext cx="2770632" cy="3566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Enterprise copilots and workflow 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54680" cy="96012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956816"/>
            <a:ext cx="27706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04288"/>
            <a:ext cx="2770632" cy="3566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API calls, events, traces, seats plus usage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154680" cy="96012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956816"/>
            <a:ext cx="27706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304288"/>
            <a:ext cx="2770632" cy="3566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Model access, context, generation volume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46120"/>
            <a:ext cx="3154680" cy="9601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2461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374136"/>
            <a:ext cx="27706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Credits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721608"/>
            <a:ext cx="2770632" cy="3566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AI app platforms and automation bundles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246120"/>
            <a:ext cx="3154680" cy="9601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2461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374136"/>
            <a:ext cx="27706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Compute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721608"/>
            <a:ext cx="2770632" cy="3566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GPU, inference, hosting, data workloads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246120"/>
            <a:ext cx="3154680" cy="96012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2461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374136"/>
            <a:ext cx="27706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Custom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721608"/>
            <a:ext cx="2770632" cy="3566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Enterprise contracts, services, managed delivery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5010912"/>
            <a:ext cx="10241280" cy="69494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5193792"/>
            <a:ext cx="9921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White-space thesis: buyers need AI pricing/ROI intelligence before platform sprawl.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evidence table is honest about what is sourced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This is the quality-control slide that prevents the deck from overselling the research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2240280" cy="10241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197510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A162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395728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rows with attached priority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828800"/>
            <a:ext cx="2240280" cy="10241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2504" y="197510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A1628"/>
                </a:solidFill>
                <a:latin typeface="Calibri"/>
              </a:rPr>
              <a:t>113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395728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rows in source backlog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828800"/>
            <a:ext cx="2240280" cy="10241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197510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A1628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2395728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fabricated private-company claims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383280"/>
            <a:ext cx="3200400" cy="141732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383280"/>
            <a:ext cx="64008" cy="1417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3511296"/>
            <a:ext cx="28163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Allowed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858768"/>
            <a:ext cx="2816352" cy="8138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Internal strategy, prioritization, deck spine, and source backlog planning.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383280"/>
            <a:ext cx="3200400" cy="14173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383280"/>
            <a:ext cx="64008" cy="14173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511296"/>
            <a:ext cx="28163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Not allowed yet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858768"/>
            <a:ext cx="2816352" cy="8138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External publication as a fully sourced market map or investor-grade database.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383280"/>
            <a:ext cx="3200400" cy="14173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3383280"/>
            <a:ext cx="64008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3511296"/>
            <a:ext cx="28163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Next QA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858768"/>
            <a:ext cx="2816352" cy="8138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Attach primary pricing/funding/status sources to the most commercially relevant 30-40 companies first.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quadrant is a prioritization device, not a Gartner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Unofficial view: completeness of vision vs. ability to execute.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10469880" cy="434340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03620" y="1600200"/>
            <a:ext cx="27432" cy="43434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771900"/>
            <a:ext cx="1046988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Challengers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12848"/>
            <a:ext cx="448056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IBM watsonx, SAP Joule, Oracle AI, Workday AI, Adobe Firefly, Datadog, New Relic, Dynatrace, Accenture, Deloitte, McKinsey QuantumBlack, BCG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2220" y="182880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Leaders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2220" y="2212848"/>
            <a:ext cx="448056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OpenAI, Anthropic, NVIDIA, Microsoft Copilot, Salesforce Agentforce, ServiceNow, Databricks, Snowflake, GitHub Copilot, Hugging Face, Glean, Cohere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0050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Niche Players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4548"/>
            <a:ext cx="448056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Lakera, Protect AI, HiddenLayer, Credo AI, Patronus AI, Pinecone, Weaviate, Unstructured, Abridge, Hippocratic AI, EvenUp, Artisan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400050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Visionaries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2220" y="4384548"/>
            <a:ext cx="448056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Mistral AI, DeepSeek, LangChain, LlamaIndex, Cursor, Cognition, Perplexity, Harvey, Sierra, H Company, Manus, 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788920"/>
            <a:ext cx="27432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Ability to 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053328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Completeness of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Leaders own distribution; challengers own enterprise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The market-facing mistake is trying to out-platform the incumbents.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66360" cy="324612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64008" cy="32461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11095"/>
            <a:ext cx="478231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Leader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58568"/>
            <a:ext cx="4782312" cy="26426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Foundation labs, hyperscalers, enterprise systems of record, and developer distribution platforms win because they already control model access, workflows, data platforms, or developer surfaces.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166360" cy="32461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64008" cy="32461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911095"/>
            <a:ext cx="478231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Challenger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258568"/>
            <a:ext cx="4782312" cy="26426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Large enterprise software and consulting firms are slower, but they have procurement trust, implementation teams, and existing account control.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58384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Strategic rule: sell a sharper diagnostic, teardown, or implementation wedge around these platforms.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best opportunities sit where buyers lack clarity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White space is strongest where pricing, governance, and implementation proof are opaque.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4892040" cy="896112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64008" cy="896112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19656"/>
            <a:ext cx="4507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AI pricing + ROI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67128"/>
            <a:ext cx="4507992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Compare true cost, payback, and packaging risk across AI platforms.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4892040" cy="896112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64008" cy="896112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819656"/>
            <a:ext cx="4507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Agent governance cockpit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167128"/>
            <a:ext cx="4507992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Track permissions, auditability, handoffs, and production controls.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53512"/>
            <a:ext cx="4892040" cy="8961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953512"/>
            <a:ext cx="64008" cy="8961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081528"/>
            <a:ext cx="4507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Source-backed competitor teardown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429000"/>
            <a:ext cx="4507992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Turn competitor claims into buyer-specific proof and gaps.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53512"/>
            <a:ext cx="4892040" cy="8961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953512"/>
            <a:ext cx="64008" cy="8961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081528"/>
            <a:ext cx="4507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Vertical workflow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429000"/>
            <a:ext cx="4507992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Own a narrow audited handoff, not an all-purpose assistant.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15383"/>
            <a:ext cx="4892040" cy="8961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215383"/>
            <a:ext cx="64008" cy="8961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43399"/>
            <a:ext cx="4507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Managed implementation packages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690871"/>
            <a:ext cx="4507992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Package the 10-skill operator system into repeatable delivery.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threat is platform absorption, not feature competition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Most standalone AI features will be bundled, copied, or discounted by incumbents.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4800600" cy="102412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64008" cy="102412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56816"/>
            <a:ext cx="44165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Hyperscaler bundling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04288"/>
            <a:ext cx="4416552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Microsoft, Google, AWS, and Oracle can bundle AI into cloud and productivity spend.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4800600" cy="102412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828800"/>
            <a:ext cx="64008" cy="102412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956816"/>
            <a:ext cx="44165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Foundation-model gravity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304288"/>
            <a:ext cx="4416552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Model providers can move upward into apps, agents, and orchestration.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10128"/>
            <a:ext cx="4800600" cy="102412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310128"/>
            <a:ext cx="64008" cy="102412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438144"/>
            <a:ext cx="44165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Enterprise system lock-in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785616"/>
            <a:ext cx="4416552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Salesforce, ServiceNow, SAP, Workday, and Adobe own daily workflows.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310128"/>
            <a:ext cx="4800600" cy="102412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310128"/>
            <a:ext cx="64008" cy="102412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3438144"/>
            <a:ext cx="44165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Consulting account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785616"/>
            <a:ext cx="4416552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Accenture, Deloitte, McKinsey, and BCG can shape the buyer’s AI roadmap.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138928"/>
            <a:ext cx="10149840" cy="69494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340096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Counter-positioning: make the offer evidence-led, source-backed, and tied to deployment decisions.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Five recommendations turn the landscape into an operator offer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The output should sell judgment and execution compression, not a generic AI consulting promise.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420624" cy="420624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1892807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56231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Treat the 10-skill operator stack as the delivery differentiator.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32888"/>
            <a:ext cx="420624" cy="420624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642616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0604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Build source-backed competitor teardown dossiers before publication.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8269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3392424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355848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Prioritize AI pricing and ROI intelligence as the strongest wedge.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32504"/>
            <a:ext cx="420624" cy="420624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4142232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05656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Bake governance and observability into agent deployment packages.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82312"/>
            <a:ext cx="420624" cy="420624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2040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55464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Avoid generic platform competition against hyperscalers and incumbents.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Next 30 days: source, teardown,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5B6B7C"/>
                </a:solidFill>
                <a:latin typeface="Calibri"/>
              </a:rPr>
              <a:t>The immediate job is to convert draft market structure into client-facing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2331720" cy="251460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74519"/>
            <a:ext cx="64008" cy="251460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002536"/>
            <a:ext cx="194767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1947672" cy="1911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Source-attach top 30-40 companies by commercial relevance.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874519"/>
            <a:ext cx="2331720" cy="2514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874519"/>
            <a:ext cx="64008" cy="2514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2002536"/>
            <a:ext cx="194767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350008"/>
            <a:ext cx="1947672" cy="1911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Build competitor teardown dossiers for pricing/ROI and governance lanes.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874519"/>
            <a:ext cx="2331720" cy="2514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874519"/>
            <a:ext cx="64008" cy="2514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002536"/>
            <a:ext cx="194767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350008"/>
            <a:ext cx="1947672" cy="1911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Convert white-space into 3 operator offers with buyer-facing deliverables.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1874519"/>
            <a:ext cx="2331720" cy="2514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39" y="1874519"/>
            <a:ext cx="64008" cy="2514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7" y="2002536"/>
            <a:ext cx="194767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7" y="2350008"/>
            <a:ext cx="1947672" cy="1911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QA, publish safe excerpts, and keep the full table as internal intelligence.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Stop condition: do not ship a public market map until source attachment covers every named pricing/funding/status claim.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987552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opportunity is not to publish a prettier AI market map. It is to productize source-backed judgment.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46120"/>
            <a:ext cx="164592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Use the landscape to choose the sharpest wedge, then use the 10-skill operator stack to prove execution discipline before anyone asks for a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71323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Recommended next artifact: top-40 sourced teardown pack.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Enterprise AI Competitor Landscape | Strategy Draft | 2026-06-27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