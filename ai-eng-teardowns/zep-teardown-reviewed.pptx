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784080" y="0"/>
            <a:ext cx="2407615" cy="6858000"/>
          </a:xfrm>
          <a:prstGeom prst="rect">
            <a:avLst/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729216" y="0"/>
            <a:ext cx="54864" cy="68580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0C9A7"/>
                </a:solidFill>
                <a:latin typeface="Calibri"/>
              </a:rPr>
              <a:t>COMPANY TEARDOWN  ·  CONTEXT ENGINEERING · ENTERPRISE MEMORY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8412480" cy="10058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5200" b="1" i="0">
                <a:solidFill>
                  <a:srgbClr val="FFFFFF"/>
                </a:solidFill>
                <a:latin typeface="Calibri"/>
              </a:rPr>
              <a:t>Zep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880360"/>
            <a:ext cx="1554480" cy="5486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3108960"/>
            <a:ext cx="8503920" cy="9144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0" i="0">
                <a:solidFill>
                  <a:srgbClr val="E0F7F1"/>
                </a:solidFill>
                <a:latin typeface="Calibri"/>
              </a:rPr>
              <a:t>Agent memory at enterprise scale — governed, graph-based, sub-200ms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5029200"/>
            <a:ext cx="2651760" cy="457200"/>
          </a:xfrm>
          <a:prstGeom prst="roundRect">
            <a:avLst>
              <a:gd name="adj" fmla="val 20000"/>
            </a:avLst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5120640"/>
            <a:ext cx="26517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E0F7F1"/>
                </a:solidFill>
                <a:latin typeface="Calibri"/>
              </a:rPr>
              <a:t>Context graphs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80" y="5029200"/>
            <a:ext cx="2651760" cy="457200"/>
          </a:xfrm>
          <a:prstGeom prst="roundRect">
            <a:avLst>
              <a:gd name="adj" fmla="val 20000"/>
            </a:avLst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83280" y="5120640"/>
            <a:ext cx="26517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E0F7F1"/>
                </a:solidFill>
                <a:latin typeface="Calibri"/>
              </a:rPr>
              <a:t>Enterprise-grade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5029200"/>
            <a:ext cx="2651760" cy="457200"/>
          </a:xfrm>
          <a:prstGeom prst="roundRect">
            <a:avLst>
              <a:gd name="adj" fmla="val 20000"/>
            </a:avLst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5120640"/>
            <a:ext cx="26517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E0F7F1"/>
                </a:solidFill>
                <a:latin typeface="Calibri"/>
              </a:rPr>
              <a:t>SOC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Snapshot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The governance-first memory option — your delivery playbook, productized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2567863" cy="228600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57400"/>
            <a:ext cx="2567863" cy="777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600" b="1" i="0">
                <a:solidFill>
                  <a:srgbClr val="FFB800"/>
                </a:solidFill>
                <a:latin typeface="Calibri"/>
              </a:rPr>
              <a:t>&lt;200ms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880360"/>
            <a:ext cx="2384983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Calibri"/>
              </a:rPr>
              <a:t>retrieval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456432"/>
            <a:ext cx="2384983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E0F7F1"/>
                </a:solidFill>
                <a:latin typeface="Calibri"/>
              </a:rPr>
              <a:t>fast context assembly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90823" y="1783080"/>
            <a:ext cx="2567863" cy="228600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90823" y="2057400"/>
            <a:ext cx="2567863" cy="777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600" b="1" i="0">
                <a:solidFill>
                  <a:srgbClr val="00C9A7"/>
                </a:solidFill>
                <a:latin typeface="Calibri"/>
              </a:rPr>
              <a:t>SOC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82263" y="2880360"/>
            <a:ext cx="2384983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Calibri"/>
              </a:rPr>
              <a:t>compliant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82263" y="3456432"/>
            <a:ext cx="2384983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E0F7F1"/>
                </a:solidFill>
                <a:latin typeface="Calibri"/>
              </a:rPr>
              <a:t>enterprise-grade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3007" y="1783080"/>
            <a:ext cx="2567863" cy="228600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33007" y="2057400"/>
            <a:ext cx="2567863" cy="777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600" b="1" i="0">
                <a:solidFill>
                  <a:srgbClr val="009B82"/>
                </a:solidFill>
                <a:latin typeface="Calibri"/>
              </a:rPr>
              <a:t>Graphiti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4447" y="2880360"/>
            <a:ext cx="2384983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Calibri"/>
              </a:rPr>
              <a:t>context graph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24447" y="3456432"/>
            <a:ext cx="2384983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E0F7F1"/>
                </a:solidFill>
                <a:latin typeface="Calibri"/>
              </a:rPr>
              <a:t>temporal knowledge graph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75191" y="1783080"/>
            <a:ext cx="2567863" cy="228600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75191" y="2057400"/>
            <a:ext cx="2567863" cy="777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600" b="1" i="0">
                <a:solidFill>
                  <a:srgbClr val="00C9A7"/>
                </a:solidFill>
                <a:latin typeface="Calibri"/>
              </a:rPr>
              <a:t>Enterprise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66631" y="2880360"/>
            <a:ext cx="2384983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Calibri"/>
              </a:rPr>
              <a:t>focus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66631" y="3456432"/>
            <a:ext cx="2384983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E0F7F1"/>
                </a:solidFill>
                <a:latin typeface="Calibri"/>
              </a:rPr>
              <a:t>governed memory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224528"/>
            <a:ext cx="11094415" cy="160020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4224528"/>
            <a:ext cx="82296" cy="16002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4334256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PROFILE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4681728"/>
            <a:ext cx="10637215" cy="10972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1B2B3C"/>
                </a:solidFill>
                <a:latin typeface="Calibri"/>
              </a:rPr>
              <a:t>Founder: Daniel Chalef (CEO, ex-KnowledgeTree / SparkPost) + Paul &amp; Preston · validated by S&amp;P Market Intelligence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Zep gives agents enterprise-grade memory via temporal context graphs: memory of users, the business and work done — managed, governed and served at scale.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DataStaqAI · Company Teardown: Zep · Context Engineering · Enterprise Memory · 2026-06-27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2 / 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What They Actually Ship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Verified from the live product site, not the tagline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5410047" cy="164592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783080"/>
            <a:ext cx="82296" cy="16459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1929384"/>
            <a:ext cx="5025999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0C9A7"/>
                </a:solidFill>
                <a:latin typeface="Calibri"/>
              </a:rPr>
              <a:t>Temporal context graphs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386584"/>
            <a:ext cx="4952847" cy="8778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Builds a knowledge graph from any source (Graphiti)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Entities, facts, episodes — retrieve token-efficient context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3007" y="1783080"/>
            <a:ext cx="5410047" cy="164592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3007" y="1783080"/>
            <a:ext cx="82296" cy="16459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89039" y="1929384"/>
            <a:ext cx="5025999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0C9A7"/>
                </a:solidFill>
                <a:latin typeface="Calibri"/>
              </a:rPr>
              <a:t>Enterprise memory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89039" y="2386584"/>
            <a:ext cx="4952847" cy="8778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Memory of users, business &amp; work done; governed at scale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Sub-200ms retrieval; SOC 2 compliant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611880"/>
            <a:ext cx="5410047" cy="164592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611880"/>
            <a:ext cx="82296" cy="1645920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758184"/>
            <a:ext cx="5025999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FFB800"/>
                </a:solidFill>
                <a:latin typeface="Calibri"/>
              </a:rPr>
              <a:t>Any-source ingestion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" y="4215384"/>
            <a:ext cx="4952847" cy="8778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Chat history, business data, user behavior → graph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Live ingestion, continuous updates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3007" y="3611880"/>
            <a:ext cx="5410047" cy="164592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33007" y="3611880"/>
            <a:ext cx="82296" cy="1645920"/>
          </a:xfrm>
          <a:prstGeom prst="rect">
            <a:avLst/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89039" y="3758184"/>
            <a:ext cx="5025999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09B82"/>
                </a:solidFill>
                <a:latin typeface="Calibri"/>
              </a:rPr>
              <a:t>Production-grade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89039" y="4215384"/>
            <a:ext cx="4952847" cy="8778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Managed + governed for real deployments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Proven across deal-flow &amp; portfolio-review agents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DataStaqAI · Company Teardown: Zep · Context Engineering · Enterprise Memory · 2026-06-27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3 / 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Positioning &amp; ICP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The message they repeat — and the gaps they avoid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37360"/>
            <a:ext cx="5410047" cy="384048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737360"/>
            <a:ext cx="5410047" cy="457200"/>
          </a:xfrm>
          <a:prstGeom prst="roundRect">
            <a:avLst>
              <a:gd name="adj" fmla="val 5000"/>
            </a:avLst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801368"/>
            <a:ext cx="5410047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Calibri"/>
              </a:rPr>
              <a:t>WHAT THEY SAY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377440"/>
            <a:ext cx="4861407" cy="30175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10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Tagline: “Agent memory, at enterprise scale.”</a:t>
            </a:r>
          </a:p>
          <a:p>
            <a:pPr algn="l">
              <a:lnSpc>
                <a:spcPct val="105000"/>
              </a:lnSpc>
              <a:spcBef>
                <a:spcPts val="10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ICP: enterprise AI teams needing governed memory</a:t>
            </a:r>
          </a:p>
          <a:p>
            <a:pPr algn="l">
              <a:lnSpc>
                <a:spcPct val="105000"/>
              </a:lnSpc>
              <a:spcBef>
                <a:spcPts val="10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Message: governed, fast, graph-based context</a:t>
            </a:r>
          </a:p>
          <a:p>
            <a:pPr algn="l">
              <a:lnSpc>
                <a:spcPct val="105000"/>
              </a:lnSpc>
              <a:spcBef>
                <a:spcPts val="10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Trust: SOC 2 + S&amp;P validation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3007" y="1737360"/>
            <a:ext cx="5410047" cy="384048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33007" y="1737360"/>
            <a:ext cx="5410047" cy="457200"/>
          </a:xfrm>
          <a:prstGeom prst="roundRect">
            <a:avLst>
              <a:gd name="adj" fmla="val 5000"/>
            </a:avLst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33007" y="1801368"/>
            <a:ext cx="5410047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Calibri"/>
              </a:rPr>
              <a:t>WHAT THEY AVOID SAYING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07327" y="2377440"/>
            <a:ext cx="4861407" cy="30175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10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Smaller OSS mindshare than Mem0/Letta</a:t>
            </a:r>
          </a:p>
          <a:p>
            <a:pPr algn="l">
              <a:lnSpc>
                <a:spcPct val="105000"/>
              </a:lnSpc>
              <a:spcBef>
                <a:spcPts val="10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Graph approach implies integration effort</a:t>
            </a:r>
          </a:p>
          <a:p>
            <a:pPr algn="l">
              <a:lnSpc>
                <a:spcPct val="105000"/>
              </a:lnSpc>
              <a:spcBef>
                <a:spcPts val="10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Pricing not foregrounded</a:t>
            </a:r>
          </a:p>
          <a:p>
            <a:pPr algn="l">
              <a:lnSpc>
                <a:spcPct val="105000"/>
              </a:lnSpc>
              <a:spcBef>
                <a:spcPts val="10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Category education needed (context graphs)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DataStaqAI · Company Teardown: Zep · Context Engineering · Enterprise Memory · 2026-06-27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4 / 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FFFFFF"/>
                </a:solidFill>
                <a:latin typeface="Calibri"/>
              </a:rPr>
              <a:t>The Wedge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43000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11094415" cy="1097280"/>
          </a:xfrm>
          <a:prstGeom prst="roundRect">
            <a:avLst>
              <a:gd name="adj" fmla="val 5000"/>
            </a:avLst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27632"/>
            <a:ext cx="10545775" cy="82296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700" b="1" i="0">
                <a:solidFill>
                  <a:srgbClr val="00C9A7"/>
                </a:solidFill>
                <a:latin typeface="Calibri"/>
              </a:rPr>
              <a:t>Governed, graph-based memory built for the enterprise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926080"/>
            <a:ext cx="3240938" cy="2468880"/>
          </a:xfrm>
          <a:prstGeom prst="roundRect">
            <a:avLst>
              <a:gd name="adj" fmla="val 5000"/>
            </a:avLst>
          </a:prstGeom>
          <a:solidFill>
            <a:srgbClr val="12243A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2926080"/>
            <a:ext cx="3240938" cy="502920"/>
          </a:xfrm>
          <a:prstGeom prst="roundRect">
            <a:avLst>
              <a:gd name="adj" fmla="val 5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971800"/>
            <a:ext cx="3012338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Calibri"/>
              </a:rPr>
              <a:t>Temporal graph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611880"/>
            <a:ext cx="2875178" cy="1645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0" i="0">
                <a:solidFill>
                  <a:srgbClr val="E0F7F1"/>
                </a:solidFill>
                <a:latin typeface="Calibri"/>
              </a:rPr>
              <a:t>Graphiti models how facts change over time.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38218" y="2926080"/>
            <a:ext cx="3240938" cy="2468880"/>
          </a:xfrm>
          <a:prstGeom prst="roundRect">
            <a:avLst>
              <a:gd name="adj" fmla="val 5000"/>
            </a:avLst>
          </a:prstGeom>
          <a:solidFill>
            <a:srgbClr val="12243A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38218" y="2926080"/>
            <a:ext cx="3240938" cy="502920"/>
          </a:xfrm>
          <a:prstGeom prst="roundRect">
            <a:avLst>
              <a:gd name="adj" fmla="val 5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1098" y="2971800"/>
            <a:ext cx="3012338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Calibri"/>
              </a:rPr>
              <a:t>Enterprise trust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6818" y="3611880"/>
            <a:ext cx="2875178" cy="1645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0" i="0">
                <a:solidFill>
                  <a:srgbClr val="E0F7F1"/>
                </a:solidFill>
                <a:latin typeface="Calibri"/>
              </a:rPr>
              <a:t>SOC 2 + sub-200ms + S&amp;P validation.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27796" y="2926080"/>
            <a:ext cx="3240938" cy="2468880"/>
          </a:xfrm>
          <a:prstGeom prst="roundRect">
            <a:avLst>
              <a:gd name="adj" fmla="val 5000"/>
            </a:avLst>
          </a:prstGeom>
          <a:solidFill>
            <a:srgbClr val="12243A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27796" y="2926080"/>
            <a:ext cx="3240938" cy="502920"/>
          </a:xfrm>
          <a:prstGeom prst="roundRect">
            <a:avLst>
              <a:gd name="adj" fmla="val 5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10676" y="2971800"/>
            <a:ext cx="3012338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Calibri"/>
              </a:rPr>
              <a:t>Governed at scale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56396" y="3611880"/>
            <a:ext cx="2875178" cy="1645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0" i="0">
                <a:solidFill>
                  <a:srgbClr val="E0F7F1"/>
                </a:solidFill>
                <a:latin typeface="Calibri"/>
              </a:rPr>
              <a:t>Memory you can audit and control.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73952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DataStaqAI · Company Teardown: Zep · Context Engineering · Enterprise Memory · 2026-06-27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5 / 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Business Model &amp; GTM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How it's licensed, priced, and sold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3240938" cy="310896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783080"/>
            <a:ext cx="3240938" cy="457200"/>
          </a:xfrm>
          <a:prstGeom prst="roundRect">
            <a:avLst>
              <a:gd name="adj" fmla="val 6000"/>
            </a:avLst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847088"/>
            <a:ext cx="3240938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Calibri"/>
              </a:rPr>
              <a:t>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423160"/>
            <a:ext cx="2875178" cy="22860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OSS Graphiti core</a:t>
            </a:r>
          </a:p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Managed cloud service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38218" y="1783080"/>
            <a:ext cx="3240938" cy="310896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38218" y="1783080"/>
            <a:ext cx="3240938" cy="457200"/>
          </a:xfrm>
          <a:prstGeom prst="roundRect">
            <a:avLst>
              <a:gd name="adj" fmla="val 6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38218" y="1847088"/>
            <a:ext cx="3240938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Calibri"/>
              </a:rPr>
              <a:t>PRICING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1098" y="2423160"/>
            <a:ext cx="2875178" cy="22860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Cloud: usage-based</a:t>
            </a:r>
          </a:p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Enterprise: custom</a:t>
            </a:r>
          </a:p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Graphiti: open-source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27796" y="1783080"/>
            <a:ext cx="3240938" cy="310896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27796" y="1783080"/>
            <a:ext cx="3240938" cy="457200"/>
          </a:xfrm>
          <a:prstGeom prst="roundRect">
            <a:avLst>
              <a:gd name="adj" fmla="val 6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27796" y="1847088"/>
            <a:ext cx="3240938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Calibri"/>
              </a:rPr>
              <a:t>GTM MOTION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10676" y="2423160"/>
            <a:ext cx="2875178" cy="22860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Enterprise + sales-assisted</a:t>
            </a:r>
          </a:p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Governance/compliance angle</a:t>
            </a:r>
          </a:p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OSS Graphiti for devs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120640"/>
            <a:ext cx="11094415" cy="548640"/>
          </a:xfrm>
          <a:prstGeom prst="roundRect">
            <a:avLst>
              <a:gd name="adj" fmla="val 4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5230368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00C9A7"/>
                </a:solidFill>
                <a:latin typeface="Calibri"/>
              </a:rPr>
              <a:t>FUNDING:  Venture-backed seed; founder Daniel Chalef (ex-KnowledgeTree, SparkPost)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DataStaqAI · Company Teardown: Zep · Context Engineering · Enterprise Memory · 2026-06-27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6 / 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Strengths &amp; Risks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An honest read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5410047" cy="365760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783080"/>
            <a:ext cx="82296" cy="36576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1929384"/>
            <a:ext cx="5025999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09B82"/>
                </a:solidFill>
                <a:latin typeface="Calibri"/>
              </a:rPr>
              <a:t>STRENGTHS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386584"/>
            <a:ext cx="4952847" cy="2889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WIN: Enterprise/governance positioning (differentiated)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WIN: Temporal-graph technology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WIN: Speed + compliance proof points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WIN: Clear enterprise ICP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WIN: OSS Graphiti library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3007" y="1783080"/>
            <a:ext cx="5410047" cy="365760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3007" y="1783080"/>
            <a:ext cx="82296" cy="3657600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89039" y="1929384"/>
            <a:ext cx="5025999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E05A6B"/>
                </a:solidFill>
                <a:latin typeface="Calibri"/>
              </a:rPr>
              <a:t>RISKS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89039" y="2386584"/>
            <a:ext cx="4952847" cy="2889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1" i="0">
                <a:solidFill>
                  <a:srgbClr val="E05A6B"/>
                </a:solidFill>
                <a:latin typeface="Calibri"/>
              </a:rPr>
              <a:t>RISK: Smaller OSS community than rivals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1" i="0">
                <a:solidFill>
                  <a:srgbClr val="E05A6B"/>
                </a:solidFill>
                <a:latin typeface="Calibri"/>
              </a:rPr>
              <a:t>RISK: Graph integration complexity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1" i="0">
                <a:solidFill>
                  <a:srgbClr val="E05A6B"/>
                </a:solidFill>
                <a:latin typeface="Calibri"/>
              </a:rPr>
              <a:t>RISK: Category education burden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1" i="0">
                <a:solidFill>
                  <a:srgbClr val="E05A6B"/>
                </a:solidFill>
                <a:latin typeface="Calibri"/>
              </a:rPr>
              <a:t>RISK: Incumbents adding memory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1" i="0">
                <a:solidFill>
                  <a:srgbClr val="E05A6B"/>
                </a:solidFill>
                <a:latin typeface="Calibri"/>
              </a:rPr>
              <a:t>RISK: Pricing opacity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DataStaqAI · Company Teardown: Zep · Context Engineering · Enterprise Memory · 2026-06-27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7 / 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So What For DataStaqAI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Where it fits in your delivery thesis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3240938" cy="356616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783080"/>
            <a:ext cx="82296" cy="3566160"/>
          </a:xfrm>
          <a:prstGeom prst="rect">
            <a:avLst/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1929384"/>
            <a:ext cx="285689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09B82"/>
                </a:solidFill>
                <a:latin typeface="Calibri"/>
              </a:rPr>
              <a:t>Where it sits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386584"/>
            <a:ext cx="2783738" cy="279806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Context-eng / governed enterprise memory.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Best when audit &amp; control matter.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38218" y="1783080"/>
            <a:ext cx="3240938" cy="356616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38218" y="1783080"/>
            <a:ext cx="82296" cy="356616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4250" y="1929384"/>
            <a:ext cx="285689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0C9A7"/>
                </a:solidFill>
                <a:latin typeface="Calibri"/>
              </a:rPr>
              <a:t>For DataStaqAI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4250" y="2386584"/>
            <a:ext cx="2783738" cy="279806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Pick when a client needs governed, auditable memory.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Pairs with your governance ownership.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27796" y="1783080"/>
            <a:ext cx="3240938" cy="356616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27796" y="1783080"/>
            <a:ext cx="82296" cy="3566160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83828" y="1929384"/>
            <a:ext cx="285689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FFB800"/>
                </a:solidFill>
                <a:latin typeface="Calibri"/>
              </a:rPr>
              <a:t>Lesson to steal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83828" y="2386584"/>
            <a:ext cx="2783738" cy="279806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Governance + speed proof as the wedge — your playbook.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486400"/>
            <a:ext cx="11094415" cy="457200"/>
          </a:xfrm>
          <a:prstGeom prst="roundRect">
            <a:avLst>
              <a:gd name="adj" fmla="val 4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5559552"/>
            <a:ext cx="10637215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VERDICT:  COMPONENT — enterprise-grade memory option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DataStaqAI · Company Teardown: Zep · Context Engineering · Enterprise Memory · 2026-06-27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8 / 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Method &amp; Caveats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How this teardown was built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2377440" cy="86868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883664"/>
            <a:ext cx="2057400" cy="7315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C9A7"/>
                </a:solidFill>
                <a:latin typeface="Calibri"/>
              </a:rPr>
              <a:t>Source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63240" y="1828800"/>
            <a:ext cx="8577072" cy="86868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46120" y="1883664"/>
            <a:ext cx="8229600" cy="75895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Firecrawl Printing Press CLI scrape of the company's live site + search (funding/founders). Functions framed against the DataStaqAI thesis.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807208"/>
            <a:ext cx="2377440" cy="86868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2862072"/>
            <a:ext cx="2057400" cy="7315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C9A7"/>
                </a:solidFill>
                <a:latin typeface="Calibri"/>
              </a:rPr>
              <a:t>Verified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063240" y="2807208"/>
            <a:ext cx="8577072" cy="86868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46120" y="2862072"/>
            <a:ext cx="8229600" cy="75895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Product capabilities, positioning, founders and investors are from live pages/results. Quotes are the company's own copy.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785616"/>
            <a:ext cx="2377440" cy="86868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3840480"/>
            <a:ext cx="2057400" cy="7315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C9A7"/>
                </a:solidFill>
                <a:latin typeface="Calibri"/>
              </a:rPr>
              <a:t>Reported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063240" y="3785616"/>
            <a:ext cx="8577072" cy="86868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46120" y="3840480"/>
            <a:ext cx="8229600" cy="75895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Funding/valuation figures are from press/aggregators, not audited. Pricing is described qualitatively where exact tiers weren't published.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764024"/>
            <a:ext cx="2377440" cy="86868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3232" y="4818888"/>
            <a:ext cx="2057400" cy="7315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C9A7"/>
                </a:solidFill>
                <a:latin typeface="Calibri"/>
              </a:rPr>
              <a:t>Caveat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063240" y="4764024"/>
            <a:ext cx="8577072" cy="86868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46120" y="4818888"/>
            <a:ext cx="8229600" cy="75895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Exact funding amount not surfaced in this scan; co-founder names beyond the CEO are partial.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DataStaqAI · Company Teardown: Zep · Context Engineering · Enterprise Memory · 2026-06-27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9 / 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