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784080" y="0"/>
            <a:ext cx="2407615" cy="6858000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729216" y="0"/>
            <a:ext cx="54864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COMPANY TEARDOWN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8229600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5400" b="1" i="0">
                <a:solidFill>
                  <a:srgbClr val="FFFFFF"/>
                </a:solidFill>
                <a:latin typeface="Calibri"/>
              </a:rPr>
              <a:t>MagicPath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880360"/>
            <a:ext cx="1554480" cy="5486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108960"/>
            <a:ext cx="8595360" cy="914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0" i="0">
                <a:solidFill>
                  <a:srgbClr val="E0F7F1"/>
                </a:solidFill>
                <a:latin typeface="Calibri"/>
              </a:rPr>
              <a:t>The AI-native, multiplayer design canvas where humans and agents build together — what it ships, the model, and what it means for DataStaqAI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029200"/>
            <a:ext cx="2651760" cy="457200"/>
          </a:xfrm>
          <a:prstGeom prst="roundRect">
            <a:avLst>
              <a:gd name="adj" fmla="val 20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5120640"/>
            <a:ext cx="26517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E0F7F1"/>
                </a:solidFill>
                <a:latin typeface="Calibri"/>
              </a:rPr>
              <a:t>Design-to-code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5029200"/>
            <a:ext cx="2651760" cy="457200"/>
          </a:xfrm>
          <a:prstGeom prst="roundRect">
            <a:avLst>
              <a:gd name="adj" fmla="val 20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5120640"/>
            <a:ext cx="26517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E0F7F1"/>
                </a:solidFill>
                <a:latin typeface="Calibri"/>
              </a:rPr>
              <a:t>Founder-led PLG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5029200"/>
            <a:ext cx="2651760" cy="457200"/>
          </a:xfrm>
          <a:prstGeom prst="roundRect">
            <a:avLst>
              <a:gd name="adj" fmla="val 20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5120640"/>
            <a:ext cx="26517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E0F7F1"/>
                </a:solidFill>
                <a:latin typeface="Calibri"/>
              </a:rPr>
              <a:t>Firecrawl-extracted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Snapshot — A Design Tool, Not Delivery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A best-of-breed niche specialist: design-to-code, not enterprise delivery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2567863" cy="228600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57400"/>
            <a:ext cx="2567863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FFB800"/>
                </a:solidFill>
                <a:latin typeface="Calibri"/>
              </a:rPr>
              <a:t>$100M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80360"/>
            <a:ext cx="2384983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FFFFFF"/>
                </a:solidFill>
                <a:latin typeface="Calibri"/>
              </a:rPr>
              <a:t>reported valuation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456432"/>
            <a:ext cx="2384983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E0F7F1"/>
                </a:solidFill>
                <a:latin typeface="Calibri"/>
              </a:rPr>
              <a:t>$2M insider round (traded.co)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90823" y="1783080"/>
            <a:ext cx="2567863" cy="228600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90823" y="2057400"/>
            <a:ext cx="2567863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0C9A7"/>
                </a:solidFill>
                <a:latin typeface="Calibri"/>
              </a:rPr>
              <a:t>$21/mo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82263" y="2880360"/>
            <a:ext cx="2384983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FFFFFF"/>
                </a:solidFill>
                <a:latin typeface="Calibri"/>
              </a:rPr>
              <a:t>Pro entry — pure PLG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82263" y="3456432"/>
            <a:ext cx="2384983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E0F7F1"/>
                </a:solidFill>
                <a:latin typeface="Calibri"/>
              </a:rPr>
              <a:t>Free → Builder $7 → Pro → Teams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3007" y="1783080"/>
            <a:ext cx="2567863" cy="228600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33007" y="2057400"/>
            <a:ext cx="2567863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0C9A7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4447" y="2880360"/>
            <a:ext cx="2384983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FFFFFF"/>
                </a:solidFill>
                <a:latin typeface="Calibri"/>
              </a:rPr>
              <a:t>external agents supported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4447" y="3456432"/>
            <a:ext cx="2384983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E0F7F1"/>
                </a:solidFill>
                <a:latin typeface="Calibri"/>
              </a:rPr>
              <a:t>Codex · Claude Code · Cursor (BYO)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75191" y="1783080"/>
            <a:ext cx="2567863" cy="228600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75191" y="2057400"/>
            <a:ext cx="2567863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09B82"/>
                </a:solidFill>
                <a:latin typeface="Calibri"/>
              </a:rPr>
              <a:t>Mac + Web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66631" y="2880360"/>
            <a:ext cx="2384983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FFFFFF"/>
                </a:solidFill>
                <a:latin typeface="Calibri"/>
              </a:rPr>
              <a:t>delivery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66631" y="3456432"/>
            <a:ext cx="2384983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E0F7F1"/>
                </a:solidFill>
                <a:latin typeface="Calibri"/>
              </a:rPr>
              <a:t>Desktop-first; browser app too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224528"/>
            <a:ext cx="11094415" cy="160020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224528"/>
            <a:ext cx="82296" cy="16002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334256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PROFILE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681728"/>
            <a:ext cx="10637215" cy="10972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1B2B3C"/>
                </a:solidFill>
                <a:latin typeface="Calibri"/>
              </a:rPr>
              <a:t>Founders: Pietro Schirano · Jack Beoris    |    Investors: Khosla Ventures · Abstract · Village Global · MVP Ventures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Category claim: “the first professional, AI-native design tool built for teams and enterprise.” MagicPath 2.0 ships as a multiplayer canvas where designers, engineers and AI agents work side-by-side and round-trip every change to the codebase.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Company Teardown: MagicPath · 2026-06-27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 /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What They Actually Ship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Verified from the live product site — not the marketing tagline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5410047" cy="16459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82296" cy="16459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929384"/>
            <a:ext cx="5025999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Multiplayer design canvas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404872"/>
            <a:ext cx="4952847" cy="8595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Infinite canvas; team + agents edit components together in real time.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“See every teammate and every agent move across the canvas.”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007" y="1783080"/>
            <a:ext cx="5410047" cy="16459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3007" y="1783080"/>
            <a:ext cx="82296" cy="16459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9039" y="1929384"/>
            <a:ext cx="5025999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Multi-agentic generation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9039" y="2404872"/>
            <a:ext cx="4952847" cy="8595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One request → a team of agents creates multiple screens / variations at once.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“Watch agents ship while you sleep.”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611880"/>
            <a:ext cx="5410047" cy="16459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611880"/>
            <a:ext cx="82296" cy="164592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758184"/>
            <a:ext cx="5025999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FB800"/>
                </a:solidFill>
                <a:latin typeface="Calibri"/>
              </a:rPr>
              <a:t>Bring-your-own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4233672"/>
            <a:ext cx="4952847" cy="8595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Plug in Codex, Claude Code, or Cursor — not locked to one model.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Connect your repo, MCP, and Linear tasks to the canvas.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3007" y="3611880"/>
            <a:ext cx="5410047" cy="16459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3007" y="3611880"/>
            <a:ext cx="82296" cy="1645920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89039" y="3758184"/>
            <a:ext cx="5025999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9B82"/>
                </a:solidFill>
                <a:latin typeface="Calibri"/>
              </a:rPr>
              <a:t>Round-trip to codebase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89039" y="4233672"/>
            <a:ext cx="4952847" cy="8595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Generates real React/Tailwind; enforces your design system.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Every change round-trips design ↔ code; Figma import/export.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Company Teardown: MagicPath · 2026-06-27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 /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Positioning &amp; ICP — What They Say vs Avoid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The message is consistent; the gaps are what they don't say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5410047" cy="38404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737360"/>
            <a:ext cx="5410047" cy="457200"/>
          </a:xfrm>
          <a:prstGeom prst="roundRect">
            <a:avLst>
              <a:gd name="adj" fmla="val 5000"/>
            </a:avLst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801368"/>
            <a:ext cx="5410047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WHAT THEY SAY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377440"/>
            <a:ext cx="4861407" cy="30175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11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Tagline: “Design and build with AI as a team of humans and agents.”</a:t>
            </a:r>
          </a:p>
          <a:p>
            <a:pPr algn="l">
              <a:lnSpc>
                <a:spcPct val="105000"/>
              </a:lnSpc>
              <a:spcBef>
                <a:spcPts val="11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ICP: product design + front-end teams — solo (Free) up to enterprise (Teams).</a:t>
            </a:r>
          </a:p>
          <a:p>
            <a:pPr algn="l">
              <a:lnSpc>
                <a:spcPct val="105000"/>
              </a:lnSpc>
              <a:spcBef>
                <a:spcPts val="11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The one message they repeat: humans AND agents design together (multiplayer + multi-agentic).</a:t>
            </a:r>
          </a:p>
          <a:p>
            <a:pPr algn="l">
              <a:lnSpc>
                <a:spcPct val="105000"/>
              </a:lnSpc>
              <a:spcBef>
                <a:spcPts val="11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Adoption motion: bottom-up PLG — download, free tier, expand to seats.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007" y="1737360"/>
            <a:ext cx="5410047" cy="38404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33007" y="1737360"/>
            <a:ext cx="5410047" cy="457200"/>
          </a:xfrm>
          <a:prstGeom prst="roundRect">
            <a:avLst>
              <a:gd name="adj" fmla="val 5000"/>
            </a:avLst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33007" y="1801368"/>
            <a:ext cx="5410047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WHAT THEY AVOID SAYING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07327" y="2377440"/>
            <a:ext cx="4861407" cy="30175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11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Desktop-first — “best experienced on desktop” is friction for a team tool.</a:t>
            </a:r>
          </a:p>
          <a:p>
            <a:pPr algn="l">
              <a:lnSpc>
                <a:spcPct val="105000"/>
              </a:lnSpc>
              <a:spcBef>
                <a:spcPts val="11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Enterprise security / governance is not foregrounded (yet).</a:t>
            </a:r>
          </a:p>
          <a:p>
            <a:pPr algn="l">
              <a:lnSpc>
                <a:spcPct val="105000"/>
              </a:lnSpc>
              <a:spcBef>
                <a:spcPts val="11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No per-outcome or enterprise ACV — it's credit + seat pricing.</a:t>
            </a:r>
          </a:p>
          <a:p>
            <a:pPr algn="l">
              <a:lnSpc>
                <a:spcPct val="105000"/>
              </a:lnSpc>
              <a:spcBef>
                <a:spcPts val="11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“Design tool” vs “build tool” identity is still blurred.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Company Teardown: MagicPath · 2026-06-27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4 /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FFFFFF"/>
                </a:solidFill>
                <a:latin typeface="Calibri"/>
              </a:rPr>
              <a:t>The Wedge: Orchestration UX, Not Another Text-To-UI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11094415" cy="1234440"/>
          </a:xfrm>
          <a:prstGeom prst="roundRect">
            <a:avLst>
              <a:gd name="adj" fmla="val 5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00200"/>
            <a:ext cx="10545775" cy="1005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00C9A7"/>
                </a:solidFill>
                <a:latin typeface="Calibri"/>
              </a:rPr>
              <a:t>Dozens of tools turn a prompt into UI. MagicPath's differentiator is the workflow around the agents.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250" b="0" i="0">
                <a:solidFill>
                  <a:srgbClr val="E0F7F1"/>
                </a:solidFill>
                <a:latin typeface="Calibri"/>
              </a:rPr>
              <a:t>A shared canvas where you watch multiple agents work, bring the agent you already trust (Claude Code / Codex / Cursor), and round-trip into your real codebase + Linear — instead of a one-shot generator that locks you to one model and dead-ends at export.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063240"/>
            <a:ext cx="3240938" cy="2377440"/>
          </a:xfrm>
          <a:prstGeom prst="roundRect">
            <a:avLst>
              <a:gd name="adj" fmla="val 5000"/>
            </a:avLst>
          </a:prstGeom>
          <a:solidFill>
            <a:srgbClr val="12243A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3063240"/>
            <a:ext cx="3240938" cy="502920"/>
          </a:xfrm>
          <a:prstGeom prst="roundRect">
            <a:avLst>
              <a:gd name="adj" fmla="val 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108960"/>
            <a:ext cx="2966618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A1628"/>
                </a:solidFill>
                <a:latin typeface="Calibri"/>
              </a:rPr>
              <a:t>Visible multi-agent canvas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749039"/>
            <a:ext cx="2875178" cy="1554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E0F7F1"/>
                </a:solidFill>
                <a:latin typeface="Calibri"/>
              </a:rPr>
              <a:t>Agents work in the open on a shared surface — a trust + collaboration mechanism, not a black box.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8218" y="3063240"/>
            <a:ext cx="3240938" cy="2377440"/>
          </a:xfrm>
          <a:prstGeom prst="roundRect">
            <a:avLst>
              <a:gd name="adj" fmla="val 5000"/>
            </a:avLst>
          </a:prstGeom>
          <a:solidFill>
            <a:srgbClr val="12243A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38218" y="3063240"/>
            <a:ext cx="3240938" cy="502920"/>
          </a:xfrm>
          <a:prstGeom prst="roundRect">
            <a:avLst>
              <a:gd name="adj" fmla="val 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1098" y="3108960"/>
            <a:ext cx="2966618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A1628"/>
                </a:solidFill>
                <a:latin typeface="Calibri"/>
              </a:rPr>
              <a:t>Model-agnostic (BYO agent)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6818" y="3749039"/>
            <a:ext cx="2875178" cy="1554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E0F7F1"/>
                </a:solidFill>
                <a:latin typeface="Calibri"/>
              </a:rPr>
              <a:t>“Ride, don't fight” — wires in Claude Code/Codex/Cursor rather than betting on its own model.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27796" y="3063240"/>
            <a:ext cx="3240938" cy="2377440"/>
          </a:xfrm>
          <a:prstGeom prst="roundRect">
            <a:avLst>
              <a:gd name="adj" fmla="val 5000"/>
            </a:avLst>
          </a:prstGeom>
          <a:solidFill>
            <a:srgbClr val="12243A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27796" y="3063240"/>
            <a:ext cx="3240938" cy="502920"/>
          </a:xfrm>
          <a:prstGeom prst="roundRect">
            <a:avLst>
              <a:gd name="adj" fmla="val 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10676" y="3108960"/>
            <a:ext cx="2966618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A1628"/>
                </a:solidFill>
                <a:latin typeface="Calibri"/>
              </a:rPr>
              <a:t>Owned-code, round-tripped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6396" y="3749039"/>
            <a:ext cx="2875178" cy="1554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E0F7F1"/>
                </a:solidFill>
                <a:latin typeface="Calibri"/>
              </a:rPr>
              <a:t>Outputs real React into your repo and stays in sync — not a throwaway mockup.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Company Teardown: MagicPath · 2026-06-27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5 /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Pricing &amp; GTM — Credit-Based PLG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Land free, expand by seats; external-agent compute is billed elsewhere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2567863" cy="27432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783080"/>
            <a:ext cx="2567863" cy="457200"/>
          </a:xfrm>
          <a:prstGeom prst="roundRect">
            <a:avLst>
              <a:gd name="adj" fmla="val 6000"/>
            </a:avLst>
          </a:prstGeom>
          <a:solidFill>
            <a:srgbClr val="5B6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837943"/>
            <a:ext cx="2567863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Free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31720"/>
            <a:ext cx="2567863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0A1628"/>
                </a:solidFill>
                <a:latin typeface="Calibri"/>
              </a:rPr>
              <a:t>$0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926080"/>
            <a:ext cx="2238679" cy="1463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•  20 credits/day (~120/mo)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•  5 Figma imports/mo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•  Solo &amp; side projects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90823" y="1783080"/>
            <a:ext cx="2567863" cy="27432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90823" y="1783080"/>
            <a:ext cx="2567863" cy="457200"/>
          </a:xfrm>
          <a:prstGeom prst="roundRect">
            <a:avLst>
              <a:gd name="adj" fmla="val 6000"/>
            </a:avLst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90823" y="1837943"/>
            <a:ext cx="2567863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Builder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90823" y="2331720"/>
            <a:ext cx="2567863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0A1628"/>
                </a:solidFill>
                <a:latin typeface="Calibri"/>
              </a:rPr>
              <a:t>$7/mo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55415" y="2926080"/>
            <a:ext cx="2238679" cy="1463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•  Unlimited external-agent calls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•  Unlimited Figma exports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•  Indie / power user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3007" y="1783080"/>
            <a:ext cx="2567863" cy="27432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33007" y="1783080"/>
            <a:ext cx="2567863" cy="457200"/>
          </a:xfrm>
          <a:prstGeom prst="roundRect">
            <a:avLst>
              <a:gd name="adj" fmla="val 6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33007" y="1837943"/>
            <a:ext cx="2567863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Pro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33007" y="2331720"/>
            <a:ext cx="2567863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0A1628"/>
                </a:solidFill>
                <a:latin typeface="Calibri"/>
              </a:rPr>
              <a:t>$21/mo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7599" y="2926080"/>
            <a:ext cx="2238679" cy="1463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•  Credit packs 600–3,000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•  Full Figma import/export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•  Professional designers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75191" y="1783080"/>
            <a:ext cx="2567863" cy="27432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075191" y="1783080"/>
            <a:ext cx="2567863" cy="457200"/>
          </a:xfrm>
          <a:prstGeom prst="roundRect">
            <a:avLst>
              <a:gd name="adj" fmla="val 6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75191" y="1837943"/>
            <a:ext cx="2567863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Teams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75191" y="2331720"/>
            <a:ext cx="2567863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0A1628"/>
                </a:solidFill>
                <a:latin typeface="Calibri"/>
              </a:rPr>
              <a:t>Seat-based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9783" y="2926080"/>
            <a:ext cx="2238679" cy="1463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•  1,000 credits/seat, shared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•  Team workspaces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•  Teams &amp; enterprise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709160"/>
            <a:ext cx="11094415" cy="1143000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4828032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0C9A7"/>
                </a:solidFill>
                <a:latin typeface="Calibri"/>
              </a:rPr>
              <a:t>The credit model: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E0F7F1"/>
                </a:solidFill>
                <a:latin typeface="Calibri"/>
              </a:rPr>
              <a:t>Credits pay for AI design generation (scales with complexity); manual edits, exports and library use are free. External agents (Claude Code/Codex/Cursor) are billed by your provider, not MagicPath — so the headline price understates true cost of heavy agent use.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Company Teardown: MagicPath · 2026-06-27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6 /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Strengths &amp; Risks — Honest Read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Real launch momentum; a crowded lane and a desktop-first bet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5410047" cy="36576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82296" cy="36576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929384"/>
            <a:ext cx="5025999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9B82"/>
                </a:solidFill>
                <a:latin typeface="Calibri"/>
              </a:rPr>
              <a:t>STRENGTHS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404872"/>
            <a:ext cx="4952847" cy="2871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WIN: Founder/design credibility + strong launch response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WIN: BYO-agent avoids model lock-in (rides the frontier)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WIN: Owned-code output round-tripped into the repo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WIN: Low-friction PLG pricing from $0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WIN: Closes a real design-to-code gap with collaboration UX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007" y="1783080"/>
            <a:ext cx="5410047" cy="36576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3007" y="1783080"/>
            <a:ext cx="82296" cy="3657600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9039" y="1929384"/>
            <a:ext cx="5025999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E05A6B"/>
                </a:solidFill>
                <a:latin typeface="Calibri"/>
              </a:rPr>
              <a:t>RISKS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9039" y="2404872"/>
            <a:ext cx="4952847" cy="28712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1" i="0">
                <a:solidFill>
                  <a:srgbClr val="E05A6B"/>
                </a:solidFill>
                <a:latin typeface="Calibri"/>
              </a:rPr>
              <a:t>•  RISK: Crowded lane — v0, Lovable, Bolt, Figma Make, UX Pilot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1" i="0">
                <a:solidFill>
                  <a:srgbClr val="E05A6B"/>
                </a:solidFill>
                <a:latin typeface="Calibri"/>
              </a:rPr>
              <a:t>•  RISK: Desktop-first friction for a team/enterprise tool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1" i="0">
                <a:solidFill>
                  <a:srgbClr val="E05A6B"/>
                </a:solidFill>
                <a:latin typeface="Calibri"/>
              </a:rPr>
              <a:t>•  RISK: Credit model can confuse + cap heavy users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1" i="0">
                <a:solidFill>
                  <a:srgbClr val="E05A6B"/>
                </a:solidFill>
                <a:latin typeface="Calibri"/>
              </a:rPr>
              <a:t>•  RISK: Depends on third-party agent providers for the build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1" i="0">
                <a:solidFill>
                  <a:srgbClr val="E05A6B"/>
                </a:solidFill>
                <a:latin typeface="Calibri"/>
              </a:rPr>
              <a:t>•  RISK: Enterprise security/governance still nascent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Company Teardown: MagicPath · 2026-06-27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7 /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So What For DataStaqAI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Not a competitor — a confirmation of your thesis and a component to wire 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3240938" cy="356616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82296" cy="3566160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929384"/>
            <a:ext cx="285689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9B82"/>
                </a:solidFill>
                <a:latin typeface="Calibri"/>
              </a:rPr>
              <a:t>Where it sits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404872"/>
            <a:ext cx="2783738" cy="277977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Engineering / design-to-code — the front-end build slice of your BUILD lane.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It is a TOOL a team operates (self-serve), the opposite of done-for-you delivery.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8218" y="1783080"/>
            <a:ext cx="3240938" cy="356616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38218" y="1783080"/>
            <a:ext cx="82296" cy="356616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4250" y="1929384"/>
            <a:ext cx="285689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Confirms your thesis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4250" y="2404872"/>
            <a:ext cx="2783738" cy="277977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They ship the agent + UX; the buyer still drives, integrates and governs.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That gap between “great tool” and “done for me” is exactly your wedge.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27796" y="1783080"/>
            <a:ext cx="3240938" cy="356616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27796" y="1783080"/>
            <a:ext cx="82296" cy="356616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83828" y="1929384"/>
            <a:ext cx="285689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FB800"/>
                </a:solidFill>
                <a:latin typeface="Calibri"/>
              </a:rPr>
              <a:t>Steal the playbook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3828" y="2404872"/>
            <a:ext cx="2783738" cy="277977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BYO-agent orchestration = your “ride, don't fight” in product form.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Visible multi-agent canvas as a trust mechanism; owned-code output.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486400"/>
            <a:ext cx="11094415" cy="457200"/>
          </a:xfrm>
          <a:prstGeom prst="roundRect">
            <a:avLst>
              <a:gd name="adj" fmla="val 4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559552"/>
            <a:ext cx="1063721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Verdict: PARTNER / COMPONENT — add MagicPath to the delivery library for front-end build; don't treat it as a rival to mid-market delivery.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Company Teardown: MagicPath · 2026-06-27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8 /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Method &amp; Caveats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How this teardown was built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2377440" cy="86868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883664"/>
            <a:ext cx="2057400" cy="731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Source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63240" y="1828800"/>
            <a:ext cx="8577072" cy="8686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6120" y="1883664"/>
            <a:ext cx="8229600" cy="75895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Firecrawl Printing Press CLI scrape of magicpath.ai (home, docs, pricing) + search (traded.co, LinkedIn, Instagram, Tracxn).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07208"/>
            <a:ext cx="2377440" cy="86868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2862072"/>
            <a:ext cx="2057400" cy="731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Verified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63240" y="2807208"/>
            <a:ext cx="8577072" cy="8686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46120" y="2862072"/>
            <a:ext cx="8229600" cy="75895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Product capabilities, pricing tiers, founders and investors are from live pages. Quotes are MagicPath's own copy.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785616"/>
            <a:ext cx="2377440" cy="86868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3840480"/>
            <a:ext cx="2057400" cy="731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Reported, not audited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63240" y="3785616"/>
            <a:ext cx="8577072" cy="8686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46120" y="3840480"/>
            <a:ext cx="8229600" cy="75895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$2M insider round at ~$100M valuation is from traded.co; treat valuation as reported. No revenue/usage data is public.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764024"/>
            <a:ext cx="2377440" cy="86868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4818888"/>
            <a:ext cx="2057400" cy="731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Template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063240" y="4764024"/>
            <a:ext cx="8577072" cy="8686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46120" y="4818888"/>
            <a:ext cx="8229600" cy="75895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This is the per-company teardown format — reusable for the next target. Tell me who's next and I'll run the same pipeline.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Company Teardown: MagicPath · 2026-06-27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9 /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