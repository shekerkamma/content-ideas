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15e8594a7f49ef" /><Relationship Type="http://schemas.openxmlformats.org/officeDocument/2006/relationships/extended-properties" Target="/docProps/app.xml" Id="R9178d698b7824191" /><Relationship Type="http://schemas.openxmlformats.org/officeDocument/2006/relationships/officeDocument" Target="/ppt/presentation.xml" Id="R4e726100b57149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83e7304ad54212"/>
  </p:sldMasterIdLst>
  <p:notesMasterIdLst>
    <p:notesMasterId xmlns:r="http://schemas.openxmlformats.org/officeDocument/2006/relationships" r:id="R158bdd1dcfa74b89"/>
  </p:notesMasterIdLst>
  <p:sldIdLst>
    <p:sldId xmlns:r="http://schemas.openxmlformats.org/officeDocument/2006/relationships" id="256" r:id="Rb8f1d7ee416f4980"/>
    <p:sldId xmlns:r="http://schemas.openxmlformats.org/officeDocument/2006/relationships" id="257" r:id="R344887b6f2594e49"/>
    <p:sldId xmlns:r="http://schemas.openxmlformats.org/officeDocument/2006/relationships" id="258" r:id="R0e28b43f8f0349b4"/>
    <p:sldId xmlns:r="http://schemas.openxmlformats.org/officeDocument/2006/relationships" id="259" r:id="Rf559e1f3fa8a4dd8"/>
    <p:sldId xmlns:r="http://schemas.openxmlformats.org/officeDocument/2006/relationships" id="260" r:id="Rab97b6c9321c4679"/>
    <p:sldId xmlns:r="http://schemas.openxmlformats.org/officeDocument/2006/relationships" id="261" r:id="R055f16a8bab04271"/>
    <p:sldId xmlns:r="http://schemas.openxmlformats.org/officeDocument/2006/relationships" id="262" r:id="Rd74e3efa10934363"/>
    <p:sldId xmlns:r="http://schemas.openxmlformats.org/officeDocument/2006/relationships" id="263" r:id="Rd3f4b7ac8c4e462f"/>
    <p:sldId xmlns:r="http://schemas.openxmlformats.org/officeDocument/2006/relationships" id="264" r:id="R32e143890e704da2"/>
    <p:sldId xmlns:r="http://schemas.openxmlformats.org/officeDocument/2006/relationships" id="265" r:id="R8b2e30434816448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0f57fc14e24eec" /><Relationship Type="http://schemas.openxmlformats.org/officeDocument/2006/relationships/slideMaster" Target="/ppt/slideMasters/slideMaster1.xml" Id="R5383e7304ad54212" /><Relationship Type="http://schemas.openxmlformats.org/officeDocument/2006/relationships/notesMaster" Target="/ppt/notesMasters/notesMaster1.xml" Id="R158bdd1dcfa74b89" /><Relationship Type="http://schemas.openxmlformats.org/officeDocument/2006/relationships/presProps" Target="/ppt/presProps.xml" Id="Rdb3e20cdbae24ac4" /><Relationship Type="http://schemas.openxmlformats.org/officeDocument/2006/relationships/tableStyles" Target="/ppt/tableStyles.xml" Id="Rf3c8c83fa2324f3a" /><Relationship Type="http://schemas.openxmlformats.org/officeDocument/2006/relationships/slide" Target="/ppt/slides/slide1.xml" Id="Rb8f1d7ee416f4980" /><Relationship Type="http://schemas.openxmlformats.org/officeDocument/2006/relationships/slide" Target="/ppt/slides/slide2.xml" Id="R344887b6f2594e49" /><Relationship Type="http://schemas.openxmlformats.org/officeDocument/2006/relationships/slide" Target="/ppt/slides/slide3.xml" Id="R0e28b43f8f0349b4" /><Relationship Type="http://schemas.openxmlformats.org/officeDocument/2006/relationships/slide" Target="/ppt/slides/slide4.xml" Id="Rf559e1f3fa8a4dd8" /><Relationship Type="http://schemas.openxmlformats.org/officeDocument/2006/relationships/slide" Target="/ppt/slides/slide5.xml" Id="Rab97b6c9321c4679" /><Relationship Type="http://schemas.openxmlformats.org/officeDocument/2006/relationships/slide" Target="/ppt/slides/slide6.xml" Id="R055f16a8bab04271" /><Relationship Type="http://schemas.openxmlformats.org/officeDocument/2006/relationships/slide" Target="/ppt/slides/slide7.xml" Id="Rd74e3efa10934363" /><Relationship Type="http://schemas.openxmlformats.org/officeDocument/2006/relationships/slide" Target="/ppt/slides/slide8.xml" Id="Rd3f4b7ac8c4e462f" /><Relationship Type="http://schemas.openxmlformats.org/officeDocument/2006/relationships/slide" Target="/ppt/slides/slide9.xml" Id="R32e143890e704da2" /><Relationship Type="http://schemas.openxmlformats.org/officeDocument/2006/relationships/slide" Target="/ppt/slides/slide10.xml" Id="R8b2e3043481644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cda8f718a448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97721824854c52" /><Relationship Type="http://schemas.openxmlformats.org/officeDocument/2006/relationships/notesMaster" Target="/ppt/notesMasters/notesMaster1.xml" Id="R31b9a3f5f04d43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f3c4eeb35f4a64" /><Relationship Type="http://schemas.openxmlformats.org/officeDocument/2006/relationships/notesMaster" Target="/ppt/notesMasters/notesMaster1.xml" Id="Rab24df84ea624c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da13deea0f45dd" /><Relationship Type="http://schemas.openxmlformats.org/officeDocument/2006/relationships/notesMaster" Target="/ppt/notesMasters/notesMaster1.xml" Id="Ra7d84c05cea446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f19c39361d47a9" /><Relationship Type="http://schemas.openxmlformats.org/officeDocument/2006/relationships/notesMaster" Target="/ppt/notesMasters/notesMaster1.xml" Id="R9d3ac07d505647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45fdfd5f75418a" /><Relationship Type="http://schemas.openxmlformats.org/officeDocument/2006/relationships/notesMaster" Target="/ppt/notesMasters/notesMaster1.xml" Id="R5a998f9ab5124e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76426ae9494a9c" /><Relationship Type="http://schemas.openxmlformats.org/officeDocument/2006/relationships/notesMaster" Target="/ppt/notesMasters/notesMaster1.xml" Id="Rc114797b5c0141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a859b2d32d4321" /><Relationship Type="http://schemas.openxmlformats.org/officeDocument/2006/relationships/notesMaster" Target="/ppt/notesMasters/notesMaster1.xml" Id="R954c1412075a43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a0ae3202604982" /><Relationship Type="http://schemas.openxmlformats.org/officeDocument/2006/relationships/notesMaster" Target="/ppt/notesMasters/notesMaster1.xml" Id="R71e3a56f552940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bc1d2860964ec5" /><Relationship Type="http://schemas.openxmlformats.org/officeDocument/2006/relationships/notesMaster" Target="/ppt/notesMasters/notesMaster1.xml" Id="R5018a23a60e741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0fa9b30c2646e1" /><Relationship Type="http://schemas.openxmlformats.org/officeDocument/2006/relationships/notesMaster" Target="/ppt/notesMasters/notesMaster1.xml" Id="R41babdcd6be54e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a pilot proposition, not a permanent zero-cost promise. The source deck's $0 claim has been qualified because provider promotions and production terms can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https://opencode.ai/docs/providers</a:t>
            </a:r>
          </a:p>
          <a:p xmlns:a="http://schemas.openxmlformats.org/drawingml/2006/main">
            <a:r>
              <a:t>https://build.nvidia.com/models</a:t>
            </a:r>
          </a:p>
          <a:p xmlns:a="http://schemas.openxmlformats.org/drawingml/2006/main">
            <a:r>
              <a:t>https://docs.api.nvidia.com/nim/docs/product</a:t>
            </a:r>
          </a:p>
          <a:p xmlns:a="http://schemas.openxmlformats.org/drawingml/2006/main">
            <a:r>
              <a:t>https://zenmux.ai/provider/moonshotai</a:t>
            </a:r>
          </a:p>
          <a:p xmlns:a="http://schemas.openxmlformats.org/drawingml/2006/main">
            <a:r>
              <a:t>https://www.kimi.com/code/docs/en/kimi-code/models.html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decision. The architecture is credible enough to test; the economics and operating fit are not yet proven.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https://opencode.ai/docs/providers</a:t>
            </a:r>
          </a:p>
          <a:p xmlns:a="http://schemas.openxmlformats.org/drawingml/2006/main">
            <a:r>
              <a:t>https://build.nvidia.com/models</a:t>
            </a:r>
          </a:p>
          <a:p xmlns:a="http://schemas.openxmlformats.org/drawingml/2006/main">
            <a:r>
              <a:t>https://docs.api.nvidia.com/nim/docs/product</a:t>
            </a:r>
          </a:p>
          <a:p xmlns:a="http://schemas.openxmlformats.org/drawingml/2006/main">
            <a:r>
              <a:t>https://zenmux.ai/provider/moonshotai</a:t>
            </a:r>
          </a:p>
          <a:p xmlns:a="http://schemas.openxmlformats.org/drawingml/2006/main">
            <a:r>
              <a:t>https://www.kimi.com/code/docs/en/kimi-code/models.html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source deck correctly identifies cost and access friction. This rebuild reframes the issue as an operating-model problem so the pilot can test a repeatable workflow rather than chase a static list of free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target state is provider flexibility behind a consistent terminal experience and governance plane. OpenCode documents NVIDIA and ZenMux provider connections via /connect and model selection via /models.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https://opencode.ai/docs/providers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documented OpenCode pattern is to connect a provider, then select from available models. Model names should be discovered at pilot time rather than hard-coded into the operating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https://opencode.ai/docs/providers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distinguish facts from conditions. The NVIDIA developer route is for prototype/development use. ZenMux explicitly labels its Kimi K3 free listing as limited-time. Kimi's 1M context depends on membership tier.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https://opencode.ai/docs/providers</a:t>
            </a:r>
          </a:p>
          <a:p xmlns:a="http://schemas.openxmlformats.org/drawingml/2006/main">
            <a:r>
              <a:t>https://build.nvidia.com/models</a:t>
            </a:r>
          </a:p>
          <a:p xmlns:a="http://schemas.openxmlformats.org/drawingml/2006/main">
            <a:r>
              <a:t>https://docs.api.nvidia.com/nim/docs/product</a:t>
            </a:r>
          </a:p>
          <a:p xmlns:a="http://schemas.openxmlformats.org/drawingml/2006/main">
            <a:r>
              <a:t>https://zenmux.ai/provider/moonshotai</a:t>
            </a:r>
          </a:p>
          <a:p xmlns:a="http://schemas.openxmlformats.org/drawingml/2006/main">
            <a:r>
              <a:t>https://www.kimi.com/code/docs/en/kimi-code/models.html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1 establishes a frozen baseline. Weeks 2–3 test real work and refine routing. Week 4 compares evidence to the exit criteria. Do not expand the cohort before the gate.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original deck asserted $0 monthly cost and a $100+ comparison without a measured baseline. This slide converts those claims into testable pilot metrics. Adjust thresholds with the sponsor before kickoff.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replaces the original slide 9, which repeated the setup checklist rather than presenting risks. The highest risks are terms, data handling, and hidden rework—not installation.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https://docs.api.nvidia.com/nim/docs/product</a:t>
            </a:r>
          </a:p>
          <a:p xmlns:a="http://schemas.openxmlformats.org/drawingml/2006/main">
            <a:r>
              <a:t>https://zenmux.ai/provider/moonshotai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ask is not permission to deploy to production. It is permission to run a controlled four-week experiment with defined ownership, measurements, and stop conditions.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b908ab81334f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5394837b7142a9" /><Relationship Type="http://schemas.openxmlformats.org/officeDocument/2006/relationships/slideLayout" Target="/ppt/slideLayouts/slideLayout1.xml" Id="R103a5685ca524a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3a5685ca524a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621381f644dd0" /><Relationship Type="http://schemas.openxmlformats.org/officeDocument/2006/relationships/notesSlide" Target="/ppt/notesSlides/notesSlide1.xml" Id="R01ede0ee15784c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8720ca0384200" /><Relationship Type="http://schemas.openxmlformats.org/officeDocument/2006/relationships/notesSlide" Target="/ppt/notesSlides/notesSlide2.xml" Id="Rc8053bb178da47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e01d9b4d04d80" /><Relationship Type="http://schemas.openxmlformats.org/officeDocument/2006/relationships/notesSlide" Target="/ppt/notesSlides/notesSlide3.xml" Id="Rb7cdb25e22ef4c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ed215c8674452" /><Relationship Type="http://schemas.openxmlformats.org/officeDocument/2006/relationships/notesSlide" Target="/ppt/notesSlides/notesSlide4.xml" Id="R65de51fe475344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c32677ad042ab" /><Relationship Type="http://schemas.openxmlformats.org/officeDocument/2006/relationships/notesSlide" Target="/ppt/notesSlides/notesSlide5.xml" Id="Reed11595613d4d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a85309b684400" /><Relationship Type="http://schemas.openxmlformats.org/officeDocument/2006/relationships/notesSlide" Target="/ppt/notesSlides/notesSlide6.xml" Id="Rf7c067fc4e494a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8e1f816504adb" /><Relationship Type="http://schemas.openxmlformats.org/officeDocument/2006/relationships/notesSlide" Target="/ppt/notesSlides/notesSlide7.xml" Id="R1c8f6a62f51946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61d68ae1744ac" /><Relationship Type="http://schemas.openxmlformats.org/officeDocument/2006/relationships/notesSlide" Target="/ppt/notesSlides/notesSlide8.xml" Id="Rf793bf5b50664e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7d12b42a84baa" /><Relationship Type="http://schemas.openxmlformats.org/officeDocument/2006/relationships/notesSlide" Target="/ppt/notesSlides/notesSlide9.xml" Id="R0afa4540df714f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87b4d32554ebc" /><Relationship Type="http://schemas.openxmlformats.org/officeDocument/2006/relationships/notesSlide" Target="/ppt/notesSlides/notesSlide10.xml" Id="R837c76d8b56540a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CF8A74-CA66-4D6E-98D4-BC034333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D5FB6-33AC-4FD3-91F5-602D72FB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230CA-CC44-490E-988D-7481832C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54578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UC-08 · USE-CASE REALIZATION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B5245-DDCB-46E6-A32D-1A764FF8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5743575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A low-cost multi-model</a:t>
            </a:r>
          </a:p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coding pilot is possible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61BAF-DEB2-436A-9953-21585CF9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53625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t>One terminal workflow. Multiple provider options. A bounded pilot before production commitment.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293B9-49FF-45C3-8A2A-72D055CB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3315C-1DE3-4224-AB51-F2195336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67100"/>
            <a:ext cx="14668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PILOT PROPOSITION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02BDF-3F41-4037-A219-54DD3F09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545782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Prototype access can be free or promotional; production economics and terms require validation.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32700-639A-4631-8670-5D659A04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781050"/>
            <a:ext cx="5457825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3"/>
          </a:solidFill>
          <a:ln xmlns:a="http://schemas.openxmlformats.org/drawingml/2006/main" w="9525">
            <a:solidFill>
              <a:srgbClr val="2840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FAB36-D83B-41ED-BFC8-5EE40930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781050"/>
            <a:ext cx="54578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FEBF6-011E-45B0-BF37-80A408C2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923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2D51A-6805-49A5-BF1F-9E4E5C74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923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9E11CB-9AD2-4E29-835A-55AB9530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23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0632F0-EB65-4034-85F3-D83DE39D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895350"/>
            <a:ext cx="44672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9FB4CA"/>
                </a:solidFill>
                <a:latin typeface="Arial"/>
                <a:ea typeface="Arial"/>
                <a:cs typeface="Arial"/>
              </a:defRPr>
            </a:pPr>
            <a:r>
              <a:t>opencode  /models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F49B5-93C0-41D1-95D1-088DF253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428750"/>
            <a:ext cx="5000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SELECT A MODEL BY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D712A-8103-4B50-8B3A-CBFD1AF8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47850"/>
            <a:ext cx="2452688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840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F99116-DC05-4E4F-8904-D7F035CD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478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19931D-EE5E-4126-AD17-D6B8BAA2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981200"/>
            <a:ext cx="2166938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NVIDIA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6FAB5E-F58A-4620-995A-C896D0AB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266950"/>
            <a:ext cx="2166938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A9BACD"/>
                </a:solidFill>
                <a:latin typeface="Arial"/>
                <a:ea typeface="Arial"/>
                <a:cs typeface="Arial"/>
              </a:defRPr>
            </a:pPr>
            <a:r>
              <a:t>Prototype catalog</a:t>
            </a:r>
          </a:p>
          <a:p xmlns:a="http://schemas.openxmlformats.org/drawingml/2006/main">
            <a:pPr algn="l">
              <a:defRPr sz="825">
                <a:solidFill>
                  <a:srgbClr val="A9BACD"/>
                </a:solidFill>
                <a:latin typeface="Arial"/>
                <a:ea typeface="Arial"/>
                <a:cs typeface="Arial"/>
              </a:defRPr>
            </a:pPr>
            <a:r>
              <a:t>Open-model endpoints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8D09A2-A13B-49A7-8750-F8F77516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847850"/>
            <a:ext cx="2452688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840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D008DB-0859-4290-AA3D-0F6E1339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8478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45C163-51A9-4642-8C07-29E2BAA0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013" y="1981200"/>
            <a:ext cx="2166938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ZENMUX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6D390-165A-4E65-8B91-D9FC1E70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013" y="2266950"/>
            <a:ext cx="2166938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A9BACD"/>
                </a:solidFill>
                <a:latin typeface="Arial"/>
                <a:ea typeface="Arial"/>
                <a:cs typeface="Arial"/>
              </a:defRPr>
            </a:pPr>
            <a:r>
              <a:t>Aggregated access</a:t>
            </a:r>
          </a:p>
          <a:p xmlns:a="http://schemas.openxmlformats.org/drawingml/2006/main">
            <a:pPr algn="l">
              <a:defRPr sz="825">
                <a:solidFill>
                  <a:srgbClr val="A9BACD"/>
                </a:solidFill>
                <a:latin typeface="Arial"/>
                <a:ea typeface="Arial"/>
                <a:cs typeface="Arial"/>
              </a:defRPr>
            </a:pPr>
            <a:r>
              <a:t>Promotional options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E56504-5FAB-49A9-A4EB-2E48FABD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086100"/>
            <a:ext cx="2452688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840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A9CECE-E6F9-49AC-BF7E-95C16993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0861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990028-9590-4D14-B6CA-6E5F3E07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219450"/>
            <a:ext cx="2166938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KIMI K3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C514D8-865E-4635-8462-D97A9222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505200"/>
            <a:ext cx="2166938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A9BACD"/>
                </a:solidFill>
                <a:latin typeface="Arial"/>
                <a:ea typeface="Arial"/>
                <a:cs typeface="Arial"/>
              </a:defRPr>
            </a:pPr>
            <a:r>
              <a:t>Long-horizon work</a:t>
            </a:r>
          </a:p>
          <a:p xmlns:a="http://schemas.openxmlformats.org/drawingml/2006/main">
            <a:pPr algn="l">
              <a:defRPr sz="825">
                <a:solidFill>
                  <a:srgbClr val="A9BACD"/>
                </a:solidFill>
                <a:latin typeface="Arial"/>
                <a:ea typeface="Arial"/>
                <a:cs typeface="Arial"/>
              </a:defRPr>
            </a:pPr>
            <a:r>
              <a:t>Up to 1M context*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B9C004-B52F-4F83-839E-C7178C55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3086100"/>
            <a:ext cx="2452688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8405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BDE179-5A20-4D51-BF26-F4B2104E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30861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4FC316-86C3-4839-9E5C-0653233B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013" y="3219450"/>
            <a:ext cx="2166938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TASK ROUTING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DC09DF-B892-4F8D-AC4A-6040FCD1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013" y="3505200"/>
            <a:ext cx="2166938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A9BACD"/>
                </a:solidFill>
                <a:latin typeface="Arial"/>
                <a:ea typeface="Arial"/>
                <a:cs typeface="Arial"/>
              </a:defRPr>
            </a:pPr>
            <a:r>
              <a:t>Code · vision</a:t>
            </a:r>
          </a:p>
          <a:p xmlns:a="http://schemas.openxmlformats.org/drawingml/2006/main">
            <a:pPr algn="l">
              <a:defRPr sz="825">
                <a:solidFill>
                  <a:srgbClr val="A9BACD"/>
                </a:solidFill>
                <a:latin typeface="Arial"/>
                <a:ea typeface="Arial"/>
                <a:cs typeface="Arial"/>
              </a:defRPr>
            </a:pPr>
            <a:r>
              <a:t>reasoning · speed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02B844-1189-4C4B-A559-593EAC87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514850"/>
            <a:ext cx="5000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i="1">
                <a:solidFill>
                  <a:srgbClr val="8FA2B7"/>
                </a:solidFill>
                <a:latin typeface="Arial"/>
                <a:ea typeface="Arial"/>
                <a:cs typeface="Arial"/>
              </a:defRPr>
            </a:pPr>
            <a:r>
              <a:t>*Availability depends on provider and plan.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5FB582-E8F8-46D3-984C-95B2BC7B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FA2B7"/>
                </a:solidFill>
                <a:latin typeface="Arial"/>
                <a:ea typeface="Arial"/>
                <a:cs typeface="Arial"/>
              </a:defRPr>
            </a:pPr>
            <a:r>
              <a:t>CLIENT-READY REBUILD · 22 JUL 2026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89886-91C2-4072-A522-CAA9A311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B0F688-DBAF-4D86-8EED-AEE2BA5E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FA2B7"/>
                </a:solidFill>
                <a:latin typeface="Arial"/>
                <a:ea typeface="Arial"/>
                <a:cs typeface="Arial"/>
              </a:defRPr>
            </a:pPr>
            <a:r>
              <a:t>CLIENT · UC-08 · 22 JUL 2026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410B24-8F93-4697-BCC4-94ED2B3E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8FA2B7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565758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9CD3A5-6DE2-435F-9911-E6F67256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CFBFB-38BB-48AF-8C4D-3B4AAAE2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01 · 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F71CA-AA4C-480A-BE70-D316B0AE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The opportunity is access without premature platform lock-in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435CC-90AA-4715-8994-58F6F323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Approve a bounded pilot; do not assume promotional access becomes the production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026EC-4110-4D06-944E-3DA362DC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0616C-3810-47A4-B533-3314592C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5DDFC-05A2-41B4-9E4E-8B97BE3A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CLIENT · UC-08 · 22 JUL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C3D66-6BCE-4E2C-97CD-9E5E031B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D6FE0-7DFB-44C1-9652-D5439FB2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5435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CE10E-E6FF-4B75-8A15-0F79519A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010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RECOMMENDATION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7833B-3BDA-4B93-A3DE-950A0770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0101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Run a four-week pilot with a small engineering cohort.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EAC88-9D9A-4DB4-8A8C-D56C2AA6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50101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t>The pilot should validate task quality, provider availability, data controls, rate limits, and cost per successful task before any production commitment.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9BB4C-406C-4463-9DFA-E4CCFAAD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7AAF2-9AB7-4CDA-BB5A-C9ADA6DC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2763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DECISION: 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8A1A3-32DE-4737-96F3-8DAADB35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26765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0146E-060B-4A16-9363-BFA33663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33550"/>
            <a:ext cx="34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B4D8"/>
                </a:solidFill>
                <a:latin typeface="Georgia"/>
                <a:ea typeface="Georgia"/>
                <a:cs typeface="Georgia"/>
              </a:defRPr>
            </a:pPr>
            <a: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3A5C1E-5939-48E9-A763-2267C627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90700"/>
            <a:ext cx="19907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TERMINAL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925F85-3530-4F43-95D5-9BC549BE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233362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OpenCode connects credentials and exposes provider/model selection.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A9C566-FC50-4CF3-8247-7283DDEA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600200"/>
            <a:ext cx="26765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EC67B5-19CE-4C85-AF78-EEFFC4E3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733550"/>
            <a:ext cx="34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B4D8"/>
                </a:solidFill>
                <a:latin typeface="Georgia"/>
                <a:ea typeface="Georgia"/>
                <a:cs typeface="Georgia"/>
              </a:defRPr>
            </a:pPr>
            <a: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C8CB12-EF65-4F50-B4C2-6668C2FC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790700"/>
            <a:ext cx="19907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PROVIDER OPTIONS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D39445-4A4B-471F-A1BB-0485FF6B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228850"/>
            <a:ext cx="233362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NVIDIA and ZenMux can be evaluated without redesigning the developer workflow.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9F642C-DA91-459E-9B44-A7D5DF0D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52800"/>
            <a:ext cx="26765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44DC16-3627-45FA-B451-4605CBFF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86150"/>
            <a:ext cx="34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B4D8"/>
                </a:solidFill>
                <a:latin typeface="Georgia"/>
                <a:ea typeface="Georgia"/>
                <a:cs typeface="Georgia"/>
              </a:defRPr>
            </a:pPr>
            <a: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6E731E-E515-49C7-BF17-76BD5863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43300"/>
            <a:ext cx="19907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BOUNDED ACCESS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77B615-D82F-4B17-B777-F8267848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81450"/>
            <a:ext cx="233362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Free prototype access and promotions are conditional—not a production entitlement.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DCBE80-52A0-424C-9451-CED3B7C9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352800"/>
            <a:ext cx="26765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A366EE-39D2-495B-A2E2-C1A7DDAD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486150"/>
            <a:ext cx="34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B4D8"/>
                </a:solidFill>
                <a:latin typeface="Georgia"/>
                <a:ea typeface="Georgia"/>
                <a:cs typeface="Georgia"/>
              </a:defRPr>
            </a:pPr>
            <a: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B8C77E-D110-4581-AB52-AAE80566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543300"/>
            <a:ext cx="19907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MEASURED DECISION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F5CF6B-D424-421F-A846-8CD8CA38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981450"/>
            <a:ext cx="233362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Four weeks can establish quality, reliability, governance, and cost evidence.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071EE4-C2EE-422D-AD97-59C0A819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525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i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Sources: OpenCode provider docs; NVIDIA NIM FAQ; ZenMux and Kimi official model pages (accessed 22 Jul 2026).</a:t>
            </a:r>
          </a:p>
        </p:txBody>
      </p:sp>
    </p:spTree>
    <p:extLst>
      <p:ext uri="{BB962C8B-B14F-4D97-AF65-F5344CB8AC3E}">
        <p14:creationId xmlns:p14="http://schemas.microsoft.com/office/powerpoint/2010/main" val="12823754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177E4C-AB19-4CB2-8E28-2C670A1F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A8CC8-E844-433D-8BCE-7DE888CA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02 · CURRENT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440AA-A3E9-4CE2-AC16-2571282D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Cost and configuration fragment the developer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9BE07-1EE7-43A9-BE46-F6034FA0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The friction is not one expensive model—it is the operating complexity across providers.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E2CFA-8A6E-4AD2-8D0B-BC020F34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DF18C-D082-4072-A589-9A746935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01307-DBA3-48F8-893F-600A5359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CLIENT · UC-08 · 22 JUL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D299A-7CBE-433E-97C3-CCACBD66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943B8-9698-4961-928F-D2D18C24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2324100" cy="1123950"/>
          </a:xfrm>
          <a:prstGeom xmlns:a="http://schemas.openxmlformats.org/drawingml/2006/main" prst="flowChartProcess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B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0365D-03F1-4161-871E-5D6E909F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2324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FDD2B-7FB9-4F70-A500-C67B410B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Fragmented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8491C-1EE6-4A0D-8492-7B4CAECA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Separate subscriptions, credentials, and model catalogs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D0FEF-A2C2-4426-9932-0CC0F95C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25" y="23526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0D19B-4CE9-465D-BEB3-D2897BA7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00" y="1885950"/>
            <a:ext cx="2324100" cy="1123950"/>
          </a:xfrm>
          <a:prstGeom xmlns:a="http://schemas.openxmlformats.org/drawingml/2006/main" prst="flowChartProcess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939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7A8D4-3158-40DD-A49E-C6829ABE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00" y="1885950"/>
            <a:ext cx="2324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F11B7-2B40-4A6E-BB52-F151FBA1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0383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Configuration load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7112B-182B-4A0F-A29B-E96C0BA6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286000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Provider-specific setup and uneven model metadata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A886E8-5692-4287-B626-107C9453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526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9C1E1D-A5D8-40B2-85AD-1F0827D5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1885950"/>
            <a:ext cx="2324100" cy="1123950"/>
          </a:xfrm>
          <a:prstGeom xmlns:a="http://schemas.openxmlformats.org/drawingml/2006/main" prst="flowChartProcess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DB4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1BF0C4-B1C0-4F24-AF91-00FCED5A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1885950"/>
            <a:ext cx="2324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F9100-1117-471E-A683-328EAC6F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20383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Unclear economics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25C0E9-C1BF-46A8-B620-1783E5E4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2286000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Preview access and promotions can change by provider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D3F11E-9AF6-4F7A-8579-21B8D485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625" y="23526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78AA5E-E42C-4DFD-963F-C3081F1F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85950"/>
            <a:ext cx="2324100" cy="1123950"/>
          </a:xfrm>
          <a:prstGeom xmlns:a="http://schemas.openxmlformats.org/drawingml/2006/main" prst="flowChartProcess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991ED7-07B3-4CAA-902F-121C71D8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85950"/>
            <a:ext cx="2324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7B7276-2D0F-4594-9254-08D67877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Governance gap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34ACDB-405E-4967-BF51-6FA6D81A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Task data and model behavior need explicit controls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D038F8-2D51-4C46-B39A-C73FD779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14D8A9-9683-4DA1-B0E7-33F57B65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BUSINESS IMPACT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90837C-281F-4DAD-8AB5-1AB6C2E0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36322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1B7210-1A16-46B9-A7B6-4E4A0F62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D7E900-3B73-4E2D-BAF9-E48DE369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3346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ACCESS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9A3696-1021-4690-BD6A-C44EBF82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33464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Students and junior developers can be priced out of high-quality assistance.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1EAD98-A09C-4AE1-AA42-8B5DC8F2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4267200"/>
            <a:ext cx="36322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9C8F4D-40C6-4D2E-8A3D-A7CD7BCF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42672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DE3FFF-4D3C-40AB-B152-EE15CA2F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4400550"/>
            <a:ext cx="3346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PRODUCTIVITY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F35817-543D-4775-B1E1-8E3C1B65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4686300"/>
            <a:ext cx="33464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Teams lose time maintaining provider-specific setup and deciding which model to use.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D6BDF7-397B-4E74-949F-E97A16D3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4267200"/>
            <a:ext cx="36322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5F0EFD-09B3-4C40-97CE-2C3B39D9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42672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F3B308-5CAC-4A12-97CE-333BFBFB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050" y="4400550"/>
            <a:ext cx="3346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CONTROL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7ADFBF-3719-48CE-A7FC-02512E16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050" y="4686300"/>
            <a:ext cx="33464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Unmeasured usage creates risk around data, quality, availability, and production cost.</a:t>
            </a:r>
          </a:p>
        </p:txBody>
      </p:sp>
    </p:spTree>
    <p:extLst>
      <p:ext uri="{BB962C8B-B14F-4D97-AF65-F5344CB8AC3E}">
        <p14:creationId xmlns:p14="http://schemas.microsoft.com/office/powerpoint/2010/main" val="10215551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EF78A36-6AA2-4E24-9F0B-85010381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E5882-24AA-40F9-85A3-EF0B8530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03 · TARGET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F5A32-0B46-4D78-B12F-80882233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One terminal workflow can govern model choice by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FDC85-26B8-43EC-BCCE-3D7708F5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 stable developer experience sits above changing providers and models.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6CF71-6923-458A-8AB4-E9A39414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92359-417F-46AE-B889-36CFDEB2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6C449-E658-4202-8229-33CCE048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CLIENT · UC-08 · 22 JUL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1F7B4-6B5A-4E9B-8C4D-FCD7873C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31782-0CE4-4363-82E2-E4149A26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2676525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19BBE-848F-40B0-AA84-ACBBF002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A55D11-1CDD-4F46-9FDA-9DFA89E1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23907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ENGINEER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A52627-B09A-4B2D-BAC4-FE8B4E8E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239077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One terminal interface</a:t>
            </a:r>
          </a:p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One permission model</a:t>
            </a:r>
          </a:p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One task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73F51-5666-4310-8478-A64F2F7F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53365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329F87-C83B-4BCE-9D82-F3BE69A1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600200"/>
            <a:ext cx="363220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0A1628"/>
          </a:solidFill>
          <a:ln xmlns:a="http://schemas.openxmlformats.org/drawingml/2006/main" w="9525">
            <a:solidFill>
              <a:srgbClr val="0A162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B4FC28-5EF9-4DAB-A76E-30184A70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828800"/>
            <a:ext cx="3213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OPENCODE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995E6-F43A-499F-B26C-2B125797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47900"/>
            <a:ext cx="3213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t>Connect credentials · select models · apply task 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B23ADC-367E-440D-BA64-8BE4330C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8575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DE615A-08C2-45A7-80C3-A3D83B32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33700"/>
            <a:ext cx="9906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/CONNECT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FAAF74-8346-44FD-9387-E191857D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475" y="28575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0A939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506620-1FAC-4125-A14E-AA5F371E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675" y="2933700"/>
            <a:ext cx="9906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A9396"/>
                </a:solidFill>
                <a:latin typeface="Arial"/>
                <a:ea typeface="Arial"/>
                <a:cs typeface="Arial"/>
              </a:defRPr>
            </a:pPr>
            <a:r>
              <a:t>/MODELS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D5EEF5-65C2-41FF-9366-B33C34CE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475" y="253365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9525">
            <a:solidFill>
              <a:srgbClr val="0A939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156B89-A8B1-49D3-B06A-26ABC2C9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925" y="1600200"/>
            <a:ext cx="2227263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56C30D-8BCE-4B24-A099-CEF4BC9C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925" y="16002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22C8BA-BB8C-442F-BD8A-10DAD985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375" y="1733550"/>
            <a:ext cx="1941513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NVIDIA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A950B9-F010-49C5-BFB6-7E3F52F6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375" y="2019300"/>
            <a:ext cx="1941513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Hosted prototype endpoints</a:t>
            </a:r>
          </a:p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and downloadable NIMs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84EC13-A4F4-402A-BA29-520675B8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7538" y="1600200"/>
            <a:ext cx="2227263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BCFE6F-E667-47A1-B286-2B267E18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7538" y="16002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7571F1-ABD1-48F6-B6C0-4C4AB318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988" y="1733550"/>
            <a:ext cx="1941513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ZENMUX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E6272D-7663-44CB-9745-0C6A04CD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988" y="2019300"/>
            <a:ext cx="1941513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Aggregated models and</a:t>
            </a:r>
          </a:p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time-bound promotions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591A53-ABA3-4E0E-AEB0-5953F738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925" y="2743200"/>
            <a:ext cx="2227263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43B837-D454-4D8C-ACD9-A2747EAB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925" y="274320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82356E-63AE-4AEA-888C-B70D278D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375" y="2876550"/>
            <a:ext cx="1941513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PRIMARY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B6FBF3-7FB4-4804-8633-9ADE4981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375" y="3162300"/>
            <a:ext cx="1941513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Best-fit model for</a:t>
            </a:r>
          </a:p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complex implementation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17551B-276B-408A-B922-D2E53324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7538" y="2743200"/>
            <a:ext cx="2227263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39D804-CE6D-4D13-944F-6072EC56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7538" y="274320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B6C0DF-065B-46FC-84BE-C623D633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988" y="2876550"/>
            <a:ext cx="1941513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SPECIALIST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D51A82-295F-4302-BB51-A61CD75B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988" y="3162300"/>
            <a:ext cx="1941513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Speed, vision, or</a:t>
            </a:r>
          </a:p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reasoning by task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DB1162-8C45-455C-B05F-589FDA5B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11277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568795-6981-4049-B62C-CD401A07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GOVERNANCE PLANE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3B9931-B081-475E-930C-5C454BF7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208026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F210CE-6E3D-4E6E-B892-EC3A61EA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92786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APPROVED MODELS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AA0E2C-5965-4384-96C6-1373A48D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310" y="4781550"/>
            <a:ext cx="208026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90504E-B480-4388-BF1B-E6DF1162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4857750"/>
            <a:ext cx="192786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SECRETS HANDLING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D0FE45-80E9-4812-ACF0-AB099F66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4781550"/>
            <a:ext cx="208026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ACE0D7-4C1D-4F31-9599-2B895E46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4857750"/>
            <a:ext cx="192786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TASK/DATA POLICY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AE6089-2AFD-42FE-AC09-D463DECC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4781550"/>
            <a:ext cx="208026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9CC943-D64D-4DE0-BE6A-C85E549C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857750"/>
            <a:ext cx="192786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QUALITY TESTS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57E153-7113-494D-A371-2A0425C0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990" y="4781550"/>
            <a:ext cx="208026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BAC3AD-5F2B-4AF1-BAF5-11BC214D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190" y="4857750"/>
            <a:ext cx="192786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USAGE &amp; COST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A75B96-97C5-44BA-8C46-C85927D0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525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i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Source: OpenCode provider documentation — opencode.ai/docs/providers.</a:t>
            </a:r>
          </a:p>
        </p:txBody>
      </p:sp>
    </p:spTree>
    <p:extLst>
      <p:ext uri="{BB962C8B-B14F-4D97-AF65-F5344CB8AC3E}">
        <p14:creationId xmlns:p14="http://schemas.microsoft.com/office/powerpoint/2010/main" val="16291338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CDC500-07C4-4779-88E2-FE1A7A93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207CF-91FA-4A6E-8057-6DC70FA9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04 · AI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A047A-CC87-401A-97E8-351EF2E8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The workflow is a four-step connection and selection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EBCB9-39B9-4641-876C-6B5CFD29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The pilot tests the operating loop—not a permanent commitment to any one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1BB44-AD8A-4A98-BC6C-E6324565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6049D-43F6-4901-A328-58653613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F04B3-64AA-4478-BC43-0E39CAD0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CLIENT · UC-08 · 22 JUL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CFA08-E3C3-4F2A-BB65-2C0921BB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11526-B521-4024-A35C-87AB2937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2324100" cy="116205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9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99432-127C-4B26-9E2F-7C95C9D9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2324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7996F-E69D-41F6-A70F-58801713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Install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7DBAA-A638-481D-BFBB-74C1BE86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Launch OpenCode and confirm the terminal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4B259-4133-4A15-BC7E-B2A89EF5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25" y="22574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FD974-0654-4F48-8586-1DEF9A81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00" y="1771650"/>
            <a:ext cx="2324100" cy="1162050"/>
          </a:xfrm>
          <a:prstGeom xmlns:a="http://schemas.openxmlformats.org/drawingml/2006/main" prst="flowChartProcess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B4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8A3A64-B911-44B4-BE2A-907150B8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00" y="1771650"/>
            <a:ext cx="2324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3A22B3-73A4-40FC-806D-A4784120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19240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Connect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677D59-3383-40CA-A793-400D0CA7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171700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Add NVIDIA and ZenMux credentials through /connect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86EBD9-916B-4941-AA9E-3C4DB200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574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08DDF9-A7D0-45A0-908A-A6447621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1771650"/>
            <a:ext cx="2324100" cy="1162050"/>
          </a:xfrm>
          <a:prstGeom xmlns:a="http://schemas.openxmlformats.org/drawingml/2006/main" prst="flowChartDecisi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939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AD750D-E561-4DE9-9190-A3065F51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1771650"/>
            <a:ext cx="2324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4B13D3-AB97-4756-A9AD-64905D14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19240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Select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9833F9-EEA3-4C2F-BA01-34C8A1FB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2171700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Use /models to choose an approved model by task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C0EB17-F9B3-4EDE-8497-2516E519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625" y="22574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440DF2-0958-47C6-9E3E-C2D06883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71650"/>
            <a:ext cx="2324100" cy="1162050"/>
          </a:xfrm>
          <a:prstGeom xmlns:a="http://schemas.openxmlformats.org/drawingml/2006/main" prst="flowChartProcess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85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168061-D795-428C-A80F-F007809F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71650"/>
            <a:ext cx="2324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C2E342-3FD7-45E9-BCEF-121D6990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240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Measure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BD7641-A69D-4D8E-B4D8-3BCEFA5B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71700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Capture quality, latency, failures, usage, and cost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1C6D67-0DA2-463F-B5CA-C7B005DD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TASK ROUTING PRINCIPLE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3BB96A-AB3F-43AE-A02E-C6796F60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26765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9804B5-705E-406B-A4B1-9B5EADD7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CBBA2D-00E5-4AA5-8909-645A813B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23907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QUICK EDIT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8A5977-C678-4D80-AE4D-E6FF5FDA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52900"/>
            <a:ext cx="239077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Favor speed and low overhead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838924-3040-4794-8EC5-9F19D949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733800"/>
            <a:ext cx="26765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0821EA-EDBD-4C0A-AC84-8762C111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7338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EE0C0C-06B4-416A-ACA0-A72B5AE7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867150"/>
            <a:ext cx="23907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IMPLEMENTATION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A2C625-5071-4E41-AF4C-29D03DEE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152900"/>
            <a:ext cx="239077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Favor coding quality and tool use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30B152-995A-4181-A57F-ED20B76E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26765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3BC697-178E-4EA7-A4D3-7A6290D5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BFC2BA-FD01-438D-A8E2-2896C1A8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67150"/>
            <a:ext cx="23907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UI / VISION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75C91B-F3C3-4836-8A7E-8A78030D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52900"/>
            <a:ext cx="239077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Require verified multimodal support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E251EF-AFCD-4FB9-8145-F3AF6DBF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733800"/>
            <a:ext cx="26765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E3EFC1-83A6-4141-91F2-E4B6C271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7338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701B55-4088-4929-A101-1B389776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867150"/>
            <a:ext cx="23907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REASONING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BCFA21-6EEF-4AC6-9EB9-97951ACD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152900"/>
            <a:ext cx="239077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Favor reliability on complex decisions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CDCFB5-CBA1-4BD5-9B80-61404799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525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i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Source: OpenCode provider documentation — connection and model selection steps.</a:t>
            </a:r>
          </a:p>
        </p:txBody>
      </p:sp>
    </p:spTree>
    <p:extLst>
      <p:ext uri="{BB962C8B-B14F-4D97-AF65-F5344CB8AC3E}">
        <p14:creationId xmlns:p14="http://schemas.microsoft.com/office/powerpoint/2010/main" val="20520523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F9C7DE-E5FE-4BFD-8AB3-9B3FBBE2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0A329-0A8B-4009-B530-D0140D45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05 · PROOF OBJECTS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F81EA-D36A-4807-B79D-61B89A3E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Official sources support the core proposition—with conditions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01B1E-1826-4369-87D3-9A2E4FE3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The credible claim is “pilot-ready access,” not “permanently free production.”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6AA1F-30F4-4B89-9AAB-EBACBF2F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DCEB9-5268-45C5-907B-8020F92C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EE0E5-D7CF-40A6-9FF4-74F55742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CLIENT · UC-08 · 22 JUL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28C26-1A76-48BE-B4C3-70038E8F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6AE76-D9B8-4502-8802-7286AD7B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27958-BA64-459E-BB17-4518A062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85925"/>
            <a:ext cx="3009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VERIFIED PROPOSITION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CEE6D-5418-493D-A34F-DFCF8D30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685925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CURRENT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3F2FE-FA2F-4F6F-8A88-CB4DE612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85925"/>
            <a:ext cx="266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CONDITION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030D6-FF5D-4379-A1FF-7DD23C3A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11277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7B51D-F6A9-4361-801A-E942808E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3009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Native provider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87BAD-4887-4BAF-A97A-DF560523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19300"/>
            <a:ext cx="5200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OpenCode documents NVIDIA and ZenMux under /connect and model selection under /models.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347ECC-A3D5-4A33-806A-0AE0CD7A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19300"/>
            <a:ext cx="2667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Reconfirm in installed version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FB0E13-D802-4660-BB36-69F876B5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11277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3B98E1-160E-454B-ACAF-543C8046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3009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Broad prototype catalog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B8CB26-84CF-42EA-95F0-4D14DC7E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28900"/>
            <a:ext cx="5200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NVIDIA catalog displayed 139 models on 22 Jul 2026; entries vary by free endpoint and download status.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5C41E3-D338-41B6-9CDD-7490BB40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28900"/>
            <a:ext cx="2667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Catalog changes over 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447515-4E8E-4B1F-B95E-19E52816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11277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F23E9C-8E56-46FA-B652-C8F1AD35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3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14C566-84B3-496A-ACC3-8739A641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3009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Developer prototype access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7CB9ED-A9C5-4491-B6AE-D132CC60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38500"/>
            <a:ext cx="5200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NVIDIA Developer Program provides hosted NIM access for prototyping, research, development, and testing.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8A25B4-732C-44C2-A892-2FA594B4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0"/>
            <a:ext cx="2667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Production license required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3DBCFC-7CD1-4AC4-BF65-462954FD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11277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662D3D-5AAF-48AC-9873-9668889B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48100"/>
            <a:ext cx="3009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Kimi K3 capability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A6B930-2D2B-48CD-9F17-B2AB730C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48100"/>
            <a:ext cx="5200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Official Kimi docs describe 2.8T parameters and up to 1M context.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27D9DD-110D-47E5-B3F2-39D12228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48100"/>
            <a:ext cx="2667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Context depends on plan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42612D-A600-4CB2-B800-118F06EE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11277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902939-4FF3-49CC-B73C-F86436CC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3009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Promotional free route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FA3BBC-B23B-4F71-8862-51F2716D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57700"/>
            <a:ext cx="5200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ZenMux listed Kimi K3 Free at $0/M tokens for a limited time.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561CAA-8813-4CC1-BA96-AFE7039F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57700"/>
            <a:ext cx="2667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Promotion may expire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B27007-EF0B-4D8A-8809-52A3F03A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11277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C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FA9C74-5215-4867-A340-B73A3DED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5780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DECISION RULE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C2C77D-9EAB-4D33-A40C-6D55E8DB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10175"/>
            <a:ext cx="9677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Verify access, terms, and the available model list on day 1; freeze the tested configuration for the pilot.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80CE0E-0964-4CFC-A8FE-0139A482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525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i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Sources: OpenCode · NVIDIA NIM FAQ/catalog · ZenMux K3 listing · Kimi Code model docs; accessed 22 Jul 2026.</a:t>
            </a:r>
          </a:p>
        </p:txBody>
      </p:sp>
    </p:spTree>
    <p:extLst>
      <p:ext uri="{BB962C8B-B14F-4D97-AF65-F5344CB8AC3E}">
        <p14:creationId xmlns:p14="http://schemas.microsoft.com/office/powerpoint/2010/main" val="5561439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397E71-E9B3-41AA-97BE-8A1DBE28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AE043-42A9-4051-B5F4-24EDE0EC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06 · IMPLEMENTATION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7B528-40D6-41B4-AABE-B172F7BF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Four weeks is enough to test value and operating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7024F-F675-41A3-8ADC-012098BD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Keep the cohort small, the tasks representative, and the exit criteria explicit.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66EFD-7400-47B0-899E-C0E15535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67C1C-0F78-45EF-AFA0-83A785DE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717CF-B65D-4127-A5F1-053D43F3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CLIENT · UC-08 · 22 JUL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71744-54B1-4DF2-953D-0BEFD8DA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F8B8E-FBBF-4532-B45F-489266C0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66AA9-AAAB-4D70-9910-8E4DF9DE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64698-078D-43EA-84DF-C924216D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2667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WEEK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3F47AE-7389-405D-8DDD-12ED7DEA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057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19050">
            <a:solidFill>
              <a:srgbClr val="00B4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3999A-E246-413F-93E7-30710633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278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93064-D5A4-4412-9291-114D3807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781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Setup · tasks · controls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BB2AA-5DAC-4DE3-AB6C-E4B9F3F1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764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9525">
            <a:solidFill>
              <a:srgbClr val="0A939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11884-0872-42B6-BD67-6E561891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33550"/>
            <a:ext cx="2667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WEEK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D25D64-3235-48B8-91FA-239976B5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57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19050">
            <a:solidFill>
              <a:srgbClr val="0A939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C9230A-9168-4AC0-8FB9-2C2EA660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05050"/>
            <a:ext cx="278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Daily 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EF7BAB-1D1E-4A20-8619-95584139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14600"/>
            <a:ext cx="2781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Coding cohort runs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553214-360F-478A-885E-78D7951E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8DB4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7071DB-F4D5-45CA-A0B2-0109D839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2667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8DB4D4"/>
                </a:solidFill>
                <a:latin typeface="Arial"/>
                <a:ea typeface="Arial"/>
                <a:cs typeface="Arial"/>
              </a:defRPr>
            </a:pPr>
            <a:r>
              <a:t>WEEK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B7C13F-4252-4991-ACAA-8A1DE044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057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DB4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8C84FA-E52E-4EDA-A8EF-5C3096D6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05050"/>
            <a:ext cx="278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Optimize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45F18F-B48A-4F63-8A29-F0A8F873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14600"/>
            <a:ext cx="2781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Routing · prompts · policy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40AD79-C11C-4A75-972A-E1178F49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764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85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B9DDBB-71B8-4A85-B7C9-BCA44C0F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33550"/>
            <a:ext cx="2667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2855B"/>
                </a:solidFill>
                <a:latin typeface="Arial"/>
                <a:ea typeface="Arial"/>
                <a:cs typeface="Arial"/>
              </a:defRPr>
            </a:pPr>
            <a:r>
              <a:t>WEEK 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8DF540-A07B-4AD2-8FB5-3C88D6AE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57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85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156C0C-0A08-4931-B837-F2C3584C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05050"/>
            <a:ext cx="278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Decide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744A69-1086-4942-917C-1D0A036B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14600"/>
            <a:ext cx="2781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Evidence · economics · gate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E945D9-BCC7-40FB-81F9-C2A2160B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WORKSTREAM OWNERSHIP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9D0C6F-2170-4433-95BA-C600F24D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26765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B408EC-2EA0-4F97-B649-58E46C87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0E0F58-9E50-478F-B717-BDF438C3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23907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PLATFORM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D4103E-75FB-4503-AF2C-816603F1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239077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Install, credentials, approved endpoints, version freeze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4F6793-B1CC-42B7-BE5F-82B9EB66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600450"/>
            <a:ext cx="26765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2ACA92-78FE-4B30-A267-A5643214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6004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D7F124-3BE2-4099-8AD4-BC4664B2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733800"/>
            <a:ext cx="23907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ENGINEERING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DF40DB-4D65-4F0E-93E9-A964F492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019550"/>
            <a:ext cx="239077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Representative tasks, human review, defect capture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E6E111-4479-4332-9F2D-80E659FA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26765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430E76-C8DE-4A95-8AF0-EE1976EB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6E9F14-46E6-4BB6-B9EE-7DE20056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33800"/>
            <a:ext cx="23907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SECURITY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F3FC1D-C77B-4CE6-BD44-811576BD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19550"/>
            <a:ext cx="239077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Secrets, data classification, retention, access policy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B8D22A-8347-4A35-BD79-556E6A2E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600450"/>
            <a:ext cx="26765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6DFFC1-561A-4A00-B1AF-0691852C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6004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C3FFB8-C9A4-4847-A672-12F2B871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733800"/>
            <a:ext cx="23907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FINOPS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F4D51B-FF5A-4938-B422-642CF338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019550"/>
            <a:ext cx="2390775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Usage, limits, cost per successful task, production scenario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61F7D0-6CAC-44AE-A229-E23BD4A3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11277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99BD42-63FF-4138-8D11-EDCADAE1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05425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GATE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98E172-4D52-4A2A-AF36-88F7B538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67325"/>
            <a:ext cx="10229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Scale only if quality, reliability, governance, and production economics all meet the agreed threshold.</a:t>
            </a:r>
          </a:p>
        </p:txBody>
      </p:sp>
    </p:spTree>
    <p:extLst>
      <p:ext uri="{BB962C8B-B14F-4D97-AF65-F5344CB8AC3E}">
        <p14:creationId xmlns:p14="http://schemas.microsoft.com/office/powerpoint/2010/main" val="17222885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93B60A-B341-4D9C-B3BE-2E944C53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20911-45DB-4E3D-B58F-A64932D2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07 · METRICS &amp; PILOT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1F3F6-1F23-4D1E-86FA-9CB1189A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Pilot success is task quality, reliability, and controlled cost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7B7F7-4658-4692-8900-9D9B30B5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Replace headline ROI claims with a scorecard the cohort can actually measure.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ED427-EDA9-4851-8FF0-D69E63F1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FFE24-6522-4813-87D0-BE74BAB2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45D85-DF16-4ED3-A194-92336346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CLIENT · UC-08 · 22 JUL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4EC52-4D5C-46BC-ABD6-BFA063E1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537C0-5B00-4A69-B6B6-65C00D66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26765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47B09-2043-4AF0-9B94-45FD04BE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6765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B4D8"/>
                </a:solidFill>
                <a:latin typeface="Georgia"/>
                <a:ea typeface="Georgia"/>
                <a:cs typeface="Georgia"/>
              </a:defRPr>
            </a:pPr>
            <a:r>
              <a:t>≤ 60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25F51-FB65-43D8-AB35-7E0ED0B2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4479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SETUP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CC8911-1209-4AB3-A33D-5E61C6FB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24479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Target per participant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6086C-FCC1-4FE2-880F-A072F877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600200"/>
            <a:ext cx="26765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753DE-6C44-4AC4-B67B-A216CC3B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809750"/>
            <a:ext cx="26765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2855B"/>
                </a:solidFill>
                <a:latin typeface="Georgia"/>
                <a:ea typeface="Georgia"/>
                <a:cs typeface="Georgia"/>
              </a:defRPr>
            </a:pPr>
            <a:r>
              <a:t>≥ 80%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287B8-A022-4377-A397-EF85BB55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381250"/>
            <a:ext cx="24479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TASK SUCCESS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16D064-2803-421D-A711-11BBD81D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90800"/>
            <a:ext cx="24479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Human-approved completion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C9A574-7345-4FA7-A0CC-E9B01496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26765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9FCACE-821B-414F-9ED6-6579CAA8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6765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A9396"/>
                </a:solidFill>
                <a:latin typeface="Georgia"/>
                <a:ea typeface="Georgia"/>
                <a:cs typeface="Georgia"/>
              </a:defRPr>
            </a:pPr>
            <a:r>
              <a:t>≥ 95%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7C4148-480E-42BE-B00D-B1F4AAD2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4479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WORKFLOW RELIABILITY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2F1471-9032-4C3A-A8C1-E9F15070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24479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Sessions without provider failure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B006E2-734D-4F8F-9C81-58835534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600200"/>
            <a:ext cx="26765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F5B332-6660-4796-98E3-7476514E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809750"/>
            <a:ext cx="26765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DB4D4"/>
                </a:solidFill>
                <a:latin typeface="Georgia"/>
                <a:ea typeface="Georgia"/>
                <a:cs typeface="Georgia"/>
              </a:defRPr>
            </a:pPr>
            <a:r>
              <a:t>MEASURE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63AC00-6C7B-4D64-A13A-23E6DBE3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381250"/>
            <a:ext cx="24479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COST / SUCCESS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23ADB4-0F6B-4EAD-9319-3FFC4A2B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90800"/>
            <a:ext cx="24479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No assumed savings baseline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315881-3A75-4CC8-AAD4-8AE4D580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1277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92898E-BAE2-4ADB-8251-60355E4E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19475"/>
            <a:ext cx="1962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DIMENSION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A79707-AFDB-4BC2-8839-5F89DD75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19475"/>
            <a:ext cx="542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MEASURE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C5C4D6-D7CD-40B4-B6C1-BE29975A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19475"/>
            <a:ext cx="3486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DECISION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DC63BC-AE49-4C70-B746-1FD19ADD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1127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67A478-A69F-4347-9951-631322E7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Quality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CE4E55-940C-47A5-9107-13CD4415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33800"/>
            <a:ext cx="542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Acceptance rate · defects · rework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E79880-63F0-418D-817F-9FBD6343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33800"/>
            <a:ext cx="3486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Human review rubric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87A1E8-A2D6-4A75-9E71-86A2FBC3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127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B5F15D-8BD2-4532-B17E-FF2BB610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Speed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7E4C26-68C8-4CDE-AD20-D9726364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33850"/>
            <a:ext cx="542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Cycle time versus cohort baseline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0B6FA7-050A-496D-B5F3-DCEE91F3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33850"/>
            <a:ext cx="3486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Comparable task set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FAF393-3497-41D6-8FC5-BB1F4A36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1127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0E0FC1-03A6-44A3-8CF7-073262BD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Reliability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BFB581-176C-4AE2-92B8-959A904A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33900"/>
            <a:ext cx="542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Rate limits · failed calls · fallback use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F8C8C6-A30B-40EA-863A-BD46763B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33900"/>
            <a:ext cx="3486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Session telemetry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12DFEB-72D2-4584-B87F-CEEDCA8B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27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C20941-9F76-4E25-A8B6-2A55E496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Governance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5DFF1D-292D-46F2-9925-1A80C36C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933950"/>
            <a:ext cx="542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Policy exceptions · sensitive-data events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5A7AC3-683C-45E1-833F-06465F91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33950"/>
            <a:ext cx="3486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Zero critical exceptions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E9E478-B141-47FE-9FC1-C8A6724E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23A5C1-BF16-419F-94DA-02686C4D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Economics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055156B-53A4-44A2-A6C9-BBA6F9C2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34000"/>
            <a:ext cx="542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Usage and production-priced scenario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C4E656-1A82-44D4-90AA-FE5B204A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34000"/>
            <a:ext cx="3486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Cost per successful task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1FC91B-9621-442B-B0AE-C0689D57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525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i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Targets are proposed pilot thresholds; they are not measured outcomes.</a:t>
            </a:r>
          </a:p>
        </p:txBody>
      </p:sp>
    </p:spTree>
    <p:extLst>
      <p:ext uri="{BB962C8B-B14F-4D97-AF65-F5344CB8AC3E}">
        <p14:creationId xmlns:p14="http://schemas.microsoft.com/office/powerpoint/2010/main" val="7192411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19821E-6F0F-4D5B-9BCD-2E3714C9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3E12C-EB23-4E07-B5E2-12BB4F76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08 · RISKS &amp; MITIGATIONS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C1CE9-2787-49AA-BD49-3FE4868C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The main risks are commercial, operational, and governance-related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A10BE-0CCC-438B-BC0B-E2457357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Each risk has a control, an owner, and a stop condition.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AC5F4-B5A2-47CC-A6A2-1A434B34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54EA7-3902-4781-AFD4-5418AF29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159CB-DBAC-480C-A8F3-02D836A0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CLIENT · UC-08 · 22 JUL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B0D38-D3DA-455D-8C67-A870808B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070BA-B4FB-4B62-BA24-4C0B7E95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77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AB0C3-D1BF-4250-8278-3372D0AA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85925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618D7-F917-44A4-800F-235B8863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85925"/>
            <a:ext cx="129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PRIORITY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D57B1-AB0C-471B-83BF-B4CFA3CE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85925"/>
            <a:ext cx="6534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MITIGATION / STOP CONDITION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81DBD-D219-44CE-9E1B-5B5F2499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11277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3D039-70DC-4C8E-9626-38F6DD1F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304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Promotion or access expires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0E63C-D4B6-4A4B-A460-E995021C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19300"/>
            <a:ext cx="1295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t>High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D6656-0601-4A74-93F7-D2125964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19300"/>
            <a:ext cx="6534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Verify day 1; maintain a paid or alternate-provider fallback.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23134-EA2D-4A07-9ECA-DD8BD4A4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11277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08133-78DA-42B8-B641-2DDBB116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304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Prototype terms do not cover production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FE7BA7-E1F6-430D-92B1-616231B1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1295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t>High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CD71F8-138F-44EE-8C9C-9BDF2973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71750"/>
            <a:ext cx="6534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Keep the pilot non-production; model enterprise licensing separately.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EE7901-F05B-4A6C-91DF-1AE06F24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11277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6FC94B-7E05-4D23-B65E-927882B5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304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Rate limits or model drift disrupt 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B8BCAE-6D53-4E49-815E-52D7E7DD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24200"/>
            <a:ext cx="1295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t>Medium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49C679-AA85-4CA6-A730-0C0E8FDE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24200"/>
            <a:ext cx="6534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Freeze versions where possible; log failures; test fallback routing.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A2DDB4-47E0-4329-B6BD-289D1062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11277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E0A612-F1D5-4606-BD09-1D57EB9C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304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Secrets or sensitive code leave policy boundary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67E23A-B668-478A-BEF1-8B59B11A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76650"/>
            <a:ext cx="1295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t>High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8036C1-93D8-42B6-9FE4-09682536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76650"/>
            <a:ext cx="6534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Use approved repos/tasks; redact secrets; enforce data classification.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9761EE-1B6F-49CD-ADF4-E56F85C0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11277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8A34FD-B746-4599-89BE-80F8E109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29100"/>
            <a:ext cx="304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Output quality creates hidden rework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957358-AF06-472E-ABAE-88AAEFAD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29100"/>
            <a:ext cx="1295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t>Medium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1926A4-025A-4659-9B6B-53088988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29100"/>
            <a:ext cx="6534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Require human review, task rubrics, and defect/rework measurement.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07C7BF-1376-423A-B613-5AC4B131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1277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E9C5D9-EBDC-478F-B66A-AA95E983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t>NO-GO CONDITION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783FD2-12EE-4466-A1A0-004792D9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14925"/>
            <a:ext cx="9486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Stop if the pilot cannot meet data-policy requirements or if provider terms do not permit the intended test.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13CD00-D1A0-4724-90B2-78D747FB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525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i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Commercial terms: NVIDIA NIM FAQ and ZenMux K3 listing; accessed 22 Jul 2026.</a:t>
            </a:r>
          </a:p>
        </p:txBody>
      </p:sp>
    </p:spTree>
    <p:extLst>
      <p:ext uri="{BB962C8B-B14F-4D97-AF65-F5344CB8AC3E}">
        <p14:creationId xmlns:p14="http://schemas.microsoft.com/office/powerpoint/2010/main" val="43547229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D4F327-DDB4-4375-AAF9-242B3DC1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3BC73-DEA6-4E46-B674-37451A75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4FFBC-510E-49F7-985D-F0A721F9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6D9F4-7EFF-44FA-AB78-33D75CE7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5878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09 · PILOT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4A270-862B-48DE-B173-0FE657B0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4587875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Approve a bounded pilot with explicit exit criteria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64440-8F7D-4E6D-9D92-7BE695A9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45878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t>Four weeks · small cohort · non-production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901D5-E3C9-4EBB-A57C-7A247C0E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1657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3AE5D-D5BB-411F-8A76-40C3D6CC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15049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DECISION REQUESTED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E35EB-6E4C-4458-903C-735A9A04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4378325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Authorize setup, representative engineering tasks,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security review, and measured provider evaluation.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79FE19-7589-47C1-8145-4CE6C677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575" y="514350"/>
            <a:ext cx="64992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SUCCESS CONDITIONS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658BF-8696-4D9F-9753-AF3F0155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575" y="1009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55B"/>
          </a:solidFill>
          <a:ln xmlns:a="http://schemas.openxmlformats.org/drawingml/2006/main" w="9525">
            <a:solidFill>
              <a:srgbClr val="1285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FB225-58DD-40B4-9674-3243A288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4625" y="1028700"/>
            <a:ext cx="1714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50AD3-8F6B-4EE8-8D32-B6287535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425" y="990600"/>
            <a:ext cx="6175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Quality threshold met on representative tasks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12F30-829C-44CD-B075-EF184316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575" y="1524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55B"/>
          </a:solidFill>
          <a:ln xmlns:a="http://schemas.openxmlformats.org/drawingml/2006/main" w="9525">
            <a:solidFill>
              <a:srgbClr val="1285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5E576D-BCF0-4CEE-A260-DB05B531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4625" y="1543050"/>
            <a:ext cx="1714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B9390-8692-43DD-99E5-1F8CE556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425" y="1504950"/>
            <a:ext cx="6175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Provider reliability and fallback behavior proven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1EE29-74E2-4DD4-9476-120C8145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575" y="2038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55B"/>
          </a:solidFill>
          <a:ln xmlns:a="http://schemas.openxmlformats.org/drawingml/2006/main" w="9525">
            <a:solidFill>
              <a:srgbClr val="1285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63C5EE-259B-4D51-9359-D0AFA068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4625" y="2057400"/>
            <a:ext cx="1714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7E58FE-70CB-4F6D-B15F-6D756AEF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425" y="2019300"/>
            <a:ext cx="6175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Data and secrets controls approved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D2CA38-65E4-46B8-B78F-DE222783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575" y="25527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55B"/>
          </a:solidFill>
          <a:ln xmlns:a="http://schemas.openxmlformats.org/drawingml/2006/main" w="9525">
            <a:solidFill>
              <a:srgbClr val="1285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B9D697-A8B2-40B6-916F-0F6629C0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4625" y="2571750"/>
            <a:ext cx="1714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21DF5F-A802-4036-89AA-19608AEE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425" y="2533650"/>
            <a:ext cx="6175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Production-priced scenario is acceptable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04E733-4BD3-4DD4-ABD5-AD5C7667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575" y="3105150"/>
            <a:ext cx="6499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61E7FC-87A1-4D15-AF80-F15F766F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575" y="3390900"/>
            <a:ext cx="64992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A9396"/>
                </a:solidFill>
                <a:latin typeface="Arial"/>
                <a:ea typeface="Arial"/>
                <a:cs typeface="Arial"/>
              </a:defRPr>
            </a:pPr>
            <a:r>
              <a:t>FIRST 72 HOURS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2206D5-8F7E-436A-8D51-9E939B5A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575" y="3771900"/>
            <a:ext cx="3154362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EE74E6-260B-4A07-AA9B-8FD631BE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575" y="37719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3F012C-0C38-4067-8FEC-0C0B8E23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025" y="3905250"/>
            <a:ext cx="2868612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1 · VERIFY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A069B5-66EB-4F44-9842-EA8E02FA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025" y="4191000"/>
            <a:ext cx="2868612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Confirm terms, catalog, model IDs, access limits, and data policy.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73B72C-2042-4176-AFC9-072871AA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438" y="3771900"/>
            <a:ext cx="3154362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4F98F3-4ACF-4AB9-A8D5-593F8853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438" y="37719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B14D20-580F-4198-83FF-8921509C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88" y="3905250"/>
            <a:ext cx="2868612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2 · BASELINE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1D46D1-BC11-4CB0-8092-230D15D8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88" y="4191000"/>
            <a:ext cx="2868612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Select the cohort, freeze versions, and record benchmark tasks.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255E2A-71C2-4FC4-B367-E535514C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575" y="5295900"/>
            <a:ext cx="800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OUTCOME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C84515-4995-4B00-9022-1FFB133C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775" y="5238750"/>
            <a:ext cx="56610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A measured decision to scale, revise, or stop—without platform lock-in.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221A70-45B5-44C1-B84C-867A71DF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3260D6-8E85-4917-81A9-EDCDADB6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CLIENT · UC-08 · 22 JUL 2026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1F9E95-60E0-48AC-BF05-BE18006D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092000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2026-07-22T10:24:37.0070000Z</dcterms:created>
  <dcterms:modified xsi:type="dcterms:W3CDTF">2026-07-22T10:24:37.0090000Z</dcterms:modified>
</coreProperties>
</file>